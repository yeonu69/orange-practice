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2"/>
  </p:handout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77" r:id="rId12"/>
    <p:sldId id="278" r:id="rId13"/>
    <p:sldId id="279" r:id="rId14"/>
    <p:sldId id="280" r:id="rId15"/>
    <p:sldId id="281" r:id="rId16"/>
    <p:sldId id="269" r:id="rId17"/>
    <p:sldId id="283" r:id="rId18"/>
    <p:sldId id="285" r:id="rId19"/>
    <p:sldId id="288" r:id="rId20"/>
    <p:sldId id="270" r:id="rId21"/>
    <p:sldId id="286" r:id="rId22"/>
    <p:sldId id="287" r:id="rId23"/>
    <p:sldId id="284" r:id="rId24"/>
    <p:sldId id="289" r:id="rId25"/>
    <p:sldId id="271" r:id="rId26"/>
    <p:sldId id="272" r:id="rId27"/>
    <p:sldId id="274" r:id="rId28"/>
    <p:sldId id="290" r:id="rId29"/>
    <p:sldId id="273" r:id="rId30"/>
    <p:sldId id="276" r:id="rId31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A9BC"/>
    <a:srgbClr val="ADDB7B"/>
    <a:srgbClr val="F2F9ED"/>
    <a:srgbClr val="E6F3DD"/>
    <a:srgbClr val="023040"/>
    <a:srgbClr val="005957"/>
    <a:srgbClr val="E2ECAE"/>
    <a:srgbClr val="FEE9DE"/>
    <a:srgbClr val="FFFFFF"/>
    <a:srgbClr val="CDD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72" autoAdjust="0"/>
    <p:restoredTop sz="94660"/>
  </p:normalViewPr>
  <p:slideViewPr>
    <p:cSldViewPr>
      <p:cViewPr varScale="1">
        <p:scale>
          <a:sx n="203" d="100"/>
          <a:sy n="203" d="100"/>
        </p:scale>
        <p:origin x="984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2" d="100"/>
          <a:sy n="102" d="100"/>
        </p:scale>
        <p:origin x="-255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17AAF-FE03-4DAC-946A-F1B0D37E46A6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4DD33-6877-436E-99DE-74E15368C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474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gradFill>
          <a:gsLst>
            <a:gs pos="0">
              <a:srgbClr val="CAD900"/>
            </a:gs>
            <a:gs pos="100000">
              <a:srgbClr val="EBFDA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PC\Desktop\adheherh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566" y="2574197"/>
            <a:ext cx="2493834" cy="222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PC\Desktop\제목 없음-1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925" y="372277"/>
            <a:ext cx="4248471" cy="4431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:\Users\PC\Desktop\aehdzbb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948" y="3391469"/>
            <a:ext cx="1983546" cy="149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PC\Desktop\20220607_164334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096526"/>
            <a:ext cx="459358" cy="50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68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C\Desktop\A9RA0F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44" b="3273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PC\Desktop\A9RA0F3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354013"/>
            <a:ext cx="4435475" cy="443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97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76" name="Picture 4" descr="C:\Users\PC\Desktop\A9RA0F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55526"/>
            <a:ext cx="4578698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772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99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218" name="Picture 2" descr="C:\Users\PC\Desktop\20211122_162623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3"/>
          <a:stretch/>
        </p:blipFill>
        <p:spPr bwMode="auto">
          <a:xfrm>
            <a:off x="660710" y="489767"/>
            <a:ext cx="3818422" cy="56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/>
          <p:cNvCxnSpPr/>
          <p:nvPr userDrawn="1"/>
        </p:nvCxnSpPr>
        <p:spPr>
          <a:xfrm>
            <a:off x="4443412" y="843558"/>
            <a:ext cx="3945012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headEnd type="none"/>
            <a:tailEnd type="oval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63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242" name="Picture 2" descr="C:\Users\PC\Desktop\20211122_16401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922346"/>
            <a:ext cx="3096344" cy="258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PC\Desktop\20211122_164015.jp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3" b="-1"/>
          <a:stretch/>
        </p:blipFill>
        <p:spPr bwMode="auto">
          <a:xfrm>
            <a:off x="611561" y="2882280"/>
            <a:ext cx="3096344" cy="185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564119" y="569814"/>
            <a:ext cx="416675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3200" b="1" spc="-150" dirty="0">
                <a:solidFill>
                  <a:srgbClr val="0070C0"/>
                </a:solidFill>
              </a:rPr>
              <a:t>AI</a:t>
            </a:r>
            <a:r>
              <a:rPr lang="ko-KR" altLang="en-US" sz="2000" b="1" spc="-150" dirty="0">
                <a:solidFill>
                  <a:srgbClr val="0070C0"/>
                </a:solidFill>
              </a:rPr>
              <a:t>랑</a:t>
            </a:r>
            <a:r>
              <a:rPr lang="ko-KR" altLang="en-US" sz="24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000" b="1" spc="-150" dirty="0">
                <a:solidFill>
                  <a:srgbClr val="2AA79F"/>
                </a:solidFill>
              </a:rPr>
              <a:t>친해지기</a:t>
            </a:r>
            <a:endParaRPr lang="ko-KR" altLang="en-US" sz="2400" b="1" spc="-150" dirty="0">
              <a:solidFill>
                <a:srgbClr val="2AA7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496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74" name="Picture 2" descr="C:\Users\PC\Desktop\20211206_15452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09" y="259675"/>
            <a:ext cx="8305965" cy="404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 userDrawn="1"/>
        </p:nvSpPr>
        <p:spPr>
          <a:xfrm>
            <a:off x="561323" y="626972"/>
            <a:ext cx="1044116" cy="675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2400"/>
              </a:lnSpc>
            </a:pPr>
            <a:r>
              <a:rPr lang="ko-KR" altLang="en-US" sz="1600" b="1" spc="-150" dirty="0">
                <a:solidFill>
                  <a:srgbClr val="023040"/>
                </a:solidFill>
              </a:rPr>
              <a:t>전문가</a:t>
            </a:r>
            <a:endParaRPr lang="en-US" altLang="ko-KR" sz="1600" b="1" spc="-150" dirty="0">
              <a:solidFill>
                <a:srgbClr val="023040"/>
              </a:solidFill>
            </a:endParaRPr>
          </a:p>
          <a:p>
            <a:pPr algn="r">
              <a:lnSpc>
                <a:spcPts val="2400"/>
              </a:lnSpc>
            </a:pPr>
            <a:r>
              <a:rPr lang="en-US" altLang="ko-KR" sz="1600" b="1" spc="-150" baseline="0" dirty="0">
                <a:solidFill>
                  <a:srgbClr val="023040"/>
                </a:solidFill>
              </a:rPr>
              <a:t>   </a:t>
            </a:r>
            <a:r>
              <a:rPr lang="ko-KR" altLang="en-US" sz="1600" b="1" spc="-150" dirty="0">
                <a:solidFill>
                  <a:srgbClr val="023040"/>
                </a:solidFill>
              </a:rPr>
              <a:t>되기</a:t>
            </a:r>
          </a:p>
        </p:txBody>
      </p:sp>
    </p:spTree>
    <p:extLst>
      <p:ext uri="{BB962C8B-B14F-4D97-AF65-F5344CB8AC3E}">
        <p14:creationId xmlns:p14="http://schemas.microsoft.com/office/powerpoint/2010/main" val="101527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모서리가 둥근 직사각형 3"/>
          <p:cNvSpPr/>
          <p:nvPr userDrawn="1"/>
        </p:nvSpPr>
        <p:spPr>
          <a:xfrm>
            <a:off x="748760" y="1434480"/>
            <a:ext cx="7655805" cy="3225502"/>
          </a:xfrm>
          <a:prstGeom prst="roundRect">
            <a:avLst>
              <a:gd name="adj" fmla="val 5962"/>
            </a:avLst>
          </a:prstGeom>
          <a:solidFill>
            <a:srgbClr val="E4E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6" descr="C:\Users\PC\Desktop\dahahe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133" y="1107473"/>
            <a:ext cx="1152128" cy="50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42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PC\Desktop\A9RA0F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44" b="3273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C:\Users\PC\Desktop\A9RA0F3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354013"/>
            <a:ext cx="4435475" cy="443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 userDrawn="1"/>
        </p:nvSpPr>
        <p:spPr>
          <a:xfrm>
            <a:off x="4211960" y="1203598"/>
            <a:ext cx="792088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024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211960" y="1203598"/>
            <a:ext cx="792088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781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3897F-199E-4F49-AA54-E877A67F5BFF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F2706-E937-4004-98DD-DF74E81139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12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49" r:id="rId2"/>
    <p:sldLayoutId id="2147483660" r:id="rId3"/>
    <p:sldLayoutId id="2147483661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55" r:id="rId10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bit.ly/3mBcZZb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025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02636" y="711567"/>
            <a:ext cx="5565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dirty="0">
                <a:solidFill>
                  <a:srgbClr val="78B832"/>
                </a:solidFill>
                <a:latin typeface="+mj-lt"/>
                <a:ea typeface="맑은 고딕" panose="020B0503020000020004" pitchFamily="50" charset="-127"/>
              </a:rPr>
              <a:t>1</a:t>
            </a:r>
            <a:endParaRPr lang="ko-KR" altLang="en-US" sz="5000" b="1" dirty="0">
              <a:solidFill>
                <a:srgbClr val="78B832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670318"/>
            <a:ext cx="9144000" cy="1472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ko-KR" altLang="en-US" sz="3800" b="1" spc="-250" dirty="0">
                <a:latin typeface="+mj-lt"/>
                <a:ea typeface="맑은 고딕" panose="020B0503020000020004" pitchFamily="50" charset="-127"/>
              </a:rPr>
              <a:t>전복 </a:t>
            </a:r>
            <a:r>
              <a:rPr lang="ko-KR" altLang="en-US" sz="3800" b="1" spc="-250" dirty="0" err="1">
                <a:latin typeface="+mj-lt"/>
                <a:ea typeface="맑은 고딕" panose="020B0503020000020004" pitchFamily="50" charset="-127"/>
              </a:rPr>
              <a:t>순살의</a:t>
            </a:r>
            <a:endParaRPr lang="en-US" altLang="ko-KR" sz="3800" b="1" spc="-250" dirty="0">
              <a:latin typeface="+mj-lt"/>
              <a:ea typeface="맑은 고딕" panose="020B0503020000020004" pitchFamily="50" charset="-127"/>
            </a:endParaRPr>
          </a:p>
          <a:p>
            <a:pPr algn="ctr">
              <a:lnSpc>
                <a:spcPts val="5700"/>
              </a:lnSpc>
            </a:pPr>
            <a:r>
              <a:rPr lang="ko-KR" altLang="en-US" sz="3800" b="1" spc="-250" dirty="0">
                <a:solidFill>
                  <a:srgbClr val="619428"/>
                </a:solidFill>
                <a:latin typeface="+mj-lt"/>
                <a:ea typeface="맑은 고딕" panose="020B0503020000020004" pitchFamily="50" charset="-127"/>
              </a:rPr>
              <a:t>무게</a:t>
            </a:r>
            <a:r>
              <a:rPr lang="ko-KR" altLang="en-US" sz="3800" b="1" spc="-250" dirty="0">
                <a:latin typeface="+mj-lt"/>
                <a:ea typeface="맑은 고딕" panose="020B0503020000020004" pitchFamily="50" charset="-127"/>
              </a:rPr>
              <a:t>를 맞혀 봐</a:t>
            </a:r>
            <a:r>
              <a:rPr lang="en-US" altLang="ko-KR" sz="3800" b="1" spc="-250" dirty="0">
                <a:latin typeface="+mj-lt"/>
                <a:ea typeface="맑은 고딕" panose="020B0503020000020004" pitchFamily="50" charset="-127"/>
              </a:rPr>
              <a:t>!</a:t>
            </a:r>
            <a:endParaRPr lang="ko-KR" altLang="en-US" sz="3800" b="1" spc="-250" dirty="0"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4584" y="3314690"/>
            <a:ext cx="9144000" cy="720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altLang="ko-KR" sz="1600" b="0" i="0" u="none" strike="noStrike" baseline="0" dirty="0">
                <a:latin typeface="+mn-ea"/>
              </a:rPr>
              <a:t>Linear Regression</a:t>
            </a:r>
            <a:r>
              <a:rPr lang="ko-KR" altLang="en-US" sz="1600" spc="-250" dirty="0">
                <a:latin typeface="+mn-ea"/>
              </a:rPr>
              <a:t>를 사용하여</a:t>
            </a:r>
            <a:endParaRPr lang="en-US" altLang="ko-KR" sz="1600" spc="-250" dirty="0">
              <a:latin typeface="+mn-ea"/>
            </a:endParaRPr>
          </a:p>
          <a:p>
            <a:pPr algn="ctr">
              <a:lnSpc>
                <a:spcPts val="2600"/>
              </a:lnSpc>
            </a:pPr>
            <a:r>
              <a:rPr lang="ko-KR" altLang="en-US" sz="1600" spc="-250" dirty="0">
                <a:latin typeface="+mn-ea"/>
              </a:rPr>
              <a:t>전복 </a:t>
            </a:r>
            <a:r>
              <a:rPr lang="ko-KR" altLang="en-US" sz="1600" spc="-250" dirty="0" err="1">
                <a:latin typeface="+mn-ea"/>
              </a:rPr>
              <a:t>순살의</a:t>
            </a:r>
            <a:r>
              <a:rPr lang="ko-KR" altLang="en-US" sz="1600" spc="-250" dirty="0">
                <a:latin typeface="+mn-ea"/>
              </a:rPr>
              <a:t> 무게를 예측해 보자</a:t>
            </a:r>
            <a:r>
              <a:rPr lang="en-US" altLang="ko-KR" sz="1600" spc="-250" dirty="0">
                <a:latin typeface="+mn-ea"/>
              </a:rPr>
              <a:t>.</a:t>
            </a:r>
            <a:endParaRPr lang="ko-KR" altLang="en-US" sz="1600" spc="-2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1174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Choihaitnim\2. 정보\!!정보단행본\오렌지\!교수학습자료\PPT\!이전 파일\PPT용 도비라 캐릭터 취합\활동1\20211206_1312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141" y="1483717"/>
            <a:ext cx="2232247" cy="304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74373" y="371881"/>
            <a:ext cx="20297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ko-KR" altLang="en-US" sz="1600" spc="-100" dirty="0"/>
              <a:t>데이터 종류</a:t>
            </a:r>
            <a:r>
              <a:rPr lang="en-US" altLang="ko-KR" sz="1600" spc="-100" dirty="0"/>
              <a:t>:</a:t>
            </a:r>
          </a:p>
          <a:p>
            <a:pPr algn="ctr">
              <a:lnSpc>
                <a:spcPts val="3600"/>
              </a:lnSpc>
            </a:pPr>
            <a:r>
              <a:rPr lang="ko-KR" altLang="en-US" sz="2800" b="1" spc="-100" dirty="0">
                <a:solidFill>
                  <a:srgbClr val="FB5D05"/>
                </a:solidFill>
              </a:rPr>
              <a:t>정형 데이터</a:t>
            </a:r>
            <a:endParaRPr lang="ko-KR" altLang="en-US" b="1" spc="-100" dirty="0">
              <a:solidFill>
                <a:srgbClr val="FB5D0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99992" y="358552"/>
            <a:ext cx="33843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ko-KR" altLang="en-US" sz="1600" spc="-100" dirty="0"/>
              <a:t>사용하는 모델</a:t>
            </a:r>
            <a:r>
              <a:rPr lang="en-US" altLang="ko-KR" sz="1600" spc="-100" dirty="0"/>
              <a:t>:</a:t>
            </a:r>
          </a:p>
          <a:p>
            <a:pPr algn="ctr">
              <a:lnSpc>
                <a:spcPts val="3600"/>
              </a:lnSpc>
            </a:pPr>
            <a:r>
              <a:rPr lang="en-US" altLang="ko-KR" sz="2800" b="1" spc="-100" dirty="0">
                <a:solidFill>
                  <a:srgbClr val="FB5D05"/>
                </a:solidFill>
              </a:rPr>
              <a:t>Linear Regression</a:t>
            </a:r>
            <a:endParaRPr lang="ko-KR" altLang="en-US" sz="2800" b="1" spc="-100" dirty="0">
              <a:solidFill>
                <a:srgbClr val="FB5D05"/>
              </a:solidFill>
            </a:endParaRPr>
          </a:p>
        </p:txBody>
      </p:sp>
      <p:pic>
        <p:nvPicPr>
          <p:cNvPr id="1027" name="Picture 3" descr="D:\Choihaitnim\2. 정보\!!정보단행본\오렌지\!교수학습자료\PPT\!이전 파일\PPT용 도비라 캐릭터 취합\활동1\20211206_13121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751" y="2284094"/>
            <a:ext cx="2909835" cy="2214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544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748760" y="1434480"/>
            <a:ext cx="7655805" cy="3225502"/>
          </a:xfrm>
          <a:prstGeom prst="roundRect">
            <a:avLst>
              <a:gd name="adj" fmla="val 5962"/>
            </a:avLst>
          </a:prstGeom>
          <a:solidFill>
            <a:srgbClr val="FEF5E3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5141" y="537104"/>
            <a:ext cx="4166753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해결해야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할 문제는 무엇일까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  <a:endParaRPr lang="ko-KR" altLang="en-US" sz="2200" b="1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9416" y="1692796"/>
            <a:ext cx="7013351" cy="282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100"/>
              </a:lnSpc>
            </a:pPr>
            <a:r>
              <a:rPr lang="ko-KR" altLang="en-US" spc="-100" dirty="0"/>
              <a:t>전통 시장이나 주변 </a:t>
            </a:r>
            <a:r>
              <a:rPr lang="ko-KR" altLang="en-US" spc="-100" dirty="0" err="1"/>
              <a:t>마트</a:t>
            </a:r>
            <a:r>
              <a:rPr lang="ko-KR" altLang="en-US" spc="-100" dirty="0"/>
              <a:t> 수산물 코너에 가면 전복을 흔히 찾아볼 수 있다</a:t>
            </a:r>
            <a:r>
              <a:rPr lang="en-US" altLang="ko-KR" spc="-100" dirty="0"/>
              <a:t>. </a:t>
            </a:r>
            <a:r>
              <a:rPr lang="ko-KR" altLang="en-US" spc="-100" dirty="0"/>
              <a:t>전복은 크기와 가격대가 다양하다</a:t>
            </a:r>
            <a:r>
              <a:rPr lang="en-US" altLang="ko-KR" spc="-100" dirty="0"/>
              <a:t>. </a:t>
            </a:r>
            <a:r>
              <a:rPr lang="ko-KR" altLang="en-US" spc="-100" dirty="0"/>
              <a:t>우리나라에서 전복을 판매할 때</a:t>
            </a:r>
            <a:r>
              <a:rPr lang="en-US" altLang="ko-KR" spc="-100" dirty="0"/>
              <a:t>, </a:t>
            </a:r>
            <a:r>
              <a:rPr lang="ko-KR" altLang="en-US" spc="-100" dirty="0"/>
              <a:t>비슷한 크기끼리 묶어서 ‘미’라는 단위로 판매한다</a:t>
            </a:r>
            <a:r>
              <a:rPr lang="en-US" altLang="ko-KR" spc="-100" dirty="0"/>
              <a:t>. ‘</a:t>
            </a:r>
            <a:r>
              <a:rPr lang="ko-KR" altLang="en-US" spc="-100" dirty="0"/>
              <a:t>미’는 </a:t>
            </a:r>
            <a:r>
              <a:rPr lang="en-US" altLang="ko-KR" spc="-100" dirty="0"/>
              <a:t>1kg</a:t>
            </a:r>
            <a:r>
              <a:rPr lang="ko-KR" altLang="en-US" spc="-100" dirty="0"/>
              <a:t>을 기준으로 몇 마리가 들어가느냐를 말한다</a:t>
            </a:r>
            <a:r>
              <a:rPr lang="en-US" altLang="ko-KR" spc="-100" dirty="0"/>
              <a:t>. ‘</a:t>
            </a:r>
            <a:r>
              <a:rPr lang="ko-KR" altLang="en-US" spc="-100" dirty="0"/>
              <a:t>미’의 계수가 클수록 작은 전복이며</a:t>
            </a:r>
            <a:r>
              <a:rPr lang="en-US" altLang="ko-KR" spc="-100" dirty="0"/>
              <a:t>, </a:t>
            </a:r>
            <a:r>
              <a:rPr lang="ko-KR" altLang="en-US" spc="-100" dirty="0"/>
              <a:t>계수가 작을수록 큰 전복이다</a:t>
            </a:r>
            <a:r>
              <a:rPr lang="en-US" altLang="ko-KR" spc="-100" dirty="0"/>
              <a:t>. </a:t>
            </a:r>
            <a:r>
              <a:rPr lang="ko-KR" altLang="en-US" spc="-100" dirty="0"/>
              <a:t>전복은 크기가 작으면 </a:t>
            </a:r>
            <a:r>
              <a:rPr lang="ko-KR" altLang="en-US" spc="-100" dirty="0" err="1"/>
              <a:t>살수율</a:t>
            </a:r>
            <a:r>
              <a:rPr lang="en-US" altLang="ko-KR" spc="-100" dirty="0"/>
              <a:t>(           )</a:t>
            </a:r>
            <a:r>
              <a:rPr lang="ko-KR" altLang="en-US" spc="-100" dirty="0"/>
              <a:t>이 낮아 실제 먹을 수 있는 양이 줄어들고</a:t>
            </a:r>
            <a:r>
              <a:rPr lang="en-US" altLang="ko-KR" spc="-100" dirty="0"/>
              <a:t>, </a:t>
            </a:r>
            <a:r>
              <a:rPr lang="ko-KR" altLang="en-US" spc="-100" dirty="0"/>
              <a:t>크기가 너무 크면 질겨지므로 구매 시 적당한 크기를 고려해야 한다</a:t>
            </a:r>
            <a:r>
              <a:rPr lang="en-US" altLang="ko-KR" spc="-100" dirty="0"/>
              <a:t>.</a:t>
            </a:r>
            <a:endParaRPr lang="ko-KR" altLang="en-US" spc="-100" dirty="0"/>
          </a:p>
        </p:txBody>
      </p:sp>
      <p:pic>
        <p:nvPicPr>
          <p:cNvPr id="5122" name="Picture 2" descr="C:\Users\PC\Desktop\asdf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388" y="3356219"/>
            <a:ext cx="792956" cy="38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PC\Desktop\문제 상황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133" y="1119116"/>
            <a:ext cx="1152128" cy="48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449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PC\Desktop\ghkfehd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99"/>
          <a:stretch/>
        </p:blipFill>
        <p:spPr bwMode="auto">
          <a:xfrm>
            <a:off x="5247504" y="1711346"/>
            <a:ext cx="3183209" cy="301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모서리가 둥근 사각형 설명선 1"/>
          <p:cNvSpPr/>
          <p:nvPr/>
        </p:nvSpPr>
        <p:spPr>
          <a:xfrm>
            <a:off x="772720" y="492132"/>
            <a:ext cx="4879400" cy="1989321"/>
          </a:xfrm>
          <a:prstGeom prst="wedgeRoundRectCallout">
            <a:avLst>
              <a:gd name="adj1" fmla="val 38643"/>
              <a:gd name="adj2" fmla="val 77532"/>
              <a:gd name="adj3" fmla="val 16667"/>
            </a:avLst>
          </a:prstGeom>
          <a:solidFill>
            <a:srgbClr val="FCD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37312" y="579766"/>
            <a:ext cx="4968552" cy="171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4400"/>
              </a:lnSpc>
            </a:pPr>
            <a:r>
              <a:rPr lang="ko-KR" altLang="en-US" sz="2400" spc="-200" dirty="0"/>
              <a:t>전복 데이터를 분석하고</a:t>
            </a:r>
            <a:endParaRPr lang="en-US" altLang="ko-KR" sz="2400" spc="-200" dirty="0"/>
          </a:p>
          <a:p>
            <a:pPr algn="just">
              <a:lnSpc>
                <a:spcPts val="4400"/>
              </a:lnSpc>
            </a:pPr>
            <a:r>
              <a:rPr lang="ko-KR" altLang="en-US" sz="2400" b="1" spc="-200" dirty="0">
                <a:solidFill>
                  <a:srgbClr val="619428"/>
                </a:solidFill>
              </a:rPr>
              <a:t>전복의 순살 무게</a:t>
            </a:r>
            <a:r>
              <a:rPr lang="ko-KR" altLang="en-US" sz="2400" spc="-200" dirty="0"/>
              <a:t>를 </a:t>
            </a:r>
            <a:r>
              <a:rPr lang="ko-KR" altLang="en-US" sz="2400" b="1" spc="-200" dirty="0">
                <a:solidFill>
                  <a:srgbClr val="619428"/>
                </a:solidFill>
              </a:rPr>
              <a:t>예측</a:t>
            </a:r>
            <a:r>
              <a:rPr lang="ko-KR" altLang="en-US" sz="2400" spc="-200" dirty="0"/>
              <a:t>할 수 있는</a:t>
            </a:r>
            <a:endParaRPr lang="en-US" altLang="ko-KR" sz="2400" spc="-200" dirty="0"/>
          </a:p>
          <a:p>
            <a:pPr algn="just">
              <a:lnSpc>
                <a:spcPts val="4400"/>
              </a:lnSpc>
            </a:pPr>
            <a:r>
              <a:rPr lang="ko-KR" altLang="en-US" sz="2400" spc="-200" dirty="0"/>
              <a:t>인공지능 모델을 만들어 보자</a:t>
            </a:r>
            <a:r>
              <a:rPr lang="en-US" altLang="ko-KR" sz="2400" spc="-200" dirty="0"/>
              <a:t>.</a:t>
            </a:r>
            <a:endParaRPr lang="ko-KR" altLang="en-US" sz="2400" spc="-200" dirty="0"/>
          </a:p>
        </p:txBody>
      </p:sp>
    </p:spTree>
    <p:extLst>
      <p:ext uri="{BB962C8B-B14F-4D97-AF65-F5344CB8AC3E}">
        <p14:creationId xmlns:p14="http://schemas.microsoft.com/office/powerpoint/2010/main" val="3189798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5141" y="537104"/>
            <a:ext cx="4166753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데이터를 준비하자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</a:t>
            </a:r>
            <a:endParaRPr lang="ko-KR" altLang="en-US" sz="2200" b="1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3903" y="1178580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b="1" spc="-150" dirty="0">
                <a:solidFill>
                  <a:srgbClr val="005957"/>
                </a:solidFill>
                <a:latin typeface="+mn-ea"/>
              </a:rPr>
              <a:t>Orange3 </a:t>
            </a:r>
            <a:r>
              <a:rPr lang="ko-KR" altLang="en-US" b="1" spc="-150" dirty="0">
                <a:solidFill>
                  <a:srgbClr val="005957"/>
                </a:solidFill>
                <a:latin typeface="+mn-ea"/>
              </a:rPr>
              <a:t>데이터 다운로드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663438" y="1285467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7020272" y="655672"/>
            <a:ext cx="1584176" cy="302563"/>
          </a:xfrm>
          <a:prstGeom prst="roundRect">
            <a:avLst/>
          </a:prstGeom>
          <a:solidFill>
            <a:srgbClr val="84AEE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948264" y="355441"/>
            <a:ext cx="172819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ko-KR" altLang="en-US" sz="1400" b="1" spc="-150" dirty="0">
                <a:solidFill>
                  <a:srgbClr val="3A7DCE"/>
                </a:solidFill>
              </a:rPr>
              <a:t>데이터 다운로드 링크</a:t>
            </a:r>
            <a:endParaRPr lang="en-US" altLang="ko-KR" sz="1400" b="1" spc="-150" dirty="0">
              <a:solidFill>
                <a:srgbClr val="3A7DCE"/>
              </a:solidFill>
            </a:endParaRPr>
          </a:p>
          <a:p>
            <a:pPr algn="ctr">
              <a:lnSpc>
                <a:spcPts val="2100"/>
              </a:lnSpc>
            </a:pPr>
            <a:r>
              <a:rPr lang="en-US" altLang="ko-KR" sz="1400" spc="-100" dirty="0">
                <a:solidFill>
                  <a:srgbClr val="00B0F0"/>
                </a:solidFill>
                <a:hlinkClick r:id="rId2"/>
              </a:rPr>
              <a:t>https://bit.ly/3mBcZZb</a:t>
            </a:r>
            <a:endParaRPr lang="ko-KR" altLang="en-US" sz="1400" spc="-100" dirty="0">
              <a:solidFill>
                <a:srgbClr val="00B0F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91680" y="4227934"/>
            <a:ext cx="2693243" cy="62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ko-KR" altLang="en-US" sz="1400" b="1" spc="-150" dirty="0">
                <a:solidFill>
                  <a:srgbClr val="3A7DCE"/>
                </a:solidFill>
              </a:rPr>
              <a:t>그림</a:t>
            </a:r>
            <a:r>
              <a:rPr lang="en-US" altLang="ko-KR" sz="1400" b="1" spc="-150" dirty="0">
                <a:solidFill>
                  <a:srgbClr val="3A7DCE"/>
                </a:solidFill>
              </a:rPr>
              <a:t> 1-1</a:t>
            </a:r>
            <a:r>
              <a:rPr lang="en-US" altLang="ko-KR" sz="1400" spc="-150" dirty="0"/>
              <a:t> Orange3</a:t>
            </a:r>
            <a:r>
              <a:rPr lang="ko-KR" altLang="en-US" sz="1400" spc="-150" dirty="0"/>
              <a:t>에서 제공하는 </a:t>
            </a:r>
            <a:r>
              <a:rPr lang="en-US" altLang="ko-KR" sz="1400" spc="-150" dirty="0"/>
              <a:t>Datasets</a:t>
            </a:r>
            <a:r>
              <a:rPr lang="ko-KR" altLang="en-US" sz="1400" spc="-150" dirty="0"/>
              <a:t>의 다양한 데이터</a:t>
            </a: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109291" y="1680624"/>
            <a:ext cx="438373" cy="256818"/>
          </a:xfrm>
          <a:prstGeom prst="roundRect">
            <a:avLst/>
          </a:prstGeom>
          <a:solidFill>
            <a:srgbClr val="F7CC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04825" y="1583392"/>
            <a:ext cx="676351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463" indent="-14446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sz="1600" spc="-150" dirty="0"/>
              <a:t>Data </a:t>
            </a:r>
            <a:r>
              <a:rPr lang="ko-KR" altLang="en-US" sz="1600" spc="-150" dirty="0"/>
              <a:t>카테고리 </a:t>
            </a:r>
            <a:r>
              <a:rPr lang="en-US" altLang="ko-KR" sz="1600" spc="-150" dirty="0"/>
              <a:t>- [Datasets] </a:t>
            </a:r>
            <a:r>
              <a:rPr lang="ko-KR" altLang="en-US" sz="1600" spc="-150" dirty="0" err="1"/>
              <a:t>위젯</a:t>
            </a:r>
            <a:r>
              <a:rPr lang="ko-KR" altLang="en-US" sz="1600" spc="-150" dirty="0"/>
              <a:t> 더블 클릭 </a:t>
            </a:r>
            <a:r>
              <a:rPr lang="en-US" altLang="ko-KR" sz="1600" spc="-150" dirty="0"/>
              <a:t>- Abalone(</a:t>
            </a:r>
            <a:r>
              <a:rPr lang="ko-KR" altLang="en-US" sz="1600" spc="-150" dirty="0"/>
              <a:t>전복</a:t>
            </a:r>
            <a:r>
              <a:rPr lang="en-US" altLang="ko-KR" sz="1600" spc="-150" dirty="0"/>
              <a:t>) </a:t>
            </a:r>
            <a:r>
              <a:rPr lang="ko-KR" altLang="en-US" sz="1600" spc="-150" dirty="0"/>
              <a:t>데이터 더블 클릭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ACDD2680-05CF-4A63-A752-BE97FE00AF87}"/>
              </a:ext>
            </a:extLst>
          </p:cNvPr>
          <p:cNvSpPr/>
          <p:nvPr/>
        </p:nvSpPr>
        <p:spPr>
          <a:xfrm flipH="1">
            <a:off x="4932040" y="2859782"/>
            <a:ext cx="216024" cy="144016"/>
          </a:xfrm>
          <a:prstGeom prst="rightArrow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995686"/>
            <a:ext cx="3672131" cy="2310954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096" y="1995686"/>
            <a:ext cx="2657211" cy="223894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96136" y="4299942"/>
            <a:ext cx="2693243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spc="-150" dirty="0">
                <a:solidFill>
                  <a:srgbClr val="3A7DCE"/>
                </a:solidFill>
              </a:rPr>
              <a:t>그림</a:t>
            </a:r>
            <a:r>
              <a:rPr lang="en-US" altLang="ko-KR" sz="1400" b="1" spc="-150" dirty="0">
                <a:solidFill>
                  <a:srgbClr val="3A7DCE"/>
                </a:solidFill>
              </a:rPr>
              <a:t> 1-2</a:t>
            </a:r>
            <a:r>
              <a:rPr lang="en-US" altLang="ko-KR" sz="1400" spc="-150" dirty="0"/>
              <a:t> </a:t>
            </a:r>
            <a:r>
              <a:rPr lang="en-US" altLang="ko-KR" sz="1400" dirty="0">
                <a:latin typeface="+mn-ea"/>
              </a:rPr>
              <a:t>UCI </a:t>
            </a:r>
            <a:r>
              <a:rPr lang="ko-KR" altLang="en-US" sz="1400" dirty="0">
                <a:latin typeface="+mn-ea"/>
              </a:rPr>
              <a:t>전복 데이터</a:t>
            </a:r>
          </a:p>
        </p:txBody>
      </p:sp>
    </p:spTree>
    <p:extLst>
      <p:ext uri="{BB962C8B-B14F-4D97-AF65-F5344CB8AC3E}">
        <p14:creationId xmlns:p14="http://schemas.microsoft.com/office/powerpoint/2010/main" val="3189798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531314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</a:rPr>
              <a:t>데이터 불러오기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pic>
        <p:nvPicPr>
          <p:cNvPr id="7170" name="Picture 2" descr="C:\Users\PC\Desktop\20211122_15313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72914"/>
            <a:ext cx="2300476" cy="965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PC\Desktop\20211122_15324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624" y="1704226"/>
            <a:ext cx="5277318" cy="301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모서리가 둥근 직사각형 5"/>
          <p:cNvSpPr/>
          <p:nvPr/>
        </p:nvSpPr>
        <p:spPr>
          <a:xfrm>
            <a:off x="1128698" y="1696020"/>
            <a:ext cx="5381168" cy="15565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>
            <a:stCxn id="6" idx="3"/>
          </p:cNvCxnSpPr>
          <p:nvPr/>
        </p:nvCxnSpPr>
        <p:spPr>
          <a:xfrm>
            <a:off x="6509866" y="1773845"/>
            <a:ext cx="294382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83384" y="1554554"/>
            <a:ext cx="79208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1400" spc="-150" dirty="0" err="1">
                <a:solidFill>
                  <a:srgbClr val="C00000"/>
                </a:solidFill>
              </a:rPr>
              <a:t>속성명</a:t>
            </a:r>
            <a:endParaRPr lang="ko-KR" altLang="en-US" sz="1400" spc="-150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09866" y="4062441"/>
            <a:ext cx="2284559" cy="656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ko-KR" altLang="en-US" sz="1400" b="1" spc="-150" dirty="0">
                <a:solidFill>
                  <a:srgbClr val="3A7DCE"/>
                </a:solidFill>
              </a:rPr>
              <a:t>그림</a:t>
            </a:r>
            <a:r>
              <a:rPr lang="en-US" altLang="ko-KR" sz="1400" b="1" spc="-150" dirty="0">
                <a:solidFill>
                  <a:srgbClr val="3A7DCE"/>
                </a:solidFill>
              </a:rPr>
              <a:t> 1-3</a:t>
            </a:r>
            <a:r>
              <a:rPr lang="en-US" altLang="ko-KR" sz="1400" spc="-150" dirty="0"/>
              <a:t> [Data Table]</a:t>
            </a:r>
            <a:r>
              <a:rPr lang="ko-KR" altLang="en-US" sz="1400" spc="-150" dirty="0"/>
              <a:t> </a:t>
            </a:r>
            <a:r>
              <a:rPr lang="ko-KR" altLang="en-US" sz="1400" spc="-150" dirty="0" err="1"/>
              <a:t>위젯으로</a:t>
            </a:r>
            <a:r>
              <a:rPr lang="ko-KR" altLang="en-US" sz="1400" spc="-150" dirty="0"/>
              <a:t> 본 전복</a:t>
            </a:r>
            <a:r>
              <a:rPr lang="en-US" altLang="ko-KR" sz="1400" spc="-150" dirty="0"/>
              <a:t>(Abalone) </a:t>
            </a:r>
            <a:r>
              <a:rPr lang="ko-KR" altLang="en-US" sz="1400" spc="-150" dirty="0"/>
              <a:t>데이터</a:t>
            </a: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128698" y="4563381"/>
            <a:ext cx="5381168" cy="15565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1102941" y="1010622"/>
            <a:ext cx="438373" cy="256818"/>
          </a:xfrm>
          <a:prstGeom prst="roundRect">
            <a:avLst/>
          </a:prstGeom>
          <a:solidFill>
            <a:srgbClr val="F7CC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04825" y="911190"/>
            <a:ext cx="4963319" cy="74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463" indent="-14446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sz="1600" spc="-150" dirty="0"/>
              <a:t>Data </a:t>
            </a:r>
            <a:r>
              <a:rPr lang="ko-KR" altLang="en-US" sz="1600" spc="-150" dirty="0"/>
              <a:t>카테고리 </a:t>
            </a:r>
            <a:r>
              <a:rPr lang="en-US" altLang="ko-KR" sz="1600" spc="-150" dirty="0"/>
              <a:t>- [Data Table] </a:t>
            </a:r>
            <a:r>
              <a:rPr lang="ko-KR" altLang="en-US" sz="1600" spc="-150" dirty="0" err="1"/>
              <a:t>위젯을</a:t>
            </a:r>
            <a:r>
              <a:rPr lang="ko-KR" altLang="en-US" sz="1600" spc="-150" dirty="0"/>
              <a:t> 가져와 </a:t>
            </a:r>
            <a:r>
              <a:rPr lang="en-US" altLang="ko-KR" sz="1600" spc="-150" dirty="0"/>
              <a:t>[Datasets] </a:t>
            </a:r>
            <a:r>
              <a:rPr lang="ko-KR" altLang="en-US" sz="1600" spc="-150" dirty="0" err="1"/>
              <a:t>위젯에</a:t>
            </a:r>
            <a:r>
              <a:rPr lang="ko-KR" altLang="en-US" sz="1600" spc="-150" dirty="0"/>
              <a:t> 연결 후 더블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0E325-D4A9-4E8E-B653-46F18275D34A}"/>
              </a:ext>
            </a:extLst>
          </p:cNvPr>
          <p:cNvSpPr txBox="1"/>
          <p:nvPr/>
        </p:nvSpPr>
        <p:spPr>
          <a:xfrm>
            <a:off x="6588224" y="2814401"/>
            <a:ext cx="1800199" cy="646064"/>
          </a:xfrm>
          <a:prstGeom prst="roundRect">
            <a:avLst/>
          </a:prstGeom>
          <a:solidFill>
            <a:srgbClr val="E2ECAE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ko-KR"/>
            </a:defPPr>
            <a:lvl1pPr indent="0">
              <a:lnSpc>
                <a:spcPct val="120000"/>
              </a:lnSpc>
              <a:buFont typeface="Arial" panose="020B0604020202020204" pitchFamily="34" charset="0"/>
              <a:buNone/>
              <a:defRPr sz="1400" spc="-150">
                <a:solidFill>
                  <a:schemeClr val="dk1"/>
                </a:solidFill>
                <a:latin typeface="+mn-ea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ko-KR" dirty="0"/>
              <a:t>9</a:t>
            </a:r>
            <a:r>
              <a:rPr lang="ko-KR" altLang="en-US" dirty="0"/>
              <a:t>개의 속성</a:t>
            </a:r>
            <a:br>
              <a:rPr lang="en-US" altLang="ko-KR" dirty="0"/>
            </a:br>
            <a:r>
              <a:rPr lang="en-US" altLang="ko-KR" dirty="0"/>
              <a:t>4,177</a:t>
            </a:r>
            <a:r>
              <a:rPr lang="ko-KR" altLang="en-US" dirty="0"/>
              <a:t>개의 전복 데이터 </a:t>
            </a:r>
          </a:p>
        </p:txBody>
      </p:sp>
    </p:spTree>
    <p:extLst>
      <p:ext uri="{BB962C8B-B14F-4D97-AF65-F5344CB8AC3E}">
        <p14:creationId xmlns:p14="http://schemas.microsoft.com/office/powerpoint/2010/main" val="3189798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202" y="533339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</a:rPr>
              <a:t>데이터 속성 정보 확인하기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83568" y="987574"/>
            <a:ext cx="5251351" cy="73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2888" indent="-242888">
              <a:lnSpc>
                <a:spcPts val="2700"/>
              </a:lnSpc>
              <a:buClr>
                <a:srgbClr val="7030A0"/>
              </a:buClr>
              <a:buFont typeface="Wingdings" panose="05000000000000000000" pitchFamily="2" charset="2"/>
              <a:buChar char="u"/>
            </a:pPr>
            <a:r>
              <a:rPr lang="en-US" altLang="ko-KR" b="1" spc="100" dirty="0">
                <a:solidFill>
                  <a:srgbClr val="7030A0"/>
                </a:solidFill>
              </a:rPr>
              <a:t>Abalone Dataset:</a:t>
            </a:r>
            <a:r>
              <a:rPr lang="en-US" altLang="ko-KR" b="1" spc="100" dirty="0"/>
              <a:t> </a:t>
            </a:r>
            <a:r>
              <a:rPr lang="en-US" altLang="ko-KR" sz="1400" b="1" dirty="0"/>
              <a:t>4,177</a:t>
            </a:r>
            <a:r>
              <a:rPr lang="ko-KR" altLang="en-US" sz="1400" b="1" dirty="0"/>
              <a:t>개 전복 데이터의 </a:t>
            </a:r>
            <a:r>
              <a:rPr lang="en-US" altLang="ko-KR" sz="1400" b="1" dirty="0"/>
              <a:t>9</a:t>
            </a:r>
            <a:r>
              <a:rPr lang="ko-KR" altLang="en-US" sz="1400" b="1" dirty="0"/>
              <a:t>개 속성 정보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297592"/>
              </p:ext>
            </p:extLst>
          </p:nvPr>
        </p:nvGraphicFramePr>
        <p:xfrm>
          <a:off x="770660" y="1442503"/>
          <a:ext cx="3729332" cy="2343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6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속성명</a:t>
                      </a:r>
                      <a:endParaRPr lang="ko-KR" altLang="en-US" sz="1400" b="1" spc="-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속성 정보</a:t>
                      </a:r>
                      <a:endParaRPr lang="ko-KR" altLang="en-US" sz="1400" b="1" spc="-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Rings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나이테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연도를 나타냄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Sex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성별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M(</a:t>
                      </a:r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수컷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), F(</a:t>
                      </a:r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암컷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견명조" panose="02030600000101010101" pitchFamily="18" charset="-127"/>
                        </a:rPr>
                        <a:t>I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유아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Length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길이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최장 껍질 측정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(mm)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Diameter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직경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길이에 수직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(mm)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Height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두께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껍질과 살 포함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(mm)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05A7C99-FA16-418E-9438-7BA208BCB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965676"/>
              </p:ext>
            </p:extLst>
          </p:nvPr>
        </p:nvGraphicFramePr>
        <p:xfrm>
          <a:off x="4572000" y="1442503"/>
          <a:ext cx="4104456" cy="195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6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속성명</a:t>
                      </a:r>
                      <a:endParaRPr lang="ko-KR" altLang="en-US" sz="1400" b="1" spc="-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BC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속성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Whole weight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전체 무게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그램 단위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(g)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Shucked weight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순살 무게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그램 단위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(g)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Viscera weight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내장 무게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피를 뺀 후 장 무게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(g)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Shell weight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껍질 무게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건조 후</a:t>
                      </a:r>
                      <a:r>
                        <a:rPr lang="en-US" altLang="ko-KR" sz="14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(g)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8878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31640" y="1347614"/>
            <a:ext cx="6840760" cy="784830"/>
          </a:xfrm>
          <a:prstGeom prst="rect">
            <a:avLst/>
          </a:prstGeom>
          <a:ln>
            <a:solidFill>
              <a:srgbClr val="EDA9BC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1600" spc="-150" dirty="0"/>
              <a:t>Visualize   </a:t>
            </a:r>
            <a:r>
              <a:rPr lang="ko-KR" altLang="en-US" sz="1600" spc="-150" dirty="0"/>
              <a:t>카테고리에는 </a:t>
            </a:r>
            <a:r>
              <a:rPr lang="ko-KR" altLang="en-US" sz="1600" spc="-150" dirty="0" err="1"/>
              <a:t>산점도</a:t>
            </a:r>
            <a:r>
              <a:rPr lang="en-US" altLang="ko-KR" sz="1600" spc="-150" dirty="0"/>
              <a:t>(Scatter Plot),</a:t>
            </a:r>
            <a:r>
              <a:rPr lang="ko-KR" altLang="en-US" sz="1600" spc="-150" dirty="0"/>
              <a:t> 상자 그림</a:t>
            </a:r>
            <a:r>
              <a:rPr lang="en-US" altLang="ko-KR" sz="1600" spc="-150" dirty="0"/>
              <a:t>(Box Plot), </a:t>
            </a:r>
            <a:br>
              <a:rPr lang="en-US" altLang="ko-KR" sz="1600" spc="-150" dirty="0"/>
            </a:br>
            <a:r>
              <a:rPr lang="ko-KR" altLang="en-US" sz="1600" spc="-150" dirty="0"/>
              <a:t>도수분포표</a:t>
            </a:r>
            <a:r>
              <a:rPr lang="en-US" altLang="ko-KR" sz="1600" spc="-150" dirty="0"/>
              <a:t>(Distributions Statistics) </a:t>
            </a:r>
            <a:r>
              <a:rPr lang="ko-KR" altLang="en-US" sz="1600" spc="-150" dirty="0"/>
              <a:t>등 데이터를 시각화할 수 있는 다양한 </a:t>
            </a:r>
            <a:r>
              <a:rPr lang="ko-KR" altLang="en-US" sz="1600" spc="-150" dirty="0" err="1"/>
              <a:t>위젯</a:t>
            </a:r>
            <a:r>
              <a:rPr lang="ko-KR" altLang="en-US" sz="1600" spc="-150" dirty="0"/>
              <a:t> 존재</a:t>
            </a:r>
            <a:endParaRPr lang="en-US" altLang="ko-KR" sz="1600" spc="-150" dirty="0"/>
          </a:p>
        </p:txBody>
      </p:sp>
      <p:sp>
        <p:nvSpPr>
          <p:cNvPr id="2" name="TextBox 1"/>
          <p:cNvSpPr txBox="1"/>
          <p:nvPr/>
        </p:nvSpPr>
        <p:spPr>
          <a:xfrm>
            <a:off x="905941" y="532860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</a:rPr>
              <a:t>데이터 시각화하기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1403648" y="1419622"/>
            <a:ext cx="792088" cy="256818"/>
          </a:xfrm>
          <a:prstGeom prst="roundRect">
            <a:avLst/>
          </a:prstGeom>
          <a:solidFill>
            <a:srgbClr val="F4B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spc="-150" dirty="0">
                <a:solidFill>
                  <a:schemeClr val="tx1"/>
                </a:solidFill>
              </a:rPr>
              <a:t>Visualize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4</a:t>
            </a:r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05941" y="915566"/>
            <a:ext cx="6618387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/>
            </a:pPr>
            <a:r>
              <a:rPr lang="en-US" altLang="ko-KR" sz="1700" b="1" spc="-150" dirty="0"/>
              <a:t>[Scatter Plot] </a:t>
            </a:r>
            <a:r>
              <a:rPr lang="ko-KR" altLang="en-US" sz="1700" b="1" spc="-150" dirty="0" err="1"/>
              <a:t>위젯을</a:t>
            </a:r>
            <a:r>
              <a:rPr lang="ko-KR" altLang="en-US" sz="1700" b="1" spc="-150" dirty="0"/>
              <a:t> 연결하여 </a:t>
            </a:r>
            <a:r>
              <a:rPr lang="ko-KR" altLang="en-US" sz="1700" b="1" spc="-150" dirty="0" err="1"/>
              <a:t>산점도</a:t>
            </a:r>
            <a:r>
              <a:rPr lang="en-US" altLang="ko-KR" sz="1700" b="1" spc="-150" dirty="0"/>
              <a:t>(Scatter Plot)</a:t>
            </a:r>
            <a:r>
              <a:rPr lang="ko-KR" altLang="en-US" sz="1700" b="1" spc="-150" dirty="0"/>
              <a:t>로 시각화하기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1403648" y="2211710"/>
            <a:ext cx="688744" cy="256818"/>
          </a:xfrm>
          <a:prstGeom prst="roundRect">
            <a:avLst/>
          </a:prstGeom>
          <a:solidFill>
            <a:srgbClr val="F4B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87624" y="2139702"/>
            <a:ext cx="7416824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463" indent="-14446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sz="1600" spc="-150" dirty="0"/>
              <a:t>Visualize </a:t>
            </a:r>
            <a:r>
              <a:rPr lang="ko-KR" altLang="en-US" sz="1600" spc="-150" dirty="0"/>
              <a:t>카테고리 </a:t>
            </a:r>
            <a:r>
              <a:rPr lang="en-US" altLang="ko-KR" sz="1600" spc="-150" dirty="0"/>
              <a:t>– [Scatter Plot] </a:t>
            </a:r>
            <a:r>
              <a:rPr lang="ko-KR" altLang="en-US" sz="1600" spc="-150" dirty="0" err="1"/>
              <a:t>위젯을</a:t>
            </a:r>
            <a:r>
              <a:rPr lang="ko-KR" altLang="en-US" sz="1600" spc="-150" dirty="0"/>
              <a:t> 가져와 </a:t>
            </a:r>
            <a:r>
              <a:rPr lang="en-US" altLang="ko-KR" sz="1600" spc="-150" dirty="0"/>
              <a:t>[Data Table] </a:t>
            </a:r>
            <a:r>
              <a:rPr lang="ko-KR" altLang="en-US" sz="1600" spc="-150" dirty="0" err="1"/>
              <a:t>위젯에</a:t>
            </a:r>
            <a:r>
              <a:rPr lang="ko-KR" altLang="en-US" sz="1600" spc="-150" dirty="0"/>
              <a:t> 연결한 후 더블 클릭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2571750"/>
            <a:ext cx="4337670" cy="217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35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AF9FCF0-7522-4105-920D-65069E77D600}"/>
              </a:ext>
            </a:extLst>
          </p:cNvPr>
          <p:cNvSpPr txBox="1"/>
          <p:nvPr/>
        </p:nvSpPr>
        <p:spPr>
          <a:xfrm>
            <a:off x="905941" y="476984"/>
            <a:ext cx="5970315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 startAt="2"/>
            </a:pPr>
            <a:r>
              <a:rPr lang="ko-KR" altLang="en-US" sz="1700" b="1" spc="-150" dirty="0"/>
              <a:t>전복 속성에 따른 </a:t>
            </a:r>
            <a:r>
              <a:rPr lang="ko-KR" altLang="en-US" sz="1700" b="1" spc="-150" dirty="0" err="1"/>
              <a:t>산점도</a:t>
            </a:r>
            <a:r>
              <a:rPr lang="ko-KR" altLang="en-US" sz="1700" b="1" spc="-150" dirty="0"/>
              <a:t> 확인하기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3DB7C5-FB09-4461-A8EC-32302AAC03FC}"/>
              </a:ext>
            </a:extLst>
          </p:cNvPr>
          <p:cNvSpPr txBox="1"/>
          <p:nvPr/>
        </p:nvSpPr>
        <p:spPr>
          <a:xfrm>
            <a:off x="971600" y="1059582"/>
            <a:ext cx="3176297" cy="320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463" indent="-14446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b="1" spc="-100" dirty="0" err="1">
                <a:solidFill>
                  <a:srgbClr val="002060"/>
                </a:solidFill>
                <a:latin typeface="+mn-ea"/>
              </a:rPr>
              <a:t>산점도</a:t>
            </a:r>
            <a:r>
              <a:rPr lang="en-US" altLang="ko-KR" sz="1600" spc="-100" dirty="0">
                <a:latin typeface="+mn-ea"/>
              </a:rPr>
              <a:t>: </a:t>
            </a:r>
            <a:r>
              <a:rPr lang="ko-KR" altLang="en-US" sz="1600" spc="-100" dirty="0">
                <a:latin typeface="+mn-ea"/>
              </a:rPr>
              <a:t>두 변수를 </a:t>
            </a:r>
            <a:r>
              <a:rPr lang="en-US" altLang="ko-KR" sz="1600" spc="-100" dirty="0">
                <a:latin typeface="+mn-ea"/>
              </a:rPr>
              <a:t>x</a:t>
            </a:r>
            <a:r>
              <a:rPr lang="ko-KR" altLang="en-US" sz="1600" spc="-100" dirty="0">
                <a:latin typeface="+mn-ea"/>
              </a:rPr>
              <a:t>축과 </a:t>
            </a:r>
            <a:r>
              <a:rPr lang="en-US" altLang="ko-KR" sz="1600" spc="-100" dirty="0">
                <a:latin typeface="+mn-ea"/>
              </a:rPr>
              <a:t>y</a:t>
            </a:r>
            <a:r>
              <a:rPr lang="ko-KR" altLang="en-US" sz="1600" spc="-100" dirty="0">
                <a:latin typeface="+mn-ea"/>
              </a:rPr>
              <a:t>축으로 설정하고 두 값이 만나는 곳에 </a:t>
            </a:r>
            <a:br>
              <a:rPr lang="en-US" altLang="ko-KR" sz="1600" spc="-100" dirty="0">
                <a:latin typeface="+mn-ea"/>
              </a:rPr>
            </a:br>
            <a:r>
              <a:rPr lang="ko-KR" altLang="en-US" sz="1600" spc="-100" dirty="0">
                <a:latin typeface="+mn-ea"/>
              </a:rPr>
              <a:t>점으로 나타낸 그래프</a:t>
            </a:r>
            <a:endParaRPr lang="en-US" altLang="ko-KR" sz="1600" spc="-100" dirty="0">
              <a:latin typeface="+mn-ea"/>
            </a:endParaRPr>
          </a:p>
          <a:p>
            <a:pPr marL="144463" indent="-14446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sz="1600" b="1" i="0" u="none" strike="noStrike" spc="-100" baseline="0" dirty="0">
                <a:solidFill>
                  <a:srgbClr val="002060"/>
                </a:solidFill>
                <a:latin typeface="+mn-ea"/>
              </a:rPr>
              <a:t>y</a:t>
            </a:r>
            <a:r>
              <a:rPr lang="ko-KR" altLang="en-US" sz="1600" b="1" i="0" u="none" strike="noStrike" spc="-100" baseline="0" dirty="0">
                <a:solidFill>
                  <a:srgbClr val="002060"/>
                </a:solidFill>
                <a:latin typeface="+mn-ea"/>
              </a:rPr>
              <a:t>축의 이름</a:t>
            </a:r>
            <a:r>
              <a:rPr lang="en-US" altLang="ko-KR" sz="1600" b="0" i="0" u="none" strike="noStrike" spc="-100" baseline="0" dirty="0">
                <a:latin typeface="+mn-ea"/>
              </a:rPr>
              <a:t>:</a:t>
            </a:r>
            <a:r>
              <a:rPr lang="ko-KR" altLang="en-US" sz="1600" b="0" i="0" u="none" strike="noStrike" spc="-100" baseline="0" dirty="0">
                <a:latin typeface="+mn-ea"/>
              </a:rPr>
              <a:t> 전복 순살 무게</a:t>
            </a:r>
            <a:r>
              <a:rPr lang="en-US" altLang="ko-KR" sz="1600" b="0" i="0" u="none" strike="noStrike" spc="-100" baseline="0" dirty="0">
                <a:latin typeface="+mn-ea"/>
              </a:rPr>
              <a:t>(Shucked weight)</a:t>
            </a:r>
            <a:r>
              <a:rPr lang="ko-KR" altLang="en-US" sz="1600" b="0" i="0" u="none" strike="noStrike" spc="-100" baseline="0" dirty="0">
                <a:latin typeface="+mn-ea"/>
              </a:rPr>
              <a:t>로 설정</a:t>
            </a:r>
            <a:endParaRPr lang="en-US" altLang="ko-KR" sz="1600" spc="-100" dirty="0">
              <a:latin typeface="+mn-ea"/>
            </a:endParaRPr>
          </a:p>
          <a:p>
            <a:pPr marL="144463" indent="-14446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sz="1600" b="1" i="0" u="none" strike="noStrike" spc="-100" baseline="0" dirty="0">
                <a:solidFill>
                  <a:srgbClr val="002060"/>
                </a:solidFill>
                <a:latin typeface="+mn-ea"/>
              </a:rPr>
              <a:t>x</a:t>
            </a:r>
            <a:r>
              <a:rPr lang="ko-KR" altLang="en-US" sz="1600" b="1" i="0" u="none" strike="noStrike" spc="-100" baseline="0" dirty="0">
                <a:solidFill>
                  <a:srgbClr val="002060"/>
                </a:solidFill>
                <a:latin typeface="+mn-ea"/>
              </a:rPr>
              <a:t>축의 이름</a:t>
            </a:r>
            <a:r>
              <a:rPr lang="en-US" altLang="ko-KR" sz="1600" b="0" i="0" u="none" strike="noStrike" spc="-100" baseline="0" dirty="0">
                <a:latin typeface="+mn-ea"/>
              </a:rPr>
              <a:t>:</a:t>
            </a:r>
            <a:r>
              <a:rPr lang="ko-KR" altLang="en-US" sz="1600" b="0" i="0" u="none" strike="noStrike" spc="-100" baseline="0" dirty="0">
                <a:latin typeface="+mn-ea"/>
              </a:rPr>
              <a:t> 여러 가지 속성으로 변경</a:t>
            </a:r>
            <a:br>
              <a:rPr lang="en-US" altLang="ko-KR" sz="1600" spc="-100" dirty="0">
                <a:latin typeface="+mn-ea"/>
              </a:rPr>
            </a:br>
            <a:r>
              <a:rPr lang="ko-KR" altLang="en-US" sz="1600" spc="-100" dirty="0">
                <a:latin typeface="+mn-ea"/>
              </a:rPr>
              <a:t>위 과정을 통해</a:t>
            </a:r>
            <a:r>
              <a:rPr lang="en-US" altLang="ko-KR" sz="1600" b="0" i="0" u="none" strike="noStrike" spc="-100" baseline="0" dirty="0">
                <a:latin typeface="+mn-ea"/>
              </a:rPr>
              <a:t> </a:t>
            </a:r>
            <a:r>
              <a:rPr lang="ko-KR" altLang="en-US" sz="1600" b="0" i="0" u="none" strike="noStrike" spc="-100" baseline="0" dirty="0">
                <a:latin typeface="+mn-ea"/>
              </a:rPr>
              <a:t>각 속성에 따른 </a:t>
            </a:r>
            <a:br>
              <a:rPr lang="en-US" altLang="ko-KR" sz="1600" b="0" i="0" u="none" strike="noStrike" spc="-100" baseline="0" dirty="0">
                <a:latin typeface="+mn-ea"/>
              </a:rPr>
            </a:br>
            <a:r>
              <a:rPr lang="ko-KR" altLang="en-US" sz="1600" b="0" i="0" u="none" strike="noStrike" spc="-100" baseline="0" dirty="0">
                <a:latin typeface="+mn-ea"/>
              </a:rPr>
              <a:t>전복 순살 무게를 확인</a:t>
            </a:r>
            <a:endParaRPr lang="ko-KR" altLang="en-US" sz="1600" spc="-100" dirty="0">
              <a:latin typeface="+mn-ea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9FBE8C6-E06E-4F5D-8B06-8AC24A051230}"/>
              </a:ext>
            </a:extLst>
          </p:cNvPr>
          <p:cNvGrpSpPr/>
          <p:nvPr/>
        </p:nvGrpSpPr>
        <p:grpSpPr>
          <a:xfrm>
            <a:off x="4499992" y="1151395"/>
            <a:ext cx="4190068" cy="3144954"/>
            <a:chOff x="1178624" y="613265"/>
            <a:chExt cx="5265586" cy="3952209"/>
          </a:xfrm>
        </p:grpSpPr>
        <p:pic>
          <p:nvPicPr>
            <p:cNvPr id="18" name="Picture 3" descr="C:\Users\PC\Desktop\A9RA107.jpg">
              <a:extLst>
                <a:ext uri="{FF2B5EF4-FFF2-40B4-BE49-F238E27FC236}">
                  <a16:creationId xmlns:a16="http://schemas.microsoft.com/office/drawing/2014/main" id="{7AE8D45C-1250-47F4-B075-557F76A20C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624" y="613265"/>
              <a:ext cx="5265586" cy="39522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모서리가 둥근 직사각형 4">
              <a:extLst>
                <a:ext uri="{FF2B5EF4-FFF2-40B4-BE49-F238E27FC236}">
                  <a16:creationId xmlns:a16="http://schemas.microsoft.com/office/drawing/2014/main" id="{21F8E169-7C49-4755-B9C1-5EA503B41B9E}"/>
                </a:ext>
              </a:extLst>
            </p:cNvPr>
            <p:cNvSpPr/>
            <p:nvPr/>
          </p:nvSpPr>
          <p:spPr>
            <a:xfrm>
              <a:off x="1188515" y="771550"/>
              <a:ext cx="1511277" cy="1368152"/>
            </a:xfrm>
            <a:prstGeom prst="roundRect">
              <a:avLst>
                <a:gd name="adj" fmla="val 7199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18D13B78-3356-462F-86E6-B610789610C4}"/>
                </a:ext>
              </a:extLst>
            </p:cNvPr>
            <p:cNvCxnSpPr/>
            <p:nvPr/>
          </p:nvCxnSpPr>
          <p:spPr>
            <a:xfrm flipH="1">
              <a:off x="4701187" y="2327680"/>
              <a:ext cx="374869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모서리가 둥근 직사각형 7">
              <a:extLst>
                <a:ext uri="{FF2B5EF4-FFF2-40B4-BE49-F238E27FC236}">
                  <a16:creationId xmlns:a16="http://schemas.microsoft.com/office/drawing/2014/main" id="{224F369D-64C7-4C34-B87E-5EBC1466E019}"/>
                </a:ext>
              </a:extLst>
            </p:cNvPr>
            <p:cNvSpPr/>
            <p:nvPr/>
          </p:nvSpPr>
          <p:spPr>
            <a:xfrm>
              <a:off x="1190826" y="2920145"/>
              <a:ext cx="1254675" cy="623837"/>
            </a:xfrm>
            <a:prstGeom prst="roundRect">
              <a:avLst>
                <a:gd name="adj" fmla="val 7199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모서리가 둥근 직사각형 8">
              <a:extLst>
                <a:ext uri="{FF2B5EF4-FFF2-40B4-BE49-F238E27FC236}">
                  <a16:creationId xmlns:a16="http://schemas.microsoft.com/office/drawing/2014/main" id="{7515628A-EC06-4D09-839E-5D38F9E15CA3}"/>
                </a:ext>
              </a:extLst>
            </p:cNvPr>
            <p:cNvSpPr/>
            <p:nvPr/>
          </p:nvSpPr>
          <p:spPr>
            <a:xfrm>
              <a:off x="5076056" y="2211710"/>
              <a:ext cx="860893" cy="231941"/>
            </a:xfrm>
            <a:prstGeom prst="roundRect">
              <a:avLst>
                <a:gd name="adj" fmla="val 7199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id="{CD41DF4A-382C-43B6-95DB-B20F9E985C0A}"/>
                </a:ext>
              </a:extLst>
            </p:cNvPr>
            <p:cNvSpPr/>
            <p:nvPr/>
          </p:nvSpPr>
          <p:spPr>
            <a:xfrm>
              <a:off x="5596015" y="3579862"/>
              <a:ext cx="804785" cy="623838"/>
            </a:xfrm>
            <a:prstGeom prst="roundRect">
              <a:avLst>
                <a:gd name="adj" fmla="val 7199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2460A2B9-8330-4B27-8467-9574C097DF0A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flipH="1">
              <a:off x="5341220" y="3891782"/>
              <a:ext cx="254795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15B57D-FA24-48E5-A95F-B253CA0C6527}"/>
                </a:ext>
              </a:extLst>
            </p:cNvPr>
            <p:cNvSpPr txBox="1"/>
            <p:nvPr/>
          </p:nvSpPr>
          <p:spPr>
            <a:xfrm>
              <a:off x="3440905" y="2108391"/>
              <a:ext cx="1361978" cy="49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700"/>
                </a:lnSpc>
              </a:pPr>
              <a:r>
                <a:rPr lang="ko-KR" altLang="en-US" sz="1400" spc="-150" dirty="0">
                  <a:solidFill>
                    <a:srgbClr val="C00000"/>
                  </a:solidFill>
                </a:rPr>
                <a:t>데이터 정보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E33E58A-B443-416F-BC70-021F1FE5228C}"/>
              </a:ext>
            </a:extLst>
          </p:cNvPr>
          <p:cNvSpPr txBox="1"/>
          <p:nvPr/>
        </p:nvSpPr>
        <p:spPr>
          <a:xfrm>
            <a:off x="7369379" y="3530937"/>
            <a:ext cx="509662" cy="391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1400" spc="-150" dirty="0">
                <a:solidFill>
                  <a:srgbClr val="C00000"/>
                </a:solidFill>
              </a:rPr>
              <a:t>범례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47A89F-8112-4A52-AC31-E610690A1E43}"/>
              </a:ext>
            </a:extLst>
          </p:cNvPr>
          <p:cNvSpPr txBox="1"/>
          <p:nvPr/>
        </p:nvSpPr>
        <p:spPr>
          <a:xfrm>
            <a:off x="4427984" y="4322778"/>
            <a:ext cx="4262076" cy="62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ko-KR" altLang="en-US" sz="1400" b="1" spc="-150" dirty="0">
                <a:solidFill>
                  <a:srgbClr val="3A7DCE"/>
                </a:solidFill>
              </a:rPr>
              <a:t>그림</a:t>
            </a:r>
            <a:r>
              <a:rPr lang="en-US" altLang="ko-KR" sz="1400" b="1" spc="-150" dirty="0">
                <a:solidFill>
                  <a:srgbClr val="3A7DCE"/>
                </a:solidFill>
              </a:rPr>
              <a:t> 1-4</a:t>
            </a:r>
            <a:r>
              <a:rPr lang="en-US" altLang="ko-KR" sz="1400" spc="-150" dirty="0"/>
              <a:t> [Scatter plot] </a:t>
            </a:r>
            <a:r>
              <a:rPr lang="ko-KR" altLang="en-US" sz="1400" spc="-150" dirty="0"/>
              <a:t>위젯 창과 전복 데이터 </a:t>
            </a:r>
            <a:r>
              <a:rPr lang="ko-KR" altLang="en-US" sz="1400" spc="-150" dirty="0" err="1"/>
              <a:t>산점도</a:t>
            </a:r>
            <a:r>
              <a:rPr lang="ko-KR" altLang="en-US" sz="1400" spc="-150" dirty="0"/>
              <a:t> 화면</a:t>
            </a:r>
            <a:br>
              <a:rPr lang="en-US" altLang="ko-KR" sz="1400" spc="-150" dirty="0"/>
            </a:br>
            <a:r>
              <a:rPr lang="en-US" altLang="ko-KR" sz="1400" spc="-150" dirty="0"/>
              <a:t>               (x</a:t>
            </a:r>
            <a:r>
              <a:rPr lang="ko-KR" altLang="en-US" sz="1400" spc="-150" dirty="0"/>
              <a:t>가 </a:t>
            </a:r>
            <a:r>
              <a:rPr lang="en-US" altLang="ko-KR" sz="1400" spc="-150" dirty="0"/>
              <a:t>Diameter </a:t>
            </a:r>
            <a:r>
              <a:rPr lang="ko-KR" altLang="en-US" sz="1400" spc="-150" dirty="0"/>
              <a:t>속성일 경우</a:t>
            </a:r>
            <a:r>
              <a:rPr lang="en-US" altLang="ko-KR" sz="1400" spc="-150" dirty="0"/>
              <a:t>)</a:t>
            </a:r>
            <a:endParaRPr lang="ko-KR" altLang="en-US" sz="1400" spc="-150" dirty="0"/>
          </a:p>
        </p:txBody>
      </p:sp>
      <p:pic>
        <p:nvPicPr>
          <p:cNvPr id="33" name="Picture 2" descr="C:\Users\PC\Desktop\20211122_160722.jpg">
            <a:extLst>
              <a:ext uri="{FF2B5EF4-FFF2-40B4-BE49-F238E27FC236}">
                <a16:creationId xmlns:a16="http://schemas.microsoft.com/office/drawing/2014/main" id="{029200BC-F089-4286-88FE-C96FA787C3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80" t="43331"/>
          <a:stretch/>
        </p:blipFill>
        <p:spPr bwMode="auto">
          <a:xfrm>
            <a:off x="6995360" y="234538"/>
            <a:ext cx="1660156" cy="88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878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6AD185E-0CC1-4072-A1EE-02BEB8B0338D}"/>
              </a:ext>
            </a:extLst>
          </p:cNvPr>
          <p:cNvSpPr txBox="1"/>
          <p:nvPr/>
        </p:nvSpPr>
        <p:spPr>
          <a:xfrm>
            <a:off x="905941" y="476984"/>
            <a:ext cx="7914531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 startAt="3"/>
            </a:pPr>
            <a:r>
              <a:rPr lang="en-US" altLang="ko-KR" sz="1800" b="1" i="0" u="none" strike="noStrike" spc="-150" baseline="0" dirty="0">
                <a:latin typeface="+mn-ea"/>
              </a:rPr>
              <a:t>[Scatter Plot] </a:t>
            </a:r>
            <a:r>
              <a:rPr lang="ko-KR" altLang="en-US" sz="1800" b="1" i="0" u="none" strike="noStrike" spc="-150" baseline="0" dirty="0">
                <a:latin typeface="+mn-ea"/>
              </a:rPr>
              <a:t>위젯의 다양한 설정을 이용하여 여러 가지 형태로 표현하기</a:t>
            </a:r>
            <a:endParaRPr lang="ko-KR" altLang="en-US" sz="1700" b="1" spc="-150" dirty="0"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02D4DB-8D2C-4E51-8FAB-1B38D3FE414F}"/>
              </a:ext>
            </a:extLst>
          </p:cNvPr>
          <p:cNvSpPr txBox="1"/>
          <p:nvPr/>
        </p:nvSpPr>
        <p:spPr>
          <a:xfrm>
            <a:off x="1187624" y="843558"/>
            <a:ext cx="7560840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pPr marL="0" indent="0">
              <a:buNone/>
            </a:pPr>
            <a:r>
              <a:rPr lang="en-US" altLang="ko-KR" spc="0" dirty="0">
                <a:solidFill>
                  <a:srgbClr val="002060"/>
                </a:solidFill>
              </a:rPr>
              <a:t>Attribute</a:t>
            </a:r>
            <a:r>
              <a:rPr lang="ko-KR" altLang="en-US" spc="0" dirty="0">
                <a:solidFill>
                  <a:srgbClr val="002060"/>
                </a:solidFill>
              </a:rPr>
              <a:t>의 </a:t>
            </a:r>
            <a:r>
              <a:rPr lang="en-US" altLang="ko-KR" spc="0" dirty="0">
                <a:solidFill>
                  <a:srgbClr val="002060"/>
                </a:solidFill>
              </a:rPr>
              <a:t>Color, Shape, Size, Label</a:t>
            </a:r>
            <a:r>
              <a:rPr lang="ko-KR" altLang="en-US" spc="0" dirty="0">
                <a:solidFill>
                  <a:srgbClr val="002060"/>
                </a:solidFill>
              </a:rPr>
              <a:t>을 설정하여 점의 색</a:t>
            </a:r>
            <a:r>
              <a:rPr lang="en-US" altLang="ko-KR" spc="0" dirty="0">
                <a:solidFill>
                  <a:srgbClr val="002060"/>
                </a:solidFill>
              </a:rPr>
              <a:t>, </a:t>
            </a:r>
            <a:r>
              <a:rPr lang="ko-KR" altLang="en-US" spc="0" dirty="0">
                <a:solidFill>
                  <a:srgbClr val="002060"/>
                </a:solidFill>
              </a:rPr>
              <a:t>모양</a:t>
            </a:r>
            <a:r>
              <a:rPr lang="en-US" altLang="ko-KR" spc="0" dirty="0">
                <a:solidFill>
                  <a:srgbClr val="002060"/>
                </a:solidFill>
              </a:rPr>
              <a:t>, </a:t>
            </a:r>
            <a:r>
              <a:rPr lang="ko-KR" altLang="en-US" spc="0" dirty="0">
                <a:solidFill>
                  <a:srgbClr val="002060"/>
                </a:solidFill>
              </a:rPr>
              <a:t>크기</a:t>
            </a:r>
            <a:r>
              <a:rPr lang="en-US" altLang="ko-KR" spc="0" dirty="0">
                <a:solidFill>
                  <a:srgbClr val="002060"/>
                </a:solidFill>
              </a:rPr>
              <a:t>, </a:t>
            </a:r>
            <a:r>
              <a:rPr lang="ko-KR" altLang="en-US" spc="0" dirty="0">
                <a:solidFill>
                  <a:srgbClr val="002060"/>
                </a:solidFill>
              </a:rPr>
              <a:t>라벨 표현</a:t>
            </a:r>
            <a:endParaRPr lang="en-US" altLang="ko-KR" spc="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altLang="ko-KR" spc="0" dirty="0">
              <a:solidFill>
                <a:srgbClr val="002060"/>
              </a:solidFill>
            </a:endParaRPr>
          </a:p>
          <a:p>
            <a:r>
              <a:rPr lang="en-US" altLang="ko-KR" dirty="0"/>
              <a:t>Show color regions</a:t>
            </a:r>
            <a:r>
              <a:rPr lang="ko-KR" altLang="en-US" dirty="0"/>
              <a:t>를 체크하면 색이 지역별로 표시</a:t>
            </a:r>
            <a:endParaRPr lang="en-US" altLang="ko-KR" dirty="0"/>
          </a:p>
          <a:p>
            <a:r>
              <a:rPr lang="en-US" altLang="ko-KR" dirty="0"/>
              <a:t>Show legend</a:t>
            </a:r>
            <a:r>
              <a:rPr lang="ko-KR" altLang="en-US" dirty="0"/>
              <a:t>를 체크하면 범례 표시</a:t>
            </a:r>
            <a:endParaRPr lang="en-US" altLang="ko-KR" dirty="0"/>
          </a:p>
          <a:p>
            <a:r>
              <a:rPr lang="en-US" altLang="ko-KR" dirty="0"/>
              <a:t>Show all data on mouse hover</a:t>
            </a:r>
            <a:r>
              <a:rPr lang="ko-KR" altLang="en-US" dirty="0"/>
              <a:t>를 체크하고 </a:t>
            </a:r>
            <a:br>
              <a:rPr lang="en-US" altLang="ko-KR" dirty="0"/>
            </a:br>
            <a:r>
              <a:rPr lang="ko-KR" altLang="en-US" dirty="0" err="1"/>
              <a:t>산점도</a:t>
            </a:r>
            <a:r>
              <a:rPr lang="ko-KR" altLang="en-US" dirty="0"/>
              <a:t> 점 위에 마우스를 올려놓으면 </a:t>
            </a:r>
            <a:br>
              <a:rPr lang="en-US" altLang="ko-KR" dirty="0"/>
            </a:br>
            <a:r>
              <a:rPr lang="ko-KR" altLang="en-US" dirty="0"/>
              <a:t>점에 해당하는 데이터 정보가 표시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0FA1A7D-6A36-49AA-A9A7-D075BB2AB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1995686"/>
            <a:ext cx="3078326" cy="178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04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31640" y="1347614"/>
            <a:ext cx="741682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ko-KR" altLang="en-US" spc="0" dirty="0"/>
              <a:t>                카테고리의 </a:t>
            </a:r>
            <a:r>
              <a:rPr lang="en-US" altLang="ko-KR" spc="0" dirty="0"/>
              <a:t>[Select Columns] </a:t>
            </a:r>
            <a:r>
              <a:rPr lang="ko-KR" altLang="en-US" spc="0" dirty="0"/>
              <a:t>위젯을 </a:t>
            </a:r>
            <a:r>
              <a:rPr lang="en-US" altLang="ko-KR" spc="0" dirty="0"/>
              <a:t>[Datasets] </a:t>
            </a:r>
            <a:r>
              <a:rPr lang="ko-KR" altLang="en-US" spc="0" dirty="0"/>
              <a:t>위젯에 연결하고</a:t>
            </a:r>
            <a:r>
              <a:rPr lang="en-US" altLang="ko-KR" spc="0" dirty="0"/>
              <a:t>, </a:t>
            </a:r>
            <a:br>
              <a:rPr lang="en-US" altLang="ko-KR" spc="0" dirty="0"/>
            </a:br>
            <a:r>
              <a:rPr lang="en-US" altLang="ko-KR" spc="0" dirty="0"/>
              <a:t>[Data Table] </a:t>
            </a:r>
            <a:r>
              <a:rPr lang="ko-KR" altLang="en-US" spc="0" dirty="0"/>
              <a:t>위젯을 추가하여 </a:t>
            </a:r>
            <a:r>
              <a:rPr lang="en-US" altLang="ko-KR" spc="0" dirty="0"/>
              <a:t>[Select Columns] </a:t>
            </a:r>
            <a:r>
              <a:rPr lang="ko-KR" altLang="en-US" spc="0" dirty="0"/>
              <a:t>위젯과 연결</a:t>
            </a:r>
            <a:endParaRPr lang="en-US" altLang="ko-KR" spc="0" dirty="0"/>
          </a:p>
        </p:txBody>
      </p:sp>
      <p:sp>
        <p:nvSpPr>
          <p:cNvPr id="2" name="TextBox 1"/>
          <p:cNvSpPr txBox="1"/>
          <p:nvPr/>
        </p:nvSpPr>
        <p:spPr>
          <a:xfrm>
            <a:off x="905941" y="532860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</a:rPr>
              <a:t>데이터 전처리하기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5</a:t>
            </a:r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05941" y="915566"/>
            <a:ext cx="6618387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/>
            </a:pPr>
            <a:r>
              <a:rPr lang="en-US" altLang="ko-KR" sz="1800" b="1" i="0" u="none" strike="noStrike" spc="-150" baseline="0" dirty="0">
                <a:latin typeface="+mn-ea"/>
              </a:rPr>
              <a:t>[Select Columns] </a:t>
            </a:r>
            <a:r>
              <a:rPr lang="ko-KR" altLang="en-US" sz="1800" b="1" i="0" u="none" strike="noStrike" spc="-150" baseline="0" dirty="0">
                <a:latin typeface="+mn-ea"/>
              </a:rPr>
              <a:t>위젯을 이용하여 </a:t>
            </a:r>
            <a:r>
              <a:rPr lang="en-US" altLang="ko-KR" sz="1800" b="1" i="0" u="none" strike="noStrike" spc="-150" baseline="0" dirty="0">
                <a:latin typeface="+mn-ea"/>
              </a:rPr>
              <a:t>Target </a:t>
            </a:r>
            <a:r>
              <a:rPr lang="ko-KR" altLang="en-US" sz="1800" b="1" i="0" u="none" strike="noStrike" spc="-150" baseline="0" dirty="0">
                <a:latin typeface="+mn-ea"/>
              </a:rPr>
              <a:t>정하기</a:t>
            </a:r>
            <a:endParaRPr lang="ko-KR" altLang="en-US" sz="1700" b="1" spc="-150" dirty="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4D750C-7C34-4772-AF5A-E264230ECE68}"/>
              </a:ext>
            </a:extLst>
          </p:cNvPr>
          <p:cNvSpPr txBox="1"/>
          <p:nvPr/>
        </p:nvSpPr>
        <p:spPr>
          <a:xfrm>
            <a:off x="2663788" y="4546932"/>
            <a:ext cx="3816424" cy="348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pPr algn="ctr"/>
            <a:r>
              <a:rPr lang="ko-KR" altLang="en-US" dirty="0"/>
              <a:t>그림 </a:t>
            </a:r>
            <a:r>
              <a:rPr lang="en-US" altLang="ko-KR" dirty="0"/>
              <a:t>1-5 </a:t>
            </a:r>
            <a:r>
              <a:rPr lang="en-US" altLang="ko-KR" b="0" dirty="0">
                <a:solidFill>
                  <a:schemeClr val="tx1"/>
                </a:solidFill>
              </a:rPr>
              <a:t>[Select Columns]</a:t>
            </a:r>
            <a:r>
              <a:rPr lang="ko-KR" altLang="en-US" b="0" dirty="0">
                <a:solidFill>
                  <a:schemeClr val="tx1"/>
                </a:solidFill>
              </a:rPr>
              <a:t>과 </a:t>
            </a:r>
            <a:r>
              <a:rPr lang="en-US" altLang="ko-KR" b="0" dirty="0">
                <a:solidFill>
                  <a:schemeClr val="tx1"/>
                </a:solidFill>
              </a:rPr>
              <a:t>[Data Table(1)] </a:t>
            </a:r>
            <a:r>
              <a:rPr lang="ko-KR" altLang="en-US" b="0" dirty="0">
                <a:solidFill>
                  <a:schemeClr val="tx1"/>
                </a:solidFill>
              </a:rPr>
              <a:t>위젯 연결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2067694"/>
            <a:ext cx="3869520" cy="251192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419622"/>
            <a:ext cx="1040507" cy="28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26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5616" y="915566"/>
            <a:ext cx="7060967" cy="74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Select Columns] </a:t>
            </a:r>
            <a:r>
              <a:rPr lang="ko-KR" altLang="en-US" dirty="0"/>
              <a:t>위젯을 더블 클릭하여 전복 순살 무게</a:t>
            </a:r>
            <a:r>
              <a:rPr lang="en-US" altLang="ko-KR" dirty="0"/>
              <a:t>(Shucked weight)</a:t>
            </a:r>
            <a:r>
              <a:rPr lang="ko-KR" altLang="en-US" dirty="0"/>
              <a:t>를 </a:t>
            </a:r>
            <a:r>
              <a:rPr lang="en-US" altLang="ko-KR" dirty="0"/>
              <a:t>Features</a:t>
            </a:r>
            <a:r>
              <a:rPr lang="ko-KR" altLang="en-US" dirty="0"/>
              <a:t>에서 </a:t>
            </a:r>
            <a:r>
              <a:rPr lang="en-US" altLang="ko-KR" dirty="0"/>
              <a:t>Ignored</a:t>
            </a:r>
            <a:r>
              <a:rPr lang="ko-KR" altLang="en-US" dirty="0"/>
              <a:t>로 옮긴 후</a:t>
            </a:r>
            <a:r>
              <a:rPr lang="en-US" altLang="ko-KR" dirty="0"/>
              <a:t>(</a:t>
            </a:r>
            <a:r>
              <a:rPr lang="ko-KR" altLang="en-US" dirty="0"/>
              <a:t>①</a:t>
            </a:r>
            <a:r>
              <a:rPr lang="en-US" altLang="ko-KR" dirty="0"/>
              <a:t>), </a:t>
            </a:r>
            <a:r>
              <a:rPr lang="ko-KR" altLang="en-US" dirty="0"/>
              <a:t>다시 </a:t>
            </a:r>
            <a:r>
              <a:rPr lang="en-US" altLang="ko-KR" dirty="0"/>
              <a:t>Target</a:t>
            </a:r>
            <a:r>
              <a:rPr lang="ko-KR" altLang="en-US" dirty="0"/>
              <a:t>으로 옮기기</a:t>
            </a:r>
            <a:r>
              <a:rPr lang="en-US" altLang="ko-KR" dirty="0"/>
              <a:t>(</a:t>
            </a:r>
            <a:r>
              <a:rPr lang="ko-KR" altLang="en-US" dirty="0"/>
              <a:t>②</a:t>
            </a:r>
            <a:r>
              <a:rPr lang="en-US" altLang="ko-KR" dirty="0"/>
              <a:t>).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905941" y="483518"/>
            <a:ext cx="6618387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/>
            </a:pPr>
            <a:r>
              <a:rPr lang="en-US" altLang="ko-KR" sz="1800" b="1" i="0" u="none" strike="noStrike" spc="-150" baseline="0" dirty="0">
                <a:latin typeface="+mn-ea"/>
              </a:rPr>
              <a:t>[Select Columns] </a:t>
            </a:r>
            <a:r>
              <a:rPr lang="ko-KR" altLang="en-US" sz="1800" b="1" i="0" u="none" strike="noStrike" spc="-150" baseline="0" dirty="0">
                <a:latin typeface="+mn-ea"/>
              </a:rPr>
              <a:t>위젯을 이용하여 </a:t>
            </a:r>
            <a:r>
              <a:rPr lang="en-US" altLang="ko-KR" sz="1800" b="1" i="0" u="none" strike="noStrike" spc="-150" baseline="0" dirty="0">
                <a:latin typeface="+mn-ea"/>
              </a:rPr>
              <a:t>Target </a:t>
            </a:r>
            <a:r>
              <a:rPr lang="ko-KR" altLang="en-US" sz="1800" b="1" i="0" u="none" strike="noStrike" spc="-150" baseline="0" dirty="0">
                <a:latin typeface="+mn-ea"/>
              </a:rPr>
              <a:t>정하기</a:t>
            </a:r>
            <a:endParaRPr lang="ko-KR" altLang="en-US" sz="1700" b="1" spc="-150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CB3BF85-5C7B-4D40-9493-9C79EB183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751892"/>
            <a:ext cx="3580827" cy="2939901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F540EB51-DCD7-4BCB-8E8F-7C9AF4948090}"/>
              </a:ext>
            </a:extLst>
          </p:cNvPr>
          <p:cNvSpPr/>
          <p:nvPr/>
        </p:nvSpPr>
        <p:spPr>
          <a:xfrm>
            <a:off x="3792349" y="2497793"/>
            <a:ext cx="216024" cy="144016"/>
          </a:xfrm>
          <a:prstGeom prst="rightArrow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FB7F4C-C3DC-481E-9BC2-EAF178A2EDE3}"/>
              </a:ext>
            </a:extLst>
          </p:cNvPr>
          <p:cNvSpPr txBox="1"/>
          <p:nvPr/>
        </p:nvSpPr>
        <p:spPr>
          <a:xfrm>
            <a:off x="1115616" y="4416420"/>
            <a:ext cx="3024336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pPr algn="ctr"/>
            <a:r>
              <a:rPr lang="ko-KR" altLang="en-US" dirty="0"/>
              <a:t>그림 </a:t>
            </a:r>
            <a:r>
              <a:rPr lang="en-US" altLang="ko-KR" dirty="0"/>
              <a:t>1-5 </a:t>
            </a:r>
            <a:r>
              <a:rPr lang="en-US" altLang="ko-KR" b="0" dirty="0">
                <a:solidFill>
                  <a:schemeClr val="tx1"/>
                </a:solidFill>
              </a:rPr>
              <a:t>[Select Columns] </a:t>
            </a:r>
            <a:r>
              <a:rPr lang="ko-KR" altLang="en-US" b="0" dirty="0">
                <a:solidFill>
                  <a:schemeClr val="tx1"/>
                </a:solidFill>
              </a:rPr>
              <a:t>위젯 설정 화면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779662"/>
            <a:ext cx="2232248" cy="144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84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3523674-BCFC-4AC6-BBCF-39066CCD16EC}"/>
              </a:ext>
            </a:extLst>
          </p:cNvPr>
          <p:cNvSpPr txBox="1"/>
          <p:nvPr/>
        </p:nvSpPr>
        <p:spPr>
          <a:xfrm>
            <a:off x="905941" y="476984"/>
            <a:ext cx="7482483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57175" indent="-257175">
              <a:lnSpc>
                <a:spcPts val="2700"/>
              </a:lnSpc>
              <a:buFont typeface="맑은 고딕" panose="020B0503020000020004" pitchFamily="50" charset="-127"/>
              <a:buChar char="①"/>
              <a:defRPr b="1" i="0" u="none" strike="noStrike" spc="-150" baseline="0">
                <a:latin typeface="+mn-ea"/>
              </a:defRPr>
            </a:lvl1pPr>
          </a:lstStyle>
          <a:p>
            <a:pPr marL="342900" indent="-342900">
              <a:buFont typeface="+mj-ea"/>
              <a:buAutoNum type="circleNumDbPlain" startAt="2"/>
            </a:pPr>
            <a:r>
              <a:rPr lang="en-US" altLang="ko-KR" dirty="0"/>
              <a:t>[Select Columns] </a:t>
            </a:r>
            <a:r>
              <a:rPr lang="ko-KR" altLang="en-US" dirty="0"/>
              <a:t>위젯을 이용하여 데이터 형식</a:t>
            </a:r>
            <a:r>
              <a:rPr lang="en-US" altLang="ko-KR" dirty="0"/>
              <a:t>(Type) </a:t>
            </a:r>
            <a:r>
              <a:rPr lang="ko-KR" altLang="en-US" dirty="0"/>
              <a:t>알아보기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91443C53-A97A-4748-A09B-D87A3976F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631701"/>
              </p:ext>
            </p:extLst>
          </p:nvPr>
        </p:nvGraphicFramePr>
        <p:xfrm>
          <a:off x="1043608" y="1144802"/>
          <a:ext cx="7128792" cy="195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58462151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1199137370"/>
                    </a:ext>
                  </a:extLst>
                </a:gridCol>
              </a:tblGrid>
              <a:tr h="3906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 종류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속성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형식</a:t>
                      </a:r>
                      <a:r>
                        <a:rPr lang="en-US" altLang="ko-KR" sz="1400" b="1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(Type)</a:t>
                      </a:r>
                      <a:endParaRPr lang="ko-KR" altLang="en-US" sz="1400" b="1" spc="-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예시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범주형</a:t>
                      </a:r>
                      <a:r>
                        <a:rPr lang="en-US" altLang="ko-KR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같은 특성 부류</a:t>
                      </a:r>
                      <a:r>
                        <a:rPr lang="en-US" altLang="ko-KR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kern="12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categorical</a:t>
                      </a:r>
                      <a:endParaRPr lang="ko-KR" altLang="en-US" sz="1400" kern="12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있다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없다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남자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여자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식물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동물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수치형</a:t>
                      </a:r>
                      <a:r>
                        <a:rPr lang="en-US" altLang="ko-KR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정수</a:t>
                      </a:r>
                      <a:r>
                        <a:rPr lang="en-US" altLang="ko-KR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소수</a:t>
                      </a:r>
                      <a:r>
                        <a:rPr lang="en-US" altLang="ko-KR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kern="12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numeric</a:t>
                      </a:r>
                      <a:endParaRPr lang="ko-KR" altLang="en-US" sz="1400" kern="12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1, -3, 0.5346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문자형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text</a:t>
                      </a:r>
                      <a:endParaRPr lang="ko-KR" altLang="en-US" sz="1400" kern="12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school, apple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날짜형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datetime</a:t>
                      </a:r>
                      <a:endParaRPr lang="ko-KR" altLang="en-US" sz="1400" kern="12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2020-06-01/ 2020-08-03 00:03:45</a:t>
                      </a:r>
                      <a:endParaRPr lang="ko-KR" altLang="en-US" sz="14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F3BFFFED-8799-4912-86D5-6B7F2216C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102" y="1593517"/>
            <a:ext cx="993094" cy="274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66DFAC9-6CFC-4899-AAC7-A4D5F88DA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102" y="2002466"/>
            <a:ext cx="809187" cy="23781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22A4527-BCEE-41C6-BCA7-E823CC58A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726" y="2380150"/>
            <a:ext cx="551719" cy="23781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C2C3280-33D0-420E-8649-8F6681872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0102" y="2798036"/>
            <a:ext cx="845969" cy="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40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3523674-BCFC-4AC6-BBCF-39066CCD16EC}"/>
              </a:ext>
            </a:extLst>
          </p:cNvPr>
          <p:cNvSpPr txBox="1"/>
          <p:nvPr/>
        </p:nvSpPr>
        <p:spPr>
          <a:xfrm>
            <a:off x="905941" y="476984"/>
            <a:ext cx="7482483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 startAt="2"/>
              <a:defRPr b="1" i="0" u="none" strike="noStrike" spc="-150" baseline="0">
                <a:latin typeface="+mn-ea"/>
              </a:defRPr>
            </a:lvl1pPr>
          </a:lstStyle>
          <a:p>
            <a:pPr>
              <a:buFont typeface="+mj-ea"/>
              <a:buAutoNum type="circleNumDbPlain" startAt="3"/>
            </a:pPr>
            <a:r>
              <a:rPr lang="ko-KR" altLang="en-US" dirty="0"/>
              <a:t>속성과 결과를 정하기 위한 역할</a:t>
            </a:r>
            <a:r>
              <a:rPr lang="en-US" altLang="ko-KR" dirty="0"/>
              <a:t>(Role) </a:t>
            </a:r>
            <a:r>
              <a:rPr lang="ko-KR" altLang="en-US" dirty="0"/>
              <a:t>설정하기</a:t>
            </a:r>
          </a:p>
        </p:txBody>
      </p:sp>
      <p:sp>
        <p:nvSpPr>
          <p:cNvPr id="12" name="모서리가 둥근 직사각형 2">
            <a:extLst>
              <a:ext uri="{FF2B5EF4-FFF2-40B4-BE49-F238E27FC236}">
                <a16:creationId xmlns:a16="http://schemas.microsoft.com/office/drawing/2014/main" id="{95B59A82-234E-4A9F-BF7E-6E9B968631F3}"/>
              </a:ext>
            </a:extLst>
          </p:cNvPr>
          <p:cNvSpPr/>
          <p:nvPr/>
        </p:nvSpPr>
        <p:spPr>
          <a:xfrm>
            <a:off x="905941" y="1131590"/>
            <a:ext cx="3960440" cy="3384375"/>
          </a:xfrm>
          <a:prstGeom prst="roundRect">
            <a:avLst>
              <a:gd name="adj" fmla="val 5962"/>
            </a:avLst>
          </a:prstGeom>
          <a:solidFill>
            <a:srgbClr val="EFF6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C26BEC-BB51-4D06-97AB-176DF76FC92A}"/>
              </a:ext>
            </a:extLst>
          </p:cNvPr>
          <p:cNvSpPr txBox="1"/>
          <p:nvPr/>
        </p:nvSpPr>
        <p:spPr>
          <a:xfrm>
            <a:off x="1043608" y="1419622"/>
            <a:ext cx="3672408" cy="2751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1800" b="0" i="0" u="none" strike="noStrike" baseline="0" dirty="0">
                <a:latin typeface="+mn-ea"/>
              </a:rPr>
              <a:t>• </a:t>
            </a:r>
            <a:r>
              <a:rPr lang="en-US" altLang="ko-KR" sz="1800" b="1" i="0" u="none" strike="noStrike" baseline="0" dirty="0">
                <a:solidFill>
                  <a:srgbClr val="002060"/>
                </a:solidFill>
                <a:latin typeface="+mn-ea"/>
              </a:rPr>
              <a:t>Feature</a:t>
            </a:r>
            <a:r>
              <a:rPr lang="en-US" altLang="ko-KR" sz="1800" b="0" i="0" u="none" strike="noStrike" baseline="0" dirty="0">
                <a:latin typeface="+mn-ea"/>
              </a:rPr>
              <a:t>: </a:t>
            </a:r>
            <a:r>
              <a:rPr lang="ko-KR" altLang="en-US" sz="1800" b="0" i="0" u="none" strike="noStrike" spc="-150" baseline="0" dirty="0">
                <a:latin typeface="+mn-ea"/>
              </a:rPr>
              <a:t>기계학습에 영향을 </a:t>
            </a:r>
            <a:br>
              <a:rPr lang="en-US" altLang="ko-KR" sz="1800" b="0" i="0" u="none" strike="noStrike" spc="-150" baseline="0" dirty="0">
                <a:latin typeface="+mn-ea"/>
              </a:rPr>
            </a:br>
            <a:r>
              <a:rPr lang="en-US" altLang="ko-KR" sz="1800" b="0" i="0" u="none" strike="noStrike" spc="-150" baseline="0" dirty="0">
                <a:latin typeface="+mn-ea"/>
              </a:rPr>
              <a:t>  </a:t>
            </a:r>
            <a:r>
              <a:rPr lang="ko-KR" altLang="en-US" sz="1800" b="0" i="0" u="none" strike="noStrike" spc="-150" baseline="0" dirty="0">
                <a:latin typeface="+mn-ea"/>
              </a:rPr>
              <a:t>미치는 원인이 되는 속성</a:t>
            </a:r>
            <a:r>
              <a:rPr lang="en-US" altLang="ko-KR" sz="1800" b="0" i="0" u="none" strike="noStrike" spc="-150" baseline="0" dirty="0">
                <a:latin typeface="+mn-ea"/>
              </a:rPr>
              <a:t>(</a:t>
            </a:r>
            <a:r>
              <a:rPr lang="ko-KR" altLang="en-US" sz="1800" b="0" i="0" u="none" strike="noStrike" spc="-150" baseline="0" dirty="0">
                <a:latin typeface="+mn-ea"/>
              </a:rPr>
              <a:t>독립 변수</a:t>
            </a:r>
            <a:r>
              <a:rPr lang="en-US" altLang="ko-KR" sz="1800" b="0" i="0" u="none" strike="noStrike" spc="-150" baseline="0" dirty="0">
                <a:latin typeface="+mn-ea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lang="en-US" altLang="ko-KR" sz="1800" b="0" i="0" u="none" strike="noStrike" baseline="0" dirty="0">
                <a:latin typeface="+mn-ea"/>
              </a:rPr>
              <a:t>• </a:t>
            </a:r>
            <a:r>
              <a:rPr lang="en-US" altLang="ko-KR" sz="1800" b="1" i="0" u="none" strike="noStrike" baseline="0" dirty="0">
                <a:solidFill>
                  <a:srgbClr val="002060"/>
                </a:solidFill>
                <a:latin typeface="+mn-ea"/>
              </a:rPr>
              <a:t>Target</a:t>
            </a:r>
            <a:r>
              <a:rPr lang="en-US" altLang="ko-KR" sz="1800" b="0" i="0" u="none" strike="noStrike" baseline="0" dirty="0">
                <a:latin typeface="+mn-ea"/>
              </a:rPr>
              <a:t>: </a:t>
            </a:r>
            <a:r>
              <a:rPr lang="ko-KR" altLang="en-US" sz="1800" b="0" i="0" u="none" strike="noStrike" spc="-150" baseline="0" dirty="0">
                <a:latin typeface="+mn-ea"/>
              </a:rPr>
              <a:t>예측하고자 하는 결과가 </a:t>
            </a:r>
            <a:br>
              <a:rPr lang="en-US" altLang="ko-KR" sz="1800" b="0" i="0" u="none" strike="noStrike" spc="-150" baseline="0" dirty="0">
                <a:latin typeface="+mn-ea"/>
              </a:rPr>
            </a:br>
            <a:r>
              <a:rPr lang="en-US" altLang="ko-KR" sz="1800" b="0" i="0" u="none" strike="noStrike" spc="-150" baseline="0" dirty="0">
                <a:latin typeface="+mn-ea"/>
              </a:rPr>
              <a:t>  </a:t>
            </a:r>
            <a:r>
              <a:rPr lang="ko-KR" altLang="en-US" sz="1800" b="0" i="0" u="none" strike="noStrike" spc="-150" baseline="0" dirty="0">
                <a:latin typeface="+mn-ea"/>
              </a:rPr>
              <a:t>되는 속성</a:t>
            </a:r>
            <a:r>
              <a:rPr lang="en-US" altLang="ko-KR" sz="1800" b="0" i="0" u="none" strike="noStrike" spc="-150" baseline="0" dirty="0">
                <a:latin typeface="+mn-ea"/>
              </a:rPr>
              <a:t>(</a:t>
            </a:r>
            <a:r>
              <a:rPr lang="ko-KR" altLang="en-US" sz="1800" b="0" i="0" u="none" strike="noStrike" spc="-150" baseline="0" dirty="0">
                <a:latin typeface="+mn-ea"/>
              </a:rPr>
              <a:t>종속 변수</a:t>
            </a:r>
            <a:r>
              <a:rPr lang="en-US" altLang="ko-KR" sz="1800" b="0" i="0" u="none" strike="noStrike" spc="-150" baseline="0" dirty="0">
                <a:latin typeface="+mn-ea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lang="en-US" altLang="ko-KR" sz="1800" b="0" i="0" u="none" strike="noStrike" baseline="0" dirty="0">
                <a:latin typeface="+mn-ea"/>
              </a:rPr>
              <a:t>• </a:t>
            </a:r>
            <a:r>
              <a:rPr lang="en-US" altLang="ko-KR" sz="1800" b="1" i="0" u="none" strike="noStrike" baseline="0" dirty="0">
                <a:solidFill>
                  <a:srgbClr val="002060"/>
                </a:solidFill>
                <a:latin typeface="+mn-ea"/>
              </a:rPr>
              <a:t>Meta</a:t>
            </a:r>
            <a:r>
              <a:rPr lang="en-US" altLang="ko-KR" sz="1800" b="0" i="0" u="none" strike="noStrike" baseline="0" dirty="0">
                <a:latin typeface="+mn-ea"/>
              </a:rPr>
              <a:t>: </a:t>
            </a:r>
            <a:r>
              <a:rPr lang="ko-KR" altLang="en-US" sz="1800" b="0" i="0" u="none" strike="noStrike" spc="-150" baseline="0" dirty="0">
                <a:latin typeface="+mn-ea"/>
              </a:rPr>
              <a:t>사용되지는 않지만</a:t>
            </a:r>
            <a:r>
              <a:rPr lang="en-US" altLang="ko-KR" sz="1800" b="0" i="0" u="none" strike="noStrike" spc="-150" baseline="0" dirty="0">
                <a:latin typeface="+mn-ea"/>
              </a:rPr>
              <a:t>, </a:t>
            </a:r>
            <a:r>
              <a:rPr lang="ko-KR" altLang="en-US" sz="1800" b="0" i="0" u="none" strike="noStrike" spc="-150" baseline="0" dirty="0">
                <a:latin typeface="+mn-ea"/>
              </a:rPr>
              <a:t>참고만</a:t>
            </a:r>
            <a:br>
              <a:rPr lang="en-US" altLang="ko-KR" sz="1800" b="0" i="0" u="none" strike="noStrike" spc="-150" baseline="0" dirty="0">
                <a:latin typeface="+mn-ea"/>
              </a:rPr>
            </a:br>
            <a:r>
              <a:rPr lang="en-US" altLang="ko-KR" sz="1800" b="0" i="0" u="none" strike="noStrike" spc="-150" baseline="0" dirty="0">
                <a:latin typeface="+mn-ea"/>
              </a:rPr>
              <a:t> </a:t>
            </a:r>
            <a:r>
              <a:rPr lang="ko-KR" altLang="en-US" sz="1800" b="0" i="0" u="none" strike="noStrike" spc="-150" baseline="0" dirty="0">
                <a:latin typeface="+mn-ea"/>
              </a:rPr>
              <a:t> 하기 위해 보여지는 데이터</a:t>
            </a:r>
          </a:p>
          <a:p>
            <a:pPr algn="l">
              <a:lnSpc>
                <a:spcPct val="120000"/>
              </a:lnSpc>
            </a:pPr>
            <a:r>
              <a:rPr lang="en-US" altLang="ko-KR" sz="1800" b="0" i="0" u="none" strike="noStrike" baseline="0" dirty="0">
                <a:latin typeface="+mn-ea"/>
              </a:rPr>
              <a:t>• </a:t>
            </a:r>
            <a:r>
              <a:rPr lang="en-US" altLang="ko-KR" sz="1800" b="1" i="0" u="none" strike="noStrike" baseline="0" dirty="0">
                <a:solidFill>
                  <a:srgbClr val="002060"/>
                </a:solidFill>
                <a:latin typeface="+mn-ea"/>
              </a:rPr>
              <a:t>Ignored</a:t>
            </a:r>
            <a:r>
              <a:rPr lang="en-US" altLang="ko-KR" sz="1800" b="0" i="0" u="none" strike="noStrike" baseline="0" dirty="0">
                <a:latin typeface="+mn-ea"/>
              </a:rPr>
              <a:t>: </a:t>
            </a:r>
            <a:r>
              <a:rPr lang="ko-KR" altLang="en-US" sz="1800" b="0" i="0" u="none" strike="noStrike" spc="-150" baseline="0" dirty="0">
                <a:latin typeface="+mn-ea"/>
              </a:rPr>
              <a:t>분석에 사용되지 않아 </a:t>
            </a:r>
            <a:br>
              <a:rPr lang="en-US" altLang="ko-KR" sz="1800" b="0" i="0" u="none" strike="noStrike" spc="-150" baseline="0" dirty="0">
                <a:latin typeface="+mn-ea"/>
              </a:rPr>
            </a:br>
            <a:r>
              <a:rPr lang="en-US" altLang="ko-KR" sz="1800" b="0" i="0" u="none" strike="noStrike" spc="-150" baseline="0" dirty="0">
                <a:latin typeface="+mn-ea"/>
              </a:rPr>
              <a:t>  </a:t>
            </a:r>
            <a:r>
              <a:rPr lang="ko-KR" altLang="en-US" sz="1800" b="0" i="0" u="none" strike="noStrike" spc="-150" baseline="0" dirty="0">
                <a:latin typeface="+mn-ea"/>
              </a:rPr>
              <a:t>무시할 데이터</a:t>
            </a:r>
            <a:endParaRPr lang="ko-KR" altLang="en-US" spc="-150" dirty="0">
              <a:latin typeface="+mn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D9A179C-0B21-4369-B148-8E4EA7AF21A2}"/>
              </a:ext>
            </a:extLst>
          </p:cNvPr>
          <p:cNvGrpSpPr/>
          <p:nvPr/>
        </p:nvGrpSpPr>
        <p:grpSpPr>
          <a:xfrm>
            <a:off x="4932040" y="1174311"/>
            <a:ext cx="3753438" cy="3053623"/>
            <a:chOff x="4932040" y="1174311"/>
            <a:chExt cx="3753438" cy="3053623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E23CDDE-EC56-4371-8ED4-84FA12F78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2040" y="1174311"/>
              <a:ext cx="3753438" cy="3053623"/>
            </a:xfrm>
            <a:prstGeom prst="rect">
              <a:avLst/>
            </a:prstGeom>
          </p:spPr>
        </p:pic>
        <p:sp>
          <p:nvSpPr>
            <p:cNvPr id="20" name="모서리가 둥근 직사각형 4">
              <a:extLst>
                <a:ext uri="{FF2B5EF4-FFF2-40B4-BE49-F238E27FC236}">
                  <a16:creationId xmlns:a16="http://schemas.microsoft.com/office/drawing/2014/main" id="{D2D468A5-AA87-46A9-BD6A-FAB2DCA31139}"/>
                </a:ext>
              </a:extLst>
            </p:cNvPr>
            <p:cNvSpPr/>
            <p:nvPr/>
          </p:nvSpPr>
          <p:spPr>
            <a:xfrm>
              <a:off x="4932040" y="1347614"/>
              <a:ext cx="1584176" cy="144016"/>
            </a:xfrm>
            <a:prstGeom prst="roundRect">
              <a:avLst>
                <a:gd name="adj" fmla="val 7199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모서리가 둥근 직사각형 4">
              <a:extLst>
                <a:ext uri="{FF2B5EF4-FFF2-40B4-BE49-F238E27FC236}">
                  <a16:creationId xmlns:a16="http://schemas.microsoft.com/office/drawing/2014/main" id="{7DA8C819-CEC5-4C81-A868-58BB15F8850C}"/>
                </a:ext>
              </a:extLst>
            </p:cNvPr>
            <p:cNvSpPr/>
            <p:nvPr/>
          </p:nvSpPr>
          <p:spPr>
            <a:xfrm>
              <a:off x="7020272" y="1347614"/>
              <a:ext cx="1584176" cy="144016"/>
            </a:xfrm>
            <a:prstGeom prst="roundRect">
              <a:avLst>
                <a:gd name="adj" fmla="val 7199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모서리가 둥근 직사각형 4">
              <a:extLst>
                <a:ext uri="{FF2B5EF4-FFF2-40B4-BE49-F238E27FC236}">
                  <a16:creationId xmlns:a16="http://schemas.microsoft.com/office/drawing/2014/main" id="{8C7DCEFF-53FB-434B-9BB5-28FC6BE02D37}"/>
                </a:ext>
              </a:extLst>
            </p:cNvPr>
            <p:cNvSpPr/>
            <p:nvPr/>
          </p:nvSpPr>
          <p:spPr>
            <a:xfrm>
              <a:off x="7028606" y="2787774"/>
              <a:ext cx="1584176" cy="144016"/>
            </a:xfrm>
            <a:prstGeom prst="roundRect">
              <a:avLst>
                <a:gd name="adj" fmla="val 7199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모서리가 둥근 직사각형 4">
              <a:extLst>
                <a:ext uri="{FF2B5EF4-FFF2-40B4-BE49-F238E27FC236}">
                  <a16:creationId xmlns:a16="http://schemas.microsoft.com/office/drawing/2014/main" id="{F2203F50-C5C2-4644-8E5F-6BEE48585A62}"/>
                </a:ext>
              </a:extLst>
            </p:cNvPr>
            <p:cNvSpPr/>
            <p:nvPr/>
          </p:nvSpPr>
          <p:spPr>
            <a:xfrm>
              <a:off x="7022652" y="3106804"/>
              <a:ext cx="1584176" cy="144016"/>
            </a:xfrm>
            <a:prstGeom prst="roundRect">
              <a:avLst>
                <a:gd name="adj" fmla="val 7199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5885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D6A2617-CA11-4A2C-9315-57469F635C90}"/>
              </a:ext>
            </a:extLst>
          </p:cNvPr>
          <p:cNvSpPr txBox="1"/>
          <p:nvPr/>
        </p:nvSpPr>
        <p:spPr>
          <a:xfrm>
            <a:off x="827584" y="2139702"/>
            <a:ext cx="7272808" cy="2419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800" b="0" i="0" u="none" strike="noStrike" spc="-100" baseline="0" dirty="0">
                <a:latin typeface="+mn-ea"/>
              </a:rPr>
              <a:t>[Data Sampler] </a:t>
            </a:r>
            <a:r>
              <a:rPr lang="ko-KR" altLang="en-US" sz="1800" b="0" i="0" u="none" strike="noStrike" spc="-100" baseline="0" dirty="0">
                <a:latin typeface="+mn-ea"/>
              </a:rPr>
              <a:t>위젯 이용하기</a:t>
            </a:r>
            <a:br>
              <a:rPr lang="en-US" altLang="ko-KR" sz="1800" b="0" i="0" u="none" strike="noStrike" spc="-100" baseline="0" dirty="0">
                <a:latin typeface="+mn-ea"/>
              </a:rPr>
            </a:br>
            <a:r>
              <a:rPr lang="en-US" altLang="ko-KR" sz="1800" b="0" i="0" u="none" strike="noStrike" spc="-100" baseline="0" dirty="0">
                <a:latin typeface="+mn-ea"/>
              </a:rPr>
              <a:t>-                  </a:t>
            </a:r>
            <a:r>
              <a:rPr lang="ko-KR" altLang="en-US" sz="1800" b="0" i="0" u="none" strike="noStrike" spc="-100" baseline="0" dirty="0">
                <a:latin typeface="+mn-ea"/>
              </a:rPr>
              <a:t>카테고리의 </a:t>
            </a:r>
            <a:r>
              <a:rPr lang="en-US" altLang="ko-KR" sz="1800" b="0" i="0" u="none" strike="noStrike" spc="-100" baseline="0" dirty="0">
                <a:latin typeface="+mn-ea"/>
              </a:rPr>
              <a:t>[Data Sampler] </a:t>
            </a:r>
            <a:r>
              <a:rPr lang="ko-KR" altLang="en-US" sz="1800" b="0" i="0" u="none" strike="noStrike" spc="-100" baseline="0" dirty="0">
                <a:latin typeface="+mn-ea"/>
              </a:rPr>
              <a:t>위젯을 캔버스로 가져오기</a:t>
            </a:r>
            <a:br>
              <a:rPr lang="en-US" altLang="ko-KR" sz="1800" b="0" i="0" u="none" strike="noStrike" spc="-100" baseline="0" dirty="0">
                <a:latin typeface="+mn-ea"/>
              </a:rPr>
            </a:br>
            <a:endParaRPr lang="en-US" altLang="ko-KR" sz="1800" b="0" i="0" u="none" strike="noStrike" spc="-100" baseline="0" dirty="0">
              <a:latin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800" b="0" i="0" u="none" strike="noStrike" spc="-100" baseline="0" dirty="0">
                <a:latin typeface="+mn-ea"/>
              </a:rPr>
              <a:t>훈련 데이터와 테스트 데이터 비율 정하기</a:t>
            </a:r>
            <a:br>
              <a:rPr lang="en-US" altLang="ko-KR" spc="-100" dirty="0">
                <a:latin typeface="+mn-ea"/>
              </a:rPr>
            </a:br>
            <a:r>
              <a:rPr lang="en-US" altLang="ko-KR" spc="-100" dirty="0">
                <a:latin typeface="+mn-ea"/>
              </a:rPr>
              <a:t>- </a:t>
            </a:r>
            <a:r>
              <a:rPr lang="en-US" altLang="ko-KR" sz="1800" b="0" i="0" u="none" strike="noStrike" spc="-100" baseline="0" dirty="0">
                <a:latin typeface="YDVYMjOStd33"/>
              </a:rPr>
              <a:t>[</a:t>
            </a:r>
            <a:r>
              <a:rPr lang="en-US" altLang="ko-KR" sz="1800" b="0" i="0" u="none" strike="noStrike" spc="-100" baseline="0" dirty="0">
                <a:latin typeface="ITCGaramondStd-Lt"/>
              </a:rPr>
              <a:t>Data Sampler</a:t>
            </a:r>
            <a:r>
              <a:rPr lang="en-US" altLang="ko-KR" sz="1800" b="0" i="0" u="none" strike="noStrike" spc="-100" baseline="0" dirty="0">
                <a:latin typeface="YDVYMjOStd33"/>
              </a:rPr>
              <a:t>] </a:t>
            </a:r>
            <a:r>
              <a:rPr lang="ko-KR" altLang="en-US" sz="1800" b="0" i="0" u="none" strike="noStrike" spc="-100" baseline="0" dirty="0">
                <a:latin typeface="YDVYMjOStd33"/>
              </a:rPr>
              <a:t>위젯을 더블 클릭하여 일반적으로 </a:t>
            </a:r>
            <a:br>
              <a:rPr lang="en-US" altLang="ko-KR" sz="1800" b="0" i="0" u="none" strike="noStrike" spc="-100" baseline="0" dirty="0">
                <a:latin typeface="YDVYMjOStd33"/>
              </a:rPr>
            </a:br>
            <a:r>
              <a:rPr lang="en-US" altLang="ko-KR" sz="1800" b="0" i="0" u="none" strike="noStrike" spc="-100" baseline="0" dirty="0">
                <a:latin typeface="YDVYMjOStd33"/>
              </a:rPr>
              <a:t>   </a:t>
            </a:r>
            <a:r>
              <a:rPr lang="en-US" altLang="ko-KR" sz="1800" b="0" i="0" u="none" strike="noStrike" spc="-100" baseline="0" dirty="0">
                <a:latin typeface="ITCGaramondStd-Lt"/>
              </a:rPr>
              <a:t>Fixed proportion of data</a:t>
            </a:r>
            <a:r>
              <a:rPr lang="ko-KR" altLang="en-US" sz="1800" b="0" i="0" u="none" strike="noStrike" spc="-100" baseline="0" dirty="0">
                <a:latin typeface="YDVYMjOStd33"/>
              </a:rPr>
              <a:t>를 </a:t>
            </a:r>
            <a:r>
              <a:rPr lang="en-US" altLang="ko-KR" sz="1800" b="0" i="0" u="none" strike="noStrike" spc="-100" baseline="0" dirty="0">
                <a:latin typeface="ITCGaramondStd-Lt"/>
              </a:rPr>
              <a:t>70%</a:t>
            </a:r>
            <a:r>
              <a:rPr lang="ko-KR" altLang="en-US" sz="1800" b="0" i="0" u="none" strike="noStrike" spc="-100" baseline="0" dirty="0">
                <a:latin typeface="YDVYMjOStd33"/>
              </a:rPr>
              <a:t>로 설정</a:t>
            </a:r>
            <a:br>
              <a:rPr lang="en-US" altLang="ko-KR" sz="1800" b="0" i="0" u="none" strike="noStrike" spc="-100" baseline="0" dirty="0">
                <a:latin typeface="YDVYMjOStd33"/>
              </a:rPr>
            </a:br>
            <a:r>
              <a:rPr lang="en-US" altLang="ko-KR" sz="1800" b="1" i="0" u="none" strike="noStrike" spc="-100" baseline="0" dirty="0">
                <a:solidFill>
                  <a:srgbClr val="C00000"/>
                </a:solidFill>
                <a:latin typeface="YDVYMjOStd33"/>
              </a:rPr>
              <a:t>- </a:t>
            </a:r>
            <a:r>
              <a:rPr lang="ko-KR" altLang="en-US" sz="1800" b="1" i="0" u="none" strike="noStrike" spc="-100" baseline="0" dirty="0">
                <a:solidFill>
                  <a:srgbClr val="C00000"/>
                </a:solidFill>
                <a:latin typeface="YDVYMjOStd33"/>
              </a:rPr>
              <a:t>훈련 데이터</a:t>
            </a:r>
            <a:r>
              <a:rPr lang="en-US" altLang="ko-KR" sz="1800" b="1" i="0" u="none" strike="noStrike" spc="-100" baseline="0" dirty="0">
                <a:solidFill>
                  <a:srgbClr val="C00000"/>
                </a:solidFill>
                <a:latin typeface="YDVYMjOStd33"/>
              </a:rPr>
              <a:t>(70%), </a:t>
            </a:r>
            <a:r>
              <a:rPr lang="ko-KR" altLang="en-US" sz="1800" b="1" i="0" u="none" strike="noStrike" spc="-100" baseline="0" dirty="0">
                <a:solidFill>
                  <a:srgbClr val="C00000"/>
                </a:solidFill>
                <a:latin typeface="YDVYMjOStd33"/>
              </a:rPr>
              <a:t>테스트 데이터</a:t>
            </a:r>
            <a:r>
              <a:rPr lang="en-US" altLang="ko-KR" sz="1800" b="1" i="0" u="none" strike="noStrike" spc="-100" baseline="0" dirty="0">
                <a:solidFill>
                  <a:srgbClr val="C00000"/>
                </a:solidFill>
                <a:latin typeface="YDVYMjOStd33"/>
              </a:rPr>
              <a:t>(30%)</a:t>
            </a:r>
            <a:endParaRPr lang="ko-KR" altLang="en-US" b="1" spc="-1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5141" y="537104"/>
            <a:ext cx="4166753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어떤 모델을 선택하고 학습시킬까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  <a:endParaRPr lang="ko-KR" altLang="en-US" sz="2200" b="1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6963E-37E8-4F4D-903B-EA27BBA2D52D}"/>
              </a:ext>
            </a:extLst>
          </p:cNvPr>
          <p:cNvSpPr txBox="1"/>
          <p:nvPr/>
        </p:nvSpPr>
        <p:spPr>
          <a:xfrm>
            <a:off x="883903" y="1178580"/>
            <a:ext cx="4166753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  <a:latin typeface="+mn-ea"/>
              </a:rPr>
              <a:t>학습 모델 선택하기</a:t>
            </a: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E795C6F5-6488-4859-914D-1D99D9FD4C6C}"/>
              </a:ext>
            </a:extLst>
          </p:cNvPr>
          <p:cNvSpPr/>
          <p:nvPr/>
        </p:nvSpPr>
        <p:spPr>
          <a:xfrm>
            <a:off x="663438" y="1285467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55749E-196A-42F4-93DC-AE3D0B2C4C84}"/>
              </a:ext>
            </a:extLst>
          </p:cNvPr>
          <p:cNvSpPr txBox="1"/>
          <p:nvPr/>
        </p:nvSpPr>
        <p:spPr>
          <a:xfrm>
            <a:off x="562477" y="1600797"/>
            <a:ext cx="4572000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/>
              <a:defRPr sz="1700" b="1" spc="-150"/>
            </a:lvl1pPr>
          </a:lstStyle>
          <a:p>
            <a:r>
              <a:rPr lang="ko-KR" altLang="en-US" dirty="0"/>
              <a:t>훈련 데이터와 테스트 데이터 나누기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499742"/>
            <a:ext cx="1184523" cy="32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56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15CDBB2-E28E-48EB-9AEA-941F81872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353" y="791324"/>
            <a:ext cx="2047831" cy="3346259"/>
          </a:xfrm>
          <a:prstGeom prst="rect">
            <a:avLst/>
          </a:prstGeom>
        </p:spPr>
      </p:pic>
      <p:sp>
        <p:nvSpPr>
          <p:cNvPr id="9" name="모서리가 둥근 직사각형 4">
            <a:extLst>
              <a:ext uri="{FF2B5EF4-FFF2-40B4-BE49-F238E27FC236}">
                <a16:creationId xmlns:a16="http://schemas.microsoft.com/office/drawing/2014/main" id="{F1ECA38C-1DDD-498F-B402-E9F02D7CC213}"/>
              </a:ext>
            </a:extLst>
          </p:cNvPr>
          <p:cNvSpPr/>
          <p:nvPr/>
        </p:nvSpPr>
        <p:spPr>
          <a:xfrm>
            <a:off x="4218088" y="1218526"/>
            <a:ext cx="1941729" cy="446976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4">
            <a:extLst>
              <a:ext uri="{FF2B5EF4-FFF2-40B4-BE49-F238E27FC236}">
                <a16:creationId xmlns:a16="http://schemas.microsoft.com/office/drawing/2014/main" id="{EC63A515-DB87-4CDC-9328-733C1A055419}"/>
              </a:ext>
            </a:extLst>
          </p:cNvPr>
          <p:cNvSpPr/>
          <p:nvPr/>
        </p:nvSpPr>
        <p:spPr>
          <a:xfrm>
            <a:off x="4691183" y="3914095"/>
            <a:ext cx="1404781" cy="223488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DC60BA4-6234-46B0-AC56-5C6B4CAC1DA2}"/>
              </a:ext>
            </a:extLst>
          </p:cNvPr>
          <p:cNvGrpSpPr/>
          <p:nvPr/>
        </p:nvGrpSpPr>
        <p:grpSpPr>
          <a:xfrm>
            <a:off x="6470150" y="1218526"/>
            <a:ext cx="2206306" cy="1569248"/>
            <a:chOff x="6470150" y="1218526"/>
            <a:chExt cx="2206306" cy="1569248"/>
          </a:xfrm>
        </p:grpSpPr>
        <p:sp>
          <p:nvSpPr>
            <p:cNvPr id="12" name="모서리가 둥근 사각형 설명선 3">
              <a:extLst>
                <a:ext uri="{FF2B5EF4-FFF2-40B4-BE49-F238E27FC236}">
                  <a16:creationId xmlns:a16="http://schemas.microsoft.com/office/drawing/2014/main" id="{FBCF86D3-02CD-4930-A3FC-ABF9342343C9}"/>
                </a:ext>
              </a:extLst>
            </p:cNvPr>
            <p:cNvSpPr/>
            <p:nvPr/>
          </p:nvSpPr>
          <p:spPr>
            <a:xfrm>
              <a:off x="6470150" y="1218526"/>
              <a:ext cx="2206306" cy="1569248"/>
            </a:xfrm>
            <a:prstGeom prst="wedgeRoundRectCallout">
              <a:avLst>
                <a:gd name="adj1" fmla="val -62038"/>
                <a:gd name="adj2" fmla="val -41391"/>
                <a:gd name="adj3" fmla="val 16667"/>
              </a:avLst>
            </a:prstGeom>
            <a:solidFill>
              <a:schemeClr val="bg1"/>
            </a:solidFill>
            <a:ln>
              <a:solidFill>
                <a:srgbClr val="78B8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7C889A2-3386-4281-B2E3-660F2B1838F7}"/>
                </a:ext>
              </a:extLst>
            </p:cNvPr>
            <p:cNvSpPr/>
            <p:nvPr/>
          </p:nvSpPr>
          <p:spPr>
            <a:xfrm>
              <a:off x="6511192" y="1275606"/>
              <a:ext cx="2124221" cy="14260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2600"/>
                </a:lnSpc>
              </a:pPr>
              <a:r>
                <a:rPr lang="ko-KR" altLang="en-US" sz="1400" spc="-100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일반적으로 훈련 데이터와 테스트 데이터를 나누는 작업은 ‘데이터 준비하기’ 과정에서 진행한다</a:t>
              </a:r>
              <a:r>
                <a:rPr lang="en-US" altLang="ko-KR" sz="1400" spc="-100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  <a:endParaRPr lang="ko-KR" altLang="en-US" sz="1400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6D0C059-A9C3-4545-BC26-E67E04C0B8E1}"/>
              </a:ext>
            </a:extLst>
          </p:cNvPr>
          <p:cNvSpPr txBox="1"/>
          <p:nvPr/>
        </p:nvSpPr>
        <p:spPr>
          <a:xfrm>
            <a:off x="549629" y="4241619"/>
            <a:ext cx="5678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1-7 </a:t>
            </a:r>
            <a:r>
              <a:rPr lang="en-US" altLang="ko-KR" b="0" dirty="0">
                <a:solidFill>
                  <a:schemeClr val="tx1"/>
                </a:solidFill>
              </a:rPr>
              <a:t>[Data Sampler] </a:t>
            </a:r>
            <a:r>
              <a:rPr lang="ko-KR" altLang="en-US" b="0" dirty="0">
                <a:solidFill>
                  <a:schemeClr val="tx1"/>
                </a:solidFill>
              </a:rPr>
              <a:t>위젯으로 훈련 데이터와 테스트 데이터 분할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DC60BA4-6234-46B0-AC56-5C6B4CAC1DA2}"/>
              </a:ext>
            </a:extLst>
          </p:cNvPr>
          <p:cNvGrpSpPr/>
          <p:nvPr/>
        </p:nvGrpSpPr>
        <p:grpSpPr>
          <a:xfrm>
            <a:off x="6228184" y="3867894"/>
            <a:ext cx="2520280" cy="1008112"/>
            <a:chOff x="6470150" y="1218526"/>
            <a:chExt cx="2206306" cy="1569248"/>
          </a:xfrm>
        </p:grpSpPr>
        <p:sp>
          <p:nvSpPr>
            <p:cNvPr id="17" name="모서리가 둥근 사각형 설명선 3">
              <a:extLst>
                <a:ext uri="{FF2B5EF4-FFF2-40B4-BE49-F238E27FC236}">
                  <a16:creationId xmlns:a16="http://schemas.microsoft.com/office/drawing/2014/main" id="{FBCF86D3-02CD-4930-A3FC-ABF9342343C9}"/>
                </a:ext>
              </a:extLst>
            </p:cNvPr>
            <p:cNvSpPr/>
            <p:nvPr/>
          </p:nvSpPr>
          <p:spPr>
            <a:xfrm>
              <a:off x="6470150" y="1218526"/>
              <a:ext cx="2206306" cy="1569248"/>
            </a:xfrm>
            <a:prstGeom prst="wedgeRoundRectCallout">
              <a:avLst>
                <a:gd name="adj1" fmla="val -62038"/>
                <a:gd name="adj2" fmla="val -41391"/>
                <a:gd name="adj3" fmla="val 16667"/>
              </a:avLst>
            </a:prstGeom>
            <a:solidFill>
              <a:schemeClr val="bg1"/>
            </a:solidFill>
            <a:ln>
              <a:solidFill>
                <a:srgbClr val="78B8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7C889A2-3386-4281-B2E3-660F2B1838F7}"/>
                </a:ext>
              </a:extLst>
            </p:cNvPr>
            <p:cNvSpPr/>
            <p:nvPr/>
          </p:nvSpPr>
          <p:spPr>
            <a:xfrm>
              <a:off x="6511192" y="1275606"/>
              <a:ext cx="2124221" cy="3815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2600"/>
                </a:lnSpc>
              </a:pPr>
              <a:endParaRPr lang="ko-KR" altLang="en-US" sz="1400" dirty="0"/>
            </a:p>
          </p:txBody>
        </p:sp>
      </p:grpSp>
      <p:sp>
        <p:nvSpPr>
          <p:cNvPr id="2" name="직사각형 1"/>
          <p:cNvSpPr/>
          <p:nvPr/>
        </p:nvSpPr>
        <p:spPr>
          <a:xfrm>
            <a:off x="6228184" y="3939902"/>
            <a:ext cx="4572000" cy="8424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spc="-150" dirty="0">
                <a:latin typeface="+mn-ea"/>
              </a:rPr>
              <a:t>입력 데이터</a:t>
            </a:r>
            <a:r>
              <a:rPr lang="en-US" altLang="ko-KR" sz="1400" spc="-150" dirty="0">
                <a:latin typeface="+mn-ea"/>
              </a:rPr>
              <a:t>:  4,177</a:t>
            </a:r>
            <a:r>
              <a:rPr lang="ko-KR" altLang="en-US" sz="1400" spc="-150" dirty="0">
                <a:latin typeface="+mn-ea"/>
              </a:rPr>
              <a:t>개</a:t>
            </a:r>
            <a:endParaRPr lang="en-US" altLang="ko-KR" sz="1400" spc="-150" dirty="0">
              <a:latin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spc="-150" dirty="0">
                <a:latin typeface="+mn-ea"/>
              </a:rPr>
              <a:t>훈련 데이터</a:t>
            </a:r>
            <a:r>
              <a:rPr lang="en-US" altLang="ko-KR" sz="1400" spc="-150" dirty="0">
                <a:latin typeface="+mn-ea"/>
              </a:rPr>
              <a:t>: 70%</a:t>
            </a:r>
            <a:r>
              <a:rPr lang="ko-KR" altLang="en-US" sz="1400" spc="-150" dirty="0">
                <a:latin typeface="+mn-ea"/>
              </a:rPr>
              <a:t>인 </a:t>
            </a:r>
            <a:r>
              <a:rPr lang="en-US" altLang="ko-KR" sz="1400" spc="-150" dirty="0">
                <a:latin typeface="+mn-ea"/>
              </a:rPr>
              <a:t>2,924</a:t>
            </a:r>
            <a:r>
              <a:rPr lang="ko-KR" altLang="en-US" sz="1400" spc="-150" dirty="0">
                <a:latin typeface="+mn-ea"/>
              </a:rPr>
              <a:t>개</a:t>
            </a:r>
            <a:endParaRPr lang="en-US" altLang="ko-KR" sz="1400" spc="-150" dirty="0">
              <a:latin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spc="-150" dirty="0">
                <a:latin typeface="+mn-ea"/>
              </a:rPr>
              <a:t>테스트 데이터</a:t>
            </a:r>
            <a:r>
              <a:rPr lang="en-US" altLang="ko-KR" sz="1400" spc="-150" dirty="0">
                <a:latin typeface="+mn-ea"/>
              </a:rPr>
              <a:t>: 30%</a:t>
            </a:r>
            <a:r>
              <a:rPr lang="ko-KR" altLang="en-US" sz="1400" spc="-150" dirty="0">
                <a:latin typeface="+mn-ea"/>
              </a:rPr>
              <a:t>인 </a:t>
            </a:r>
            <a:r>
              <a:rPr lang="en-US" altLang="ko-KR" sz="1400" spc="-150" dirty="0">
                <a:latin typeface="+mn-ea"/>
              </a:rPr>
              <a:t>1,253</a:t>
            </a:r>
            <a:r>
              <a:rPr lang="ko-KR" altLang="en-US" sz="1400" spc="-150" dirty="0">
                <a:latin typeface="+mn-ea"/>
              </a:rPr>
              <a:t>개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68" y="771550"/>
            <a:ext cx="3639200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7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02899861-C21E-4428-8A45-BE5406CEF99E}"/>
              </a:ext>
            </a:extLst>
          </p:cNvPr>
          <p:cNvSpPr/>
          <p:nvPr/>
        </p:nvSpPr>
        <p:spPr>
          <a:xfrm>
            <a:off x="1331640" y="1203598"/>
            <a:ext cx="625359" cy="256818"/>
          </a:xfrm>
          <a:prstGeom prst="roundRect">
            <a:avLst/>
          </a:prstGeom>
          <a:solidFill>
            <a:srgbClr val="EDB9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EDBAC-6EB7-47D3-B553-EA61FCFE200A}"/>
              </a:ext>
            </a:extLst>
          </p:cNvPr>
          <p:cNvSpPr txBox="1"/>
          <p:nvPr/>
        </p:nvSpPr>
        <p:spPr>
          <a:xfrm>
            <a:off x="971600" y="1131590"/>
            <a:ext cx="4680520" cy="27515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baseline="0">
                <a:latin typeface="+mn-ea"/>
              </a:defRPr>
            </a:lvl1pPr>
          </a:lstStyle>
          <a:p>
            <a:r>
              <a:rPr lang="en-US" altLang="ko-KR" dirty="0"/>
              <a:t>Model </a:t>
            </a:r>
            <a:r>
              <a:rPr lang="ko-KR" altLang="en-US" dirty="0"/>
              <a:t>카테고리에서 </a:t>
            </a:r>
            <a:br>
              <a:rPr lang="en-US" altLang="ko-KR" dirty="0"/>
            </a:br>
            <a:r>
              <a:rPr lang="en-US" altLang="ko-KR" dirty="0"/>
              <a:t>[Linear Regression] </a:t>
            </a:r>
            <a:r>
              <a:rPr lang="ko-KR" altLang="en-US" dirty="0" err="1"/>
              <a:t>위젯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연속적인 값을 예측하는 모델인 </a:t>
            </a:r>
            <a:br>
              <a:rPr lang="en-US" altLang="ko-KR" dirty="0"/>
            </a:br>
            <a:r>
              <a:rPr lang="en-US" altLang="ko-KR" dirty="0"/>
              <a:t>[Linear Regression] </a:t>
            </a:r>
            <a:r>
              <a:rPr lang="ko-KR" altLang="en-US" dirty="0" err="1"/>
              <a:t>위젯을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[Data Sampler] </a:t>
            </a:r>
            <a:r>
              <a:rPr lang="ko-KR" altLang="en-US" dirty="0"/>
              <a:t>위젯과 연결하면 </a:t>
            </a:r>
            <a:br>
              <a:rPr lang="en-US" altLang="ko-KR" dirty="0"/>
            </a:br>
            <a:r>
              <a:rPr lang="ko-KR" altLang="en-US" dirty="0"/>
              <a:t>전복 데이터</a:t>
            </a:r>
            <a:r>
              <a:rPr lang="en-US" altLang="ko-KR" dirty="0"/>
              <a:t>(2,924</a:t>
            </a:r>
            <a:r>
              <a:rPr lang="ko-KR" altLang="en-US" dirty="0"/>
              <a:t>개의 훈련 데이터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br>
              <a:rPr lang="en-US" altLang="ko-KR" dirty="0"/>
            </a:br>
            <a:r>
              <a:rPr lang="ko-KR" altLang="en-US" dirty="0"/>
              <a:t>이용한 선형 회귀 모델 구현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688744-74ED-483F-A07D-B140CEB372C3}"/>
              </a:ext>
            </a:extLst>
          </p:cNvPr>
          <p:cNvSpPr txBox="1"/>
          <p:nvPr/>
        </p:nvSpPr>
        <p:spPr>
          <a:xfrm>
            <a:off x="905941" y="476984"/>
            <a:ext cx="7482483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57175" indent="-257175">
              <a:lnSpc>
                <a:spcPts val="2700"/>
              </a:lnSpc>
              <a:buFont typeface="맑은 고딕" panose="020B0503020000020004" pitchFamily="50" charset="-127"/>
              <a:buChar char="①"/>
              <a:defRPr b="1" i="0" u="none" strike="noStrike" spc="-150" baseline="0">
                <a:latin typeface="+mn-ea"/>
              </a:defRPr>
            </a:lvl1pPr>
          </a:lstStyle>
          <a:p>
            <a:pPr marL="342900" indent="-342900">
              <a:buFont typeface="+mj-ea"/>
              <a:buAutoNum type="circleNumDbPlain" startAt="2"/>
            </a:pPr>
            <a:r>
              <a:rPr lang="ko-KR" altLang="en-US" dirty="0"/>
              <a:t>모델 선택하기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059582"/>
            <a:ext cx="271462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79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563638"/>
            <a:ext cx="2736304" cy="17804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825" y="911190"/>
            <a:ext cx="7123559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baseline="0">
                <a:latin typeface="+mn-ea"/>
              </a:defRPr>
            </a:lvl1pPr>
          </a:lstStyle>
          <a:p>
            <a:pPr marL="0" indent="0">
              <a:buNone/>
            </a:pPr>
            <a:r>
              <a:rPr lang="en-US" altLang="ko-KR" dirty="0"/>
              <a:t>[Data Sampler] </a:t>
            </a:r>
            <a:r>
              <a:rPr lang="ko-KR" altLang="en-US" dirty="0"/>
              <a:t>위젯에 </a:t>
            </a:r>
            <a:r>
              <a:rPr lang="en-US" altLang="ko-KR" dirty="0"/>
              <a:t>[Linear Regression] </a:t>
            </a:r>
            <a:r>
              <a:rPr lang="ko-KR" altLang="en-US" dirty="0"/>
              <a:t>위젯을 연결하면 </a:t>
            </a:r>
            <a:br>
              <a:rPr lang="en-US" altLang="ko-KR" dirty="0"/>
            </a:br>
            <a:r>
              <a:rPr lang="ko-KR" altLang="en-US" dirty="0"/>
              <a:t>모델 위젯이 자동으로 실행되어 데이터 학습시킴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99592" y="531314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</a:rPr>
              <a:t>학습시키기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119673" y="4520241"/>
            <a:ext cx="3736302" cy="349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ko-KR" altLang="en-US" sz="1400" b="1" spc="-150" dirty="0">
                <a:solidFill>
                  <a:srgbClr val="3A7DCE"/>
                </a:solidFill>
              </a:rPr>
              <a:t>그림</a:t>
            </a:r>
            <a:r>
              <a:rPr lang="en-US" altLang="ko-KR" sz="1400" b="1" spc="-150" dirty="0">
                <a:solidFill>
                  <a:srgbClr val="3A7DCE"/>
                </a:solidFill>
              </a:rPr>
              <a:t> 1-8</a:t>
            </a:r>
            <a:r>
              <a:rPr lang="en-US" altLang="ko-KR" sz="1400" spc="-150" dirty="0"/>
              <a:t> </a:t>
            </a:r>
            <a:r>
              <a:rPr lang="ko-KR" altLang="en-US" sz="1400" b="0" i="0" u="none" strike="noStrike" spc="-150" baseline="0" dirty="0">
                <a:latin typeface="YDVYGOStd33"/>
              </a:rPr>
              <a:t>훈련 데이터로 선형 회귀 모델 학습시키기</a:t>
            </a:r>
            <a:endParaRPr lang="ko-KR" altLang="en-US" sz="1400" spc="-15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BDA54AB-8BF1-44C8-86C9-2E0C6E78A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250" y="1690977"/>
            <a:ext cx="3068134" cy="3166233"/>
          </a:xfrm>
          <a:prstGeom prst="rect">
            <a:avLst/>
          </a:prstGeom>
        </p:spPr>
      </p:pic>
      <p:sp>
        <p:nvSpPr>
          <p:cNvPr id="15" name="폭발: 8pt 14">
            <a:extLst>
              <a:ext uri="{FF2B5EF4-FFF2-40B4-BE49-F238E27FC236}">
                <a16:creationId xmlns:a16="http://schemas.microsoft.com/office/drawing/2014/main" id="{3F234828-A4B9-45FA-A712-5793CAA6D949}"/>
              </a:ext>
            </a:extLst>
          </p:cNvPr>
          <p:cNvSpPr/>
          <p:nvPr/>
        </p:nvSpPr>
        <p:spPr>
          <a:xfrm>
            <a:off x="3089391" y="2173749"/>
            <a:ext cx="670824" cy="538209"/>
          </a:xfrm>
          <a:prstGeom prst="irregularSeal1">
            <a:avLst/>
          </a:prstGeom>
          <a:solidFill>
            <a:srgbClr val="FEE9DE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solidFill>
                  <a:srgbClr val="C00000"/>
                </a:solidFill>
              </a:rPr>
              <a:t>더블클릭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CEBE268C-82D5-4354-B665-A34F9ECD51C8}"/>
              </a:ext>
            </a:extLst>
          </p:cNvPr>
          <p:cNvSpPr/>
          <p:nvPr/>
        </p:nvSpPr>
        <p:spPr>
          <a:xfrm>
            <a:off x="4090989" y="2072618"/>
            <a:ext cx="576064" cy="269612"/>
          </a:xfrm>
          <a:prstGeom prst="rightArrow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4">
            <a:extLst>
              <a:ext uri="{FF2B5EF4-FFF2-40B4-BE49-F238E27FC236}">
                <a16:creationId xmlns:a16="http://schemas.microsoft.com/office/drawing/2014/main" id="{6D91EECB-27FE-4C23-96FB-680E7DBEFE26}"/>
              </a:ext>
            </a:extLst>
          </p:cNvPr>
          <p:cNvSpPr/>
          <p:nvPr/>
        </p:nvSpPr>
        <p:spPr>
          <a:xfrm>
            <a:off x="4995934" y="2787774"/>
            <a:ext cx="3032450" cy="1444536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36C36E-9806-497F-B10E-594117713FCF}"/>
              </a:ext>
            </a:extLst>
          </p:cNvPr>
          <p:cNvSpPr txBox="1"/>
          <p:nvPr/>
        </p:nvSpPr>
        <p:spPr>
          <a:xfrm>
            <a:off x="407293" y="3315630"/>
            <a:ext cx="4500820" cy="121813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DDF7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72000" rIns="0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/>
            </a:lvl1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ko-KR" sz="1400" b="1" i="0" u="none" strike="noStrike" spc="0" baseline="0" dirty="0">
                <a:latin typeface="+mj-ea"/>
                <a:ea typeface="+mj-ea"/>
              </a:rPr>
              <a:t>Regularization</a:t>
            </a:r>
            <a:r>
              <a:rPr lang="en-US" altLang="ko-KR" sz="1400" b="1" i="0" u="none" strike="noStrike" baseline="0" dirty="0">
                <a:latin typeface="+mj-ea"/>
                <a:ea typeface="+mj-ea"/>
              </a:rPr>
              <a:t>(</a:t>
            </a:r>
            <a:r>
              <a:rPr lang="ko-KR" altLang="en-US" sz="1400" b="1" i="0" u="none" strike="noStrike" baseline="0" dirty="0">
                <a:latin typeface="+mj-ea"/>
                <a:ea typeface="+mj-ea"/>
              </a:rPr>
              <a:t>정규화</a:t>
            </a:r>
            <a:r>
              <a:rPr lang="en-US" altLang="ko-KR" sz="1400" b="1" i="0" u="none" strike="noStrike" baseline="0" dirty="0">
                <a:latin typeface="+mj-ea"/>
                <a:ea typeface="+mj-ea"/>
              </a:rPr>
              <a:t>, </a:t>
            </a:r>
            <a:r>
              <a:rPr lang="ko-KR" altLang="en-US" sz="1400" b="1" i="0" u="none" strike="noStrike" baseline="0" dirty="0" err="1">
                <a:latin typeface="+mj-ea"/>
                <a:ea typeface="+mj-ea"/>
              </a:rPr>
              <a:t>과적합</a:t>
            </a:r>
            <a:r>
              <a:rPr lang="ko-KR" altLang="en-US" sz="1400" b="1" i="0" u="none" strike="noStrike" baseline="0" dirty="0">
                <a:latin typeface="+mj-ea"/>
                <a:ea typeface="+mj-ea"/>
              </a:rPr>
              <a:t> 방지</a:t>
            </a:r>
            <a:r>
              <a:rPr lang="en-US" altLang="ko-KR" sz="1400" b="1" i="0" u="none" strike="noStrike" baseline="0" dirty="0">
                <a:latin typeface="+mj-ea"/>
                <a:ea typeface="+mj-ea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1400" b="0" i="0" u="none" strike="noStrike" spc="0" baseline="0" dirty="0">
                <a:latin typeface="+mj-ea"/>
                <a:ea typeface="+mj-ea"/>
              </a:rPr>
              <a:t>• </a:t>
            </a:r>
            <a:r>
              <a:rPr lang="en-US" altLang="ko-KR" sz="1400" b="1" i="0" u="none" strike="noStrike" spc="0" baseline="0" dirty="0">
                <a:latin typeface="+mj-ea"/>
                <a:ea typeface="+mj-ea"/>
              </a:rPr>
              <a:t>Ridge regression(L2)</a:t>
            </a:r>
            <a:r>
              <a:rPr lang="en-US" altLang="ko-KR" sz="1400" b="0" i="0" u="none" strike="noStrike" spc="0" baseline="0" dirty="0">
                <a:latin typeface="+mj-ea"/>
                <a:ea typeface="+mj-ea"/>
              </a:rPr>
              <a:t>: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각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계수의 제곱을 더하는 방식</a:t>
            </a:r>
            <a:endParaRPr lang="en-US" altLang="ko-KR" sz="14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1400" b="0" i="0" u="none" strike="noStrike" spc="0" baseline="0" dirty="0">
                <a:latin typeface="+mj-ea"/>
                <a:ea typeface="+mj-ea"/>
              </a:rPr>
              <a:t>• </a:t>
            </a:r>
            <a:r>
              <a:rPr lang="en-US" altLang="ko-KR" sz="1400" b="1" i="0" u="none" strike="noStrike" spc="0" baseline="0" dirty="0">
                <a:latin typeface="+mj-ea"/>
                <a:ea typeface="+mj-ea"/>
              </a:rPr>
              <a:t>Lasso regression(L1)</a:t>
            </a:r>
            <a:r>
              <a:rPr lang="en-US" altLang="ko-KR" sz="1400" b="0" i="0" u="none" strike="noStrike" spc="0" baseline="0" dirty="0">
                <a:latin typeface="+mj-ea"/>
                <a:ea typeface="+mj-ea"/>
              </a:rPr>
              <a:t>: </a:t>
            </a:r>
            <a:r>
              <a:rPr lang="ko-KR" altLang="en-US" sz="1400" b="0" i="0" u="none" strike="noStrike" baseline="0" dirty="0">
                <a:latin typeface="+mj-ea"/>
                <a:ea typeface="+mj-ea"/>
              </a:rPr>
              <a:t>각</a:t>
            </a:r>
            <a:r>
              <a:rPr lang="en-US" altLang="ko-KR" sz="1400" b="0" i="0" u="none" strike="noStrike" baseline="0" dirty="0">
                <a:latin typeface="+mj-ea"/>
                <a:ea typeface="+mj-ea"/>
              </a:rPr>
              <a:t> </a:t>
            </a:r>
            <a:r>
              <a:rPr lang="ko-KR" altLang="en-US" sz="1400" b="0" i="0" u="none" strike="noStrike" baseline="0" dirty="0">
                <a:latin typeface="+mj-ea"/>
                <a:ea typeface="+mj-ea"/>
              </a:rPr>
              <a:t>계수의 절댓값을 더하는 방식</a:t>
            </a:r>
            <a:endParaRPr lang="en-US" altLang="ko-KR" sz="1400" b="0" i="0" u="none" strike="noStrike" baseline="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1400" b="0" i="0" u="none" strike="noStrike" spc="0" baseline="0" dirty="0">
                <a:latin typeface="+mj-ea"/>
                <a:ea typeface="+mj-ea"/>
              </a:rPr>
              <a:t>• </a:t>
            </a:r>
            <a:r>
              <a:rPr lang="en-US" altLang="ko-KR" sz="1400" b="1" i="0" u="none" strike="noStrike" spc="0" baseline="0" dirty="0">
                <a:latin typeface="+mj-ea"/>
                <a:ea typeface="+mj-ea"/>
              </a:rPr>
              <a:t>Elastic net regression</a:t>
            </a:r>
            <a:r>
              <a:rPr lang="en-US" altLang="ko-KR" sz="1400" b="0" i="0" u="none" strike="noStrike" baseline="0" dirty="0">
                <a:latin typeface="+mj-ea"/>
                <a:ea typeface="+mj-ea"/>
              </a:rPr>
              <a:t>: L2</a:t>
            </a:r>
            <a:r>
              <a:rPr lang="ko-KR" altLang="en-US" sz="1400" b="0" i="0" u="none" strike="noStrike" baseline="0" dirty="0">
                <a:latin typeface="+mj-ea"/>
                <a:ea typeface="+mj-ea"/>
              </a:rPr>
              <a:t>와 </a:t>
            </a:r>
            <a:r>
              <a:rPr lang="en-US" altLang="ko-KR" sz="1400" b="0" i="0" u="none" strike="noStrike" baseline="0" dirty="0">
                <a:latin typeface="+mj-ea"/>
                <a:ea typeface="+mj-ea"/>
              </a:rPr>
              <a:t>L1 </a:t>
            </a:r>
            <a:r>
              <a:rPr lang="ko-KR" altLang="en-US" sz="1400" b="0" i="0" u="none" strike="noStrike" baseline="0" dirty="0">
                <a:latin typeface="+mj-ea"/>
                <a:ea typeface="+mj-ea"/>
              </a:rPr>
              <a:t>방식을 절충한 것</a:t>
            </a:r>
            <a:endParaRPr lang="ko-KR" altLang="en-US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946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7856" y="966142"/>
            <a:ext cx="2808312" cy="39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1600" b="1" spc="-150" dirty="0">
                <a:solidFill>
                  <a:srgbClr val="993300"/>
                </a:solidFill>
              </a:rPr>
              <a:t>선형 회귀</a:t>
            </a:r>
            <a:r>
              <a:rPr lang="en-US" altLang="ko-KR" sz="1600" b="1" spc="-150" dirty="0">
                <a:solidFill>
                  <a:srgbClr val="993300"/>
                </a:solidFill>
              </a:rPr>
              <a:t>(Linear Regression)</a:t>
            </a:r>
            <a:endParaRPr lang="ko-KR" altLang="en-US" sz="1600" b="1" spc="-150" dirty="0">
              <a:solidFill>
                <a:srgbClr val="9933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03264" y="1563638"/>
            <a:ext cx="7704856" cy="2718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3675" indent="-193675">
              <a:lnSpc>
                <a:spcPts val="26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직선의 방정식은 기본적으로 𝑦 </a:t>
            </a:r>
            <a:r>
              <a:rPr lang="en-US" altLang="ko-KR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= </a:t>
            </a:r>
            <a:r>
              <a:rPr lang="ko-KR" altLang="en-US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𝑎𝑥 </a:t>
            </a:r>
            <a:r>
              <a:rPr lang="en-US" altLang="ko-KR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+ </a:t>
            </a:r>
            <a:r>
              <a:rPr lang="ko-KR" altLang="en-US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𝑏와 같다</a:t>
            </a:r>
            <a:r>
              <a:rPr lang="en-US" altLang="ko-KR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r>
              <a:rPr lang="ko-KR" altLang="en-US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선형 회귀는 이러한 직선 형태의 함수를 이용하여 입력 데이터를 통해 오차가 가장 적은 방정식을 연속적으로 찾는다</a:t>
            </a:r>
            <a:r>
              <a:rPr lang="en-US" altLang="ko-KR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r>
              <a:rPr lang="ko-KR" altLang="en-US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물론 이 방정식을 찾기</a:t>
            </a:r>
            <a:r>
              <a:rPr lang="ko-KR" altLang="en-US" sz="15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위해서는 𝑎</a:t>
            </a:r>
            <a:r>
              <a:rPr lang="en-US" altLang="ko-KR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기울기</a:t>
            </a:r>
            <a:r>
              <a:rPr lang="en-US" altLang="ko-KR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r>
              <a:rPr lang="ko-KR" altLang="en-US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와 𝑏</a:t>
            </a:r>
            <a:r>
              <a:rPr lang="en-US" altLang="ko-KR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절편</a:t>
            </a:r>
            <a:r>
              <a:rPr lang="en-US" altLang="ko-KR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r>
              <a:rPr lang="ko-KR" altLang="en-US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</a:t>
            </a:r>
            <a:r>
              <a:rPr lang="ko-KR" altLang="en-US" sz="15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필요하다</a:t>
            </a:r>
            <a:r>
              <a:rPr lang="en-US" altLang="ko-KR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r>
              <a:rPr lang="ko-KR" altLang="en-US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기계학습에서는 기울기는 가중치란 용어로 사용하고 절편은 바이어스라는 용어로 사용한다</a:t>
            </a:r>
            <a:r>
              <a:rPr lang="en-US" altLang="ko-KR" sz="150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 marL="193675" indent="-193675">
              <a:lnSpc>
                <a:spcPts val="26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5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𝑥와 𝑦 간의 관계가 선형 관계라고 가정할 때 데이터를 잘 나타내는 선을 찾는 것이 선형 회귀 모델의 핵심이다</a:t>
            </a:r>
            <a:r>
              <a:rPr lang="en-US" altLang="ko-KR" sz="15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r>
              <a:rPr lang="ko-KR" altLang="en-US" sz="15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데이터를 가장 잘 </a:t>
            </a:r>
            <a:r>
              <a:rPr lang="ko-KR" altLang="en-US" sz="150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나타내느냐의</a:t>
            </a:r>
            <a:r>
              <a:rPr lang="ko-KR" altLang="en-US" sz="15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판단은 실제 데이터와의 오차를 이용한다</a:t>
            </a:r>
            <a:r>
              <a:rPr lang="en-US" altLang="ko-KR" sz="15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r>
              <a:rPr lang="ko-KR" altLang="en-US" sz="15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오차가 작은 선을 찾게 되고</a:t>
            </a:r>
            <a:r>
              <a:rPr lang="en-US" altLang="ko-KR" sz="15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5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 오차는 음수가 나올 수 있으므로 </a:t>
            </a:r>
            <a:r>
              <a:rPr lang="ko-KR" altLang="en-US" sz="150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예측값과</a:t>
            </a:r>
            <a:r>
              <a:rPr lang="ko-KR" altLang="en-US" sz="15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50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실젯값의</a:t>
            </a:r>
            <a:r>
              <a:rPr lang="ko-KR" altLang="en-US" sz="15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차이를 제곱하거나 절댓값을 취하는 등의 방법으로 평가한다</a:t>
            </a:r>
            <a:r>
              <a:rPr lang="en-US" altLang="ko-KR" sz="15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656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모서리가 둥근 직사각형 6">
            <a:extLst>
              <a:ext uri="{FF2B5EF4-FFF2-40B4-BE49-F238E27FC236}">
                <a16:creationId xmlns:a16="http://schemas.microsoft.com/office/drawing/2014/main" id="{0A35CEF0-43E3-426A-93BC-EF5CF25ECF0E}"/>
              </a:ext>
            </a:extLst>
          </p:cNvPr>
          <p:cNvSpPr/>
          <p:nvPr/>
        </p:nvSpPr>
        <p:spPr>
          <a:xfrm>
            <a:off x="5015797" y="2163892"/>
            <a:ext cx="924355" cy="256818"/>
          </a:xfrm>
          <a:prstGeom prst="roundRect">
            <a:avLst/>
          </a:prstGeom>
          <a:solidFill>
            <a:srgbClr val="C1E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C6E423-C387-47B4-97AC-1456407DF40F}"/>
              </a:ext>
            </a:extLst>
          </p:cNvPr>
          <p:cNvSpPr txBox="1"/>
          <p:nvPr/>
        </p:nvSpPr>
        <p:spPr>
          <a:xfrm>
            <a:off x="4716016" y="2078395"/>
            <a:ext cx="3960440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baseline="0">
                <a:latin typeface="+mn-ea"/>
              </a:defRPr>
            </a:lvl1pPr>
          </a:lstStyle>
          <a:p>
            <a:r>
              <a:rPr lang="en-US" altLang="ko-KR" spc="-100" dirty="0"/>
              <a:t>Evaluate </a:t>
            </a:r>
            <a:r>
              <a:rPr lang="ko-KR" altLang="en-US" spc="-100" dirty="0"/>
              <a:t>카테고리</a:t>
            </a:r>
            <a:br>
              <a:rPr lang="en-US" altLang="ko-KR" spc="-100" dirty="0"/>
            </a:br>
            <a:r>
              <a:rPr lang="ko-KR" altLang="en-US" spc="-100" dirty="0"/>
              <a:t>인공지능 모델을 확인 및 평가할 수 있는 위젯 모음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5141" y="537104"/>
            <a:ext cx="4166753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모델의 성능을 확인해 보자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</a:t>
            </a:r>
            <a:endParaRPr lang="ko-KR" altLang="en-US" sz="2200" b="1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6963E-37E8-4F4D-903B-EA27BBA2D52D}"/>
              </a:ext>
            </a:extLst>
          </p:cNvPr>
          <p:cNvSpPr txBox="1"/>
          <p:nvPr/>
        </p:nvSpPr>
        <p:spPr>
          <a:xfrm>
            <a:off x="883903" y="1178580"/>
            <a:ext cx="4166753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  <a:latin typeface="+mn-ea"/>
              </a:rPr>
              <a:t>학습 결과 확인하기</a:t>
            </a: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E795C6F5-6488-4859-914D-1D99D9FD4C6C}"/>
              </a:ext>
            </a:extLst>
          </p:cNvPr>
          <p:cNvSpPr/>
          <p:nvPr/>
        </p:nvSpPr>
        <p:spPr>
          <a:xfrm>
            <a:off x="663438" y="1285467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55749E-196A-42F4-93DC-AE3D0B2C4C84}"/>
              </a:ext>
            </a:extLst>
          </p:cNvPr>
          <p:cNvSpPr txBox="1"/>
          <p:nvPr/>
        </p:nvSpPr>
        <p:spPr>
          <a:xfrm>
            <a:off x="922517" y="1600797"/>
            <a:ext cx="4572000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/>
              <a:defRPr sz="1700" b="1" spc="-150"/>
            </a:lvl1pPr>
          </a:lstStyle>
          <a:p>
            <a:r>
              <a:rPr lang="en-US" altLang="ko-KR" spc="0" dirty="0"/>
              <a:t>Evaluate</a:t>
            </a:r>
            <a:r>
              <a:rPr lang="en-US" altLang="ko-KR" dirty="0"/>
              <a:t> </a:t>
            </a:r>
            <a:r>
              <a:rPr lang="ko-KR" altLang="en-US" dirty="0"/>
              <a:t>카테고리 열기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038AC1-AA6C-4AA3-9CB9-EE20C3D65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294" y="2089232"/>
            <a:ext cx="3325970" cy="23571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57691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131590"/>
            <a:ext cx="6444208" cy="31774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7C105B-DF66-46B9-A83C-F1E983E1135B}"/>
              </a:ext>
            </a:extLst>
          </p:cNvPr>
          <p:cNvSpPr txBox="1"/>
          <p:nvPr/>
        </p:nvSpPr>
        <p:spPr>
          <a:xfrm>
            <a:off x="905941" y="476984"/>
            <a:ext cx="7482483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57175" indent="-257175">
              <a:lnSpc>
                <a:spcPts val="2700"/>
              </a:lnSpc>
              <a:buFont typeface="맑은 고딕" panose="020B0503020000020004" pitchFamily="50" charset="-127"/>
              <a:buChar char="①"/>
              <a:defRPr b="1" i="0" u="none" strike="noStrike" spc="-150" baseline="0">
                <a:latin typeface="+mn-ea"/>
              </a:defRPr>
            </a:lvl1pPr>
          </a:lstStyle>
          <a:p>
            <a:pPr marL="342900" indent="-342900">
              <a:buFont typeface="+mj-ea"/>
              <a:buAutoNum type="circleNumDbPlain" startAt="2"/>
            </a:pPr>
            <a:r>
              <a:rPr lang="ko-KR" altLang="en-US" dirty="0"/>
              <a:t>위젯 연결하기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E67170-458F-47C0-A407-F3C319207E0F}"/>
              </a:ext>
            </a:extLst>
          </p:cNvPr>
          <p:cNvSpPr txBox="1"/>
          <p:nvPr/>
        </p:nvSpPr>
        <p:spPr>
          <a:xfrm>
            <a:off x="2898068" y="4565203"/>
            <a:ext cx="3347864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1-9 </a:t>
            </a:r>
            <a:r>
              <a:rPr lang="ko-KR" altLang="en-US" b="0" dirty="0">
                <a:solidFill>
                  <a:schemeClr val="tx1"/>
                </a:solidFill>
              </a:rPr>
              <a:t>선형 회귀 모델 성능 평가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AA7A3-008E-4BC0-97BF-23B992C29280}"/>
              </a:ext>
            </a:extLst>
          </p:cNvPr>
          <p:cNvSpPr txBox="1"/>
          <p:nvPr/>
        </p:nvSpPr>
        <p:spPr>
          <a:xfrm>
            <a:off x="6645531" y="2897992"/>
            <a:ext cx="1864332" cy="863144"/>
          </a:xfrm>
          <a:prstGeom prst="roundRect">
            <a:avLst>
              <a:gd name="adj" fmla="val 7104"/>
            </a:avLst>
          </a:prstGeom>
          <a:solidFill>
            <a:srgbClr val="E2ECAE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1. [Predictions]</a:t>
            </a:r>
            <a:r>
              <a:rPr lang="ko-KR" altLang="en-US" sz="1200" dirty="0">
                <a:latin typeface="+mn-ea"/>
              </a:rPr>
              <a:t>위젯을 </a:t>
            </a:r>
            <a:r>
              <a:rPr lang="en-US" altLang="ko-KR" sz="1200" dirty="0">
                <a:latin typeface="+mn-ea"/>
              </a:rPr>
              <a:t>[Linear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Regression]</a:t>
            </a:r>
            <a:r>
              <a:rPr lang="ko-KR" altLang="en-US" sz="1200" dirty="0">
                <a:latin typeface="+mn-ea"/>
              </a:rPr>
              <a:t>위젯과 </a:t>
            </a:r>
            <a:r>
              <a:rPr lang="en-US" altLang="ko-KR" sz="1200" dirty="0">
                <a:latin typeface="+mn-ea"/>
              </a:rPr>
              <a:t>[Data Sampler] </a:t>
            </a:r>
            <a:r>
              <a:rPr lang="ko-KR" altLang="en-US" sz="1200" dirty="0">
                <a:latin typeface="+mn-ea"/>
              </a:rPr>
              <a:t>위젯 연결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DAD324-855D-49BD-AFC3-83A39A2E5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3435846"/>
            <a:ext cx="2438400" cy="10144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8CE30C0-821C-4021-8AC1-843EA1467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627534"/>
            <a:ext cx="2398952" cy="1005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CC60F27-9835-4A84-9190-14F97E71BE9F}"/>
              </a:ext>
            </a:extLst>
          </p:cNvPr>
          <p:cNvCxnSpPr>
            <a:cxnSpLocks/>
          </p:cNvCxnSpPr>
          <p:nvPr/>
        </p:nvCxnSpPr>
        <p:spPr>
          <a:xfrm flipV="1">
            <a:off x="5076056" y="2859782"/>
            <a:ext cx="360040" cy="93610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5DE24A2-78C8-41F4-9AA9-632CABA0DAB5}"/>
              </a:ext>
            </a:extLst>
          </p:cNvPr>
          <p:cNvCxnSpPr>
            <a:cxnSpLocks/>
          </p:cNvCxnSpPr>
          <p:nvPr/>
        </p:nvCxnSpPr>
        <p:spPr>
          <a:xfrm flipH="1">
            <a:off x="5652120" y="1131590"/>
            <a:ext cx="1080120" cy="13284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C0D43E8-1F97-4DD0-8F44-0E3C2F09F7EA}"/>
              </a:ext>
            </a:extLst>
          </p:cNvPr>
          <p:cNvGrpSpPr/>
          <p:nvPr/>
        </p:nvGrpSpPr>
        <p:grpSpPr>
          <a:xfrm>
            <a:off x="5220072" y="2067694"/>
            <a:ext cx="738749" cy="480346"/>
            <a:chOff x="5983618" y="2091404"/>
            <a:chExt cx="738749" cy="480346"/>
          </a:xfrm>
        </p:grpSpPr>
        <p:sp>
          <p:nvSpPr>
            <p:cNvPr id="20" name="폭발: 8pt 19">
              <a:extLst>
                <a:ext uri="{FF2B5EF4-FFF2-40B4-BE49-F238E27FC236}">
                  <a16:creationId xmlns:a16="http://schemas.microsoft.com/office/drawing/2014/main" id="{31E1E771-431B-43CE-B585-CA934564A7EC}"/>
                </a:ext>
              </a:extLst>
            </p:cNvPr>
            <p:cNvSpPr/>
            <p:nvPr/>
          </p:nvSpPr>
          <p:spPr>
            <a:xfrm>
              <a:off x="5983618" y="2091404"/>
              <a:ext cx="738749" cy="480346"/>
            </a:xfrm>
            <a:prstGeom prst="irregularSeal1">
              <a:avLst/>
            </a:prstGeom>
            <a:solidFill>
              <a:srgbClr val="FEE9DE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rgbClr val="C0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8E7EFF1-733A-49BC-A6EE-BA8EEC958D1E}"/>
                </a:ext>
              </a:extLst>
            </p:cNvPr>
            <p:cNvSpPr txBox="1"/>
            <p:nvPr/>
          </p:nvSpPr>
          <p:spPr>
            <a:xfrm>
              <a:off x="6038084" y="2226287"/>
              <a:ext cx="6298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800" b="1" dirty="0">
                  <a:solidFill>
                    <a:srgbClr val="C00000"/>
                  </a:solidFill>
                </a:rPr>
                <a:t>더블클릭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E7F3497-0258-4719-A3F3-EF69C9651ED6}"/>
              </a:ext>
            </a:extLst>
          </p:cNvPr>
          <p:cNvGrpSpPr/>
          <p:nvPr/>
        </p:nvGrpSpPr>
        <p:grpSpPr>
          <a:xfrm>
            <a:off x="5148064" y="2643758"/>
            <a:ext cx="738749" cy="480346"/>
            <a:chOff x="5983618" y="2091404"/>
            <a:chExt cx="738749" cy="480346"/>
          </a:xfrm>
        </p:grpSpPr>
        <p:sp>
          <p:nvSpPr>
            <p:cNvPr id="25" name="폭발: 8pt 24">
              <a:extLst>
                <a:ext uri="{FF2B5EF4-FFF2-40B4-BE49-F238E27FC236}">
                  <a16:creationId xmlns:a16="http://schemas.microsoft.com/office/drawing/2014/main" id="{EA91D9D8-C644-44DF-A3A6-56D2A6620F6B}"/>
                </a:ext>
              </a:extLst>
            </p:cNvPr>
            <p:cNvSpPr/>
            <p:nvPr/>
          </p:nvSpPr>
          <p:spPr>
            <a:xfrm>
              <a:off x="5983618" y="2091404"/>
              <a:ext cx="738749" cy="480346"/>
            </a:xfrm>
            <a:prstGeom prst="irregularSeal1">
              <a:avLst/>
            </a:prstGeom>
            <a:solidFill>
              <a:srgbClr val="FEE9DE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 dirty="0">
                <a:solidFill>
                  <a:srgbClr val="C0000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0BA197D-5533-4869-B737-27D261D0DF60}"/>
                </a:ext>
              </a:extLst>
            </p:cNvPr>
            <p:cNvSpPr txBox="1"/>
            <p:nvPr/>
          </p:nvSpPr>
          <p:spPr>
            <a:xfrm>
              <a:off x="6038084" y="2226287"/>
              <a:ext cx="6298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800" b="1" dirty="0">
                  <a:solidFill>
                    <a:srgbClr val="C00000"/>
                  </a:solidFill>
                </a:rPr>
                <a:t>더블클릭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FD433AA-6F85-4FF5-8CFD-78E09E02C99C}"/>
              </a:ext>
            </a:extLst>
          </p:cNvPr>
          <p:cNvSpPr txBox="1"/>
          <p:nvPr/>
        </p:nvSpPr>
        <p:spPr>
          <a:xfrm>
            <a:off x="2548088" y="3613647"/>
            <a:ext cx="1450601" cy="479524"/>
          </a:xfrm>
          <a:prstGeom prst="roundRect">
            <a:avLst>
              <a:gd name="adj" fmla="val 7104"/>
            </a:avLst>
          </a:prstGeom>
          <a:solidFill>
            <a:srgbClr val="E2ECAE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2. Data Sample</a:t>
            </a:r>
            <a:r>
              <a:rPr lang="ko-KR" altLang="en-US" sz="1200" dirty="0">
                <a:latin typeface="+mn-ea"/>
              </a:rPr>
              <a:t>과 </a:t>
            </a:r>
            <a:r>
              <a:rPr lang="en-US" altLang="ko-KR" sz="1200" dirty="0">
                <a:latin typeface="+mn-ea"/>
              </a:rPr>
              <a:t>Data </a:t>
            </a:r>
            <a:r>
              <a:rPr lang="ko-KR" altLang="en-US" sz="1200" dirty="0">
                <a:latin typeface="+mn-ea"/>
              </a:rPr>
              <a:t>연결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D104DA-3A0F-4714-922A-879981F93951}"/>
              </a:ext>
            </a:extLst>
          </p:cNvPr>
          <p:cNvSpPr txBox="1"/>
          <p:nvPr/>
        </p:nvSpPr>
        <p:spPr>
          <a:xfrm>
            <a:off x="4199735" y="770071"/>
            <a:ext cx="1450601" cy="479524"/>
          </a:xfrm>
          <a:prstGeom prst="roundRect">
            <a:avLst>
              <a:gd name="adj" fmla="val 7104"/>
            </a:avLst>
          </a:prstGeom>
          <a:solidFill>
            <a:srgbClr val="E2ECAE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3. Remaining Data</a:t>
            </a:r>
            <a:r>
              <a:rPr lang="ko-KR" altLang="en-US" sz="1200" dirty="0">
                <a:latin typeface="+mn-ea"/>
              </a:rPr>
              <a:t>와 </a:t>
            </a:r>
            <a:r>
              <a:rPr lang="en-US" altLang="ko-KR" sz="1200" dirty="0">
                <a:latin typeface="+mn-ea"/>
              </a:rPr>
              <a:t>Data</a:t>
            </a:r>
            <a:r>
              <a:rPr lang="ko-KR" altLang="en-US" sz="1200" dirty="0">
                <a:latin typeface="+mn-ea"/>
              </a:rPr>
              <a:t>연결</a:t>
            </a:r>
          </a:p>
        </p:txBody>
      </p:sp>
    </p:spTree>
    <p:extLst>
      <p:ext uri="{BB962C8B-B14F-4D97-AF65-F5344CB8AC3E}">
        <p14:creationId xmlns:p14="http://schemas.microsoft.com/office/powerpoint/2010/main" val="14958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531314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</a:rPr>
              <a:t>학습시키기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9120F8-0045-44FB-A9C0-80D59A5FF2ED}"/>
              </a:ext>
            </a:extLst>
          </p:cNvPr>
          <p:cNvSpPr txBox="1"/>
          <p:nvPr/>
        </p:nvSpPr>
        <p:spPr>
          <a:xfrm>
            <a:off x="922516" y="987574"/>
            <a:ext cx="6169763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/>
              <a:defRPr sz="1700" b="1" spc="-150"/>
            </a:lvl1pPr>
          </a:lstStyle>
          <a:p>
            <a:r>
              <a:rPr lang="en-US" altLang="ko-KR" dirty="0"/>
              <a:t>[ Prediction] </a:t>
            </a:r>
            <a:r>
              <a:rPr lang="ko-KR" altLang="en-US" dirty="0"/>
              <a:t>위젯을 더블 클릭하여 성능 결과 확인하기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B5F4338-64D4-4CD9-8027-765E8A86B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491630"/>
            <a:ext cx="4715139" cy="327112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8796A35-2E68-4ED8-8936-E0A2163BABEC}"/>
              </a:ext>
            </a:extLst>
          </p:cNvPr>
          <p:cNvSpPr txBox="1"/>
          <p:nvPr/>
        </p:nvSpPr>
        <p:spPr>
          <a:xfrm>
            <a:off x="6046779" y="4148290"/>
            <a:ext cx="2736304" cy="62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1-10 </a:t>
            </a:r>
            <a:br>
              <a:rPr lang="en-US" altLang="ko-KR" dirty="0"/>
            </a:br>
            <a:r>
              <a:rPr lang="ko-KR" altLang="en-US" b="0" dirty="0">
                <a:solidFill>
                  <a:schemeClr val="tx1"/>
                </a:solidFill>
              </a:rPr>
              <a:t>선형 회귀 모델 평가하기 성능 확인</a:t>
            </a:r>
          </a:p>
        </p:txBody>
      </p:sp>
      <p:sp>
        <p:nvSpPr>
          <p:cNvPr id="28" name="모서리가 둥근 직사각형 4">
            <a:extLst>
              <a:ext uri="{FF2B5EF4-FFF2-40B4-BE49-F238E27FC236}">
                <a16:creationId xmlns:a16="http://schemas.microsoft.com/office/drawing/2014/main" id="{FE136F32-B6AE-45F0-95B3-70144F8AA7EB}"/>
              </a:ext>
            </a:extLst>
          </p:cNvPr>
          <p:cNvSpPr/>
          <p:nvPr/>
        </p:nvSpPr>
        <p:spPr>
          <a:xfrm>
            <a:off x="1561115" y="1542073"/>
            <a:ext cx="1088234" cy="2736304"/>
          </a:xfrm>
          <a:prstGeom prst="roundRect">
            <a:avLst>
              <a:gd name="adj" fmla="val 36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5D413E-14E9-4F1D-91AE-1BB00D1DDB51}"/>
              </a:ext>
            </a:extLst>
          </p:cNvPr>
          <p:cNvSpPr txBox="1"/>
          <p:nvPr/>
        </p:nvSpPr>
        <p:spPr>
          <a:xfrm>
            <a:off x="6160112" y="1542073"/>
            <a:ext cx="2516343" cy="1906975"/>
          </a:xfrm>
          <a:prstGeom prst="roundRect">
            <a:avLst>
              <a:gd name="adj" fmla="val 7104"/>
            </a:avLst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</a:rPr>
              <a:t>Shucked weight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spc="-150" dirty="0">
                <a:latin typeface="+mn-ea"/>
              </a:rPr>
              <a:t>테스트 데이터의 실제 순살 무게</a:t>
            </a:r>
            <a:r>
              <a:rPr lang="en-US" altLang="ko-KR" sz="1600" spc="-150" dirty="0">
                <a:latin typeface="+mn-ea"/>
              </a:rPr>
              <a:t>(</a:t>
            </a:r>
            <a:r>
              <a:rPr lang="ko-KR" altLang="en-US" sz="1600" spc="-150" dirty="0" err="1">
                <a:latin typeface="+mn-ea"/>
              </a:rPr>
              <a:t>실젯값</a:t>
            </a:r>
            <a:r>
              <a:rPr lang="en-US" altLang="ko-KR" sz="1600" spc="-150" dirty="0">
                <a:latin typeface="+mn-ea"/>
              </a:rPr>
              <a:t>)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</a:rPr>
              <a:t>Linear Regression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spc="-150" dirty="0">
                <a:latin typeface="+mn-ea"/>
              </a:rPr>
              <a:t>선형 회귀 모델로 예측한 순살 무게</a:t>
            </a:r>
            <a:r>
              <a:rPr lang="en-US" altLang="ko-KR" sz="1600" spc="-150" dirty="0">
                <a:latin typeface="+mn-ea"/>
              </a:rPr>
              <a:t>(</a:t>
            </a:r>
            <a:r>
              <a:rPr lang="ko-KR" altLang="en-US" sz="1600" spc="-150" dirty="0" err="1">
                <a:latin typeface="+mn-ea"/>
              </a:rPr>
              <a:t>예측값</a:t>
            </a:r>
            <a:r>
              <a:rPr lang="en-US" altLang="ko-KR" sz="1600" spc="-150" dirty="0">
                <a:latin typeface="+mn-ea"/>
              </a:rPr>
              <a:t>)</a:t>
            </a:r>
            <a:endParaRPr lang="ko-KR" altLang="en-US" sz="1600" spc="-150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280F80-4382-4E64-9CBE-140811DC04E2}"/>
              </a:ext>
            </a:extLst>
          </p:cNvPr>
          <p:cNvSpPr txBox="1"/>
          <p:nvPr/>
        </p:nvSpPr>
        <p:spPr>
          <a:xfrm>
            <a:off x="2712594" y="1560993"/>
            <a:ext cx="1449277" cy="479524"/>
          </a:xfrm>
          <a:prstGeom prst="roundRect">
            <a:avLst>
              <a:gd name="adj" fmla="val 7104"/>
            </a:avLst>
          </a:prstGeom>
          <a:solidFill>
            <a:srgbClr val="E2ECAE">
              <a:alpha val="85098"/>
            </a:srgbClr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err="1">
                <a:latin typeface="+mn-ea"/>
              </a:rPr>
              <a:t>실젯값과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예측값</a:t>
            </a:r>
            <a:r>
              <a:rPr lang="ko-KR" altLang="en-US" sz="1200" dirty="0">
                <a:latin typeface="+mn-ea"/>
              </a:rPr>
              <a:t> 유사함 확인 가능</a:t>
            </a:r>
          </a:p>
        </p:txBody>
      </p:sp>
    </p:spTree>
    <p:extLst>
      <p:ext uri="{BB962C8B-B14F-4D97-AF65-F5344CB8AC3E}">
        <p14:creationId xmlns:p14="http://schemas.microsoft.com/office/powerpoint/2010/main" val="340083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B1AC57EE-2895-4A87-AA63-A26BAC62C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90027" y="3384841"/>
            <a:ext cx="1250113" cy="13098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A2367F-AA47-4183-A19E-D262964BA1C7}"/>
              </a:ext>
            </a:extLst>
          </p:cNvPr>
          <p:cNvSpPr txBox="1"/>
          <p:nvPr/>
        </p:nvSpPr>
        <p:spPr>
          <a:xfrm>
            <a:off x="905941" y="476984"/>
            <a:ext cx="7482483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57175" indent="-257175">
              <a:lnSpc>
                <a:spcPts val="2700"/>
              </a:lnSpc>
              <a:buFont typeface="맑은 고딕" panose="020B0503020000020004" pitchFamily="50" charset="-127"/>
              <a:buChar char="①"/>
              <a:defRPr b="1" i="0" u="none" strike="noStrike" spc="-150" baseline="0">
                <a:latin typeface="+mn-ea"/>
              </a:defRPr>
            </a:lvl1pPr>
          </a:lstStyle>
          <a:p>
            <a:pPr marL="342900" indent="-342900">
              <a:buFont typeface="+mj-ea"/>
              <a:buAutoNum type="circleNumDbPlain" startAt="2"/>
            </a:pPr>
            <a:r>
              <a:rPr lang="ko-KR" altLang="en-US" dirty="0"/>
              <a:t>전복 순살 무게 예측 인공지능 모델 확인하기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E0877-1D01-4C19-B5C2-AB6749B38F0F}"/>
              </a:ext>
            </a:extLst>
          </p:cNvPr>
          <p:cNvSpPr txBox="1"/>
          <p:nvPr/>
        </p:nvSpPr>
        <p:spPr>
          <a:xfrm>
            <a:off x="1190798" y="912706"/>
            <a:ext cx="6912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0" i="0" u="none" strike="noStrike" spc="-150" baseline="0" dirty="0">
                <a:latin typeface="+mn-ea"/>
              </a:rPr>
              <a:t>어느 정도의 정확도로 예측하였는지 예측 모델의 성능을 평가하는 </a:t>
            </a:r>
            <a:r>
              <a:rPr lang="en-US" altLang="ko-KR" b="0" i="0" u="none" strike="noStrike" spc="-150" baseline="0" dirty="0">
                <a:latin typeface="+mn-ea"/>
              </a:rPr>
              <a:t>4</a:t>
            </a:r>
            <a:r>
              <a:rPr lang="ko-KR" altLang="en-US" b="0" i="0" u="none" strike="noStrike" spc="-150" baseline="0" dirty="0">
                <a:latin typeface="+mn-ea"/>
              </a:rPr>
              <a:t>개의 평가 지표</a:t>
            </a:r>
            <a:endParaRPr lang="ko-KR" altLang="en-US" spc="-150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867551-D4FE-4AEA-BF6C-E9B825A8B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559" y="1718878"/>
            <a:ext cx="2353780" cy="578173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9D212FB-CF12-4652-BB7A-EBE20FA0C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394117"/>
              </p:ext>
            </p:extLst>
          </p:nvPr>
        </p:nvGraphicFramePr>
        <p:xfrm>
          <a:off x="5003371" y="1746178"/>
          <a:ext cx="2949154" cy="195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9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6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평가 지표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i="0" u="none" strike="noStrike" kern="1200" baseline="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MSE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(Mean Squared Error)</a:t>
                      </a:r>
                      <a:endParaRPr lang="ko-KR" altLang="en-US" sz="11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i="0" u="none" strike="noStrike" kern="1200" baseline="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(Root Mean Squared Error)</a:t>
                      </a:r>
                      <a:endParaRPr lang="ko-KR" altLang="en-US" sz="11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i="0" u="none" strike="noStrike" kern="1200" baseline="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(Mean Absolute Error)</a:t>
                      </a:r>
                      <a:endParaRPr lang="ko-KR" altLang="en-US" sz="11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i="0" u="none" strike="noStrike" kern="1200" baseline="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(R Squared, R2,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결정계수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모서리가 둥근 직사각형 4">
            <a:extLst>
              <a:ext uri="{FF2B5EF4-FFF2-40B4-BE49-F238E27FC236}">
                <a16:creationId xmlns:a16="http://schemas.microsoft.com/office/drawing/2014/main" id="{8AC26BF7-FD82-4048-8A8C-A6BD1087AF8F}"/>
              </a:ext>
            </a:extLst>
          </p:cNvPr>
          <p:cNvSpPr/>
          <p:nvPr/>
        </p:nvSpPr>
        <p:spPr>
          <a:xfrm>
            <a:off x="2193916" y="1718878"/>
            <a:ext cx="1296144" cy="456570"/>
          </a:xfrm>
          <a:prstGeom prst="roundRect">
            <a:avLst>
              <a:gd name="adj" fmla="val 36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3BDAE-0F63-4DC1-B67F-3E0F2028C2A0}"/>
              </a:ext>
            </a:extLst>
          </p:cNvPr>
          <p:cNvSpPr txBox="1"/>
          <p:nvPr/>
        </p:nvSpPr>
        <p:spPr>
          <a:xfrm>
            <a:off x="3681991" y="1808663"/>
            <a:ext cx="792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50" dirty="0"/>
              <a:t>평가 지표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D6D51F4-221B-4615-997D-6DFE6E3DFB2D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3490060" y="1947163"/>
            <a:ext cx="191931" cy="0"/>
          </a:xfrm>
          <a:prstGeom prst="line">
            <a:avLst/>
          </a:prstGeom>
          <a:ln>
            <a:solidFill>
              <a:srgbClr val="C0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D075BA5-6A6D-412E-9D68-701A592D2B77}"/>
              </a:ext>
            </a:extLst>
          </p:cNvPr>
          <p:cNvGrpSpPr/>
          <p:nvPr/>
        </p:nvGrpSpPr>
        <p:grpSpPr>
          <a:xfrm>
            <a:off x="2531449" y="2619201"/>
            <a:ext cx="2309533" cy="1390042"/>
            <a:chOff x="2531449" y="2619201"/>
            <a:chExt cx="2309533" cy="1390042"/>
          </a:xfrm>
        </p:grpSpPr>
        <p:sp>
          <p:nvSpPr>
            <p:cNvPr id="24" name="모서리가 둥근 사각형 설명선 3">
              <a:extLst>
                <a:ext uri="{FF2B5EF4-FFF2-40B4-BE49-F238E27FC236}">
                  <a16:creationId xmlns:a16="http://schemas.microsoft.com/office/drawing/2014/main" id="{3A2E30E8-74F2-480A-810D-755ADEC963E4}"/>
                </a:ext>
              </a:extLst>
            </p:cNvPr>
            <p:cNvSpPr/>
            <p:nvPr/>
          </p:nvSpPr>
          <p:spPr>
            <a:xfrm>
              <a:off x="2531449" y="2619201"/>
              <a:ext cx="2206306" cy="1390042"/>
            </a:xfrm>
            <a:prstGeom prst="wedgeRoundRectCallout">
              <a:avLst>
                <a:gd name="adj1" fmla="val -63798"/>
                <a:gd name="adj2" fmla="val 27873"/>
                <a:gd name="adj3" fmla="val 16667"/>
              </a:avLst>
            </a:prstGeom>
            <a:solidFill>
              <a:schemeClr val="bg1"/>
            </a:solidFill>
            <a:ln>
              <a:solidFill>
                <a:srgbClr val="78B8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7B4AF90-A6F9-4DAF-8988-207719F7352F}"/>
                </a:ext>
              </a:extLst>
            </p:cNvPr>
            <p:cNvSpPr/>
            <p:nvPr/>
          </p:nvSpPr>
          <p:spPr>
            <a:xfrm>
              <a:off x="2553441" y="2714057"/>
              <a:ext cx="2287541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ko-KR" sz="1800" b="0" i="0" u="none" strike="noStrike" baseline="0" dirty="0">
                  <a:latin typeface="TTChoucreambbangL"/>
                </a:rPr>
                <a:t>MSE, RMSE, MAE</a:t>
              </a:r>
              <a:r>
                <a:rPr lang="ko-KR" altLang="en-US" sz="1800" b="0" i="0" u="none" strike="noStrike" baseline="0" dirty="0">
                  <a:latin typeface="TTChoucreambbangL"/>
                </a:rPr>
                <a:t>는</a:t>
              </a:r>
              <a:r>
                <a:rPr lang="ko-KR" altLang="en-US" sz="1800" b="0" i="0" u="none" strike="noStrike" dirty="0">
                  <a:latin typeface="TTChoucreambbangL"/>
                </a:rPr>
                <a:t> </a:t>
              </a:r>
              <a:r>
                <a:rPr lang="en-US" altLang="ko-KR" sz="1800" b="0" i="0" u="none" strike="noStrike" baseline="0" dirty="0">
                  <a:latin typeface="TTChoucreambbangL"/>
                </a:rPr>
                <a:t>0</a:t>
              </a:r>
              <a:r>
                <a:rPr lang="ko-KR" altLang="en-US" sz="1800" b="0" i="0" u="none" strike="noStrike" baseline="0" dirty="0">
                  <a:latin typeface="TTChoucreambbangL"/>
                </a:rPr>
                <a:t>에 가까울수록</a:t>
              </a:r>
              <a:r>
                <a:rPr lang="en-US" altLang="ko-KR" sz="1800" b="0" i="0" u="none" strike="noStrike" baseline="0" dirty="0">
                  <a:latin typeface="TTChoucreambbangL"/>
                </a:rPr>
                <a:t>,</a:t>
              </a:r>
            </a:p>
            <a:p>
              <a:pPr algn="l"/>
              <a:r>
                <a:rPr lang="en-US" altLang="ko-KR" sz="1800" b="0" i="0" u="none" strike="noStrike" baseline="0" dirty="0">
                  <a:latin typeface="TTChoucreambbangL"/>
                </a:rPr>
                <a:t>R2</a:t>
              </a:r>
              <a:r>
                <a:rPr lang="ko-KR" altLang="en-US" sz="1800" b="0" i="0" u="none" strike="noStrike" baseline="0" dirty="0">
                  <a:latin typeface="TTChoucreambbangL"/>
                </a:rPr>
                <a:t>는 </a:t>
              </a:r>
              <a:r>
                <a:rPr lang="en-US" altLang="ko-KR" sz="1800" b="0" i="0" u="none" strike="noStrike" baseline="0" dirty="0">
                  <a:latin typeface="TTChoucreambbangL"/>
                </a:rPr>
                <a:t>1</a:t>
              </a:r>
              <a:r>
                <a:rPr lang="ko-KR" altLang="en-US" sz="1800" b="0" i="0" u="none" strike="noStrike" baseline="0" dirty="0">
                  <a:latin typeface="TTChoucreambbangL"/>
                </a:rPr>
                <a:t>에 가까울수록 정확도가 높아요</a:t>
              </a:r>
              <a:r>
                <a:rPr lang="en-US" altLang="ko-KR" sz="1800" b="0" i="0" u="none" strike="noStrike" baseline="0" dirty="0">
                  <a:latin typeface="TTChoucreambbangL"/>
                </a:rPr>
                <a:t>.</a:t>
              </a:r>
              <a:endParaRPr lang="ko-KR" altLang="en-US" sz="140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F1E3956-5A6A-40DE-A36A-409039A06909}"/>
              </a:ext>
            </a:extLst>
          </p:cNvPr>
          <p:cNvSpPr txBox="1"/>
          <p:nvPr/>
        </p:nvSpPr>
        <p:spPr>
          <a:xfrm>
            <a:off x="3063006" y="4416375"/>
            <a:ext cx="3168352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pPr algn="ctr"/>
            <a:r>
              <a:rPr lang="ko-KR" altLang="en-US" dirty="0"/>
              <a:t>그림 </a:t>
            </a:r>
            <a:r>
              <a:rPr lang="en-US" altLang="ko-KR" dirty="0"/>
              <a:t>1-11 </a:t>
            </a:r>
            <a:r>
              <a:rPr lang="ko-KR" altLang="en-US" b="0" dirty="0">
                <a:solidFill>
                  <a:schemeClr val="tx1"/>
                </a:solidFill>
              </a:rPr>
              <a:t>예측 모델 평가 지표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A261B2-3F92-4FA8-ABBF-3231A65CE127}"/>
              </a:ext>
            </a:extLst>
          </p:cNvPr>
          <p:cNvSpPr txBox="1"/>
          <p:nvPr/>
        </p:nvSpPr>
        <p:spPr>
          <a:xfrm>
            <a:off x="629258" y="2361422"/>
            <a:ext cx="1782502" cy="715089"/>
          </a:xfrm>
          <a:prstGeom prst="wedgeRoundRectCallout">
            <a:avLst>
              <a:gd name="adj1" fmla="val 34653"/>
              <a:gd name="adj2" fmla="val -93687"/>
              <a:gd name="adj3" fmla="val 16667"/>
            </a:avLst>
          </a:prstGeom>
          <a:solidFill>
            <a:schemeClr val="accent2">
              <a:lumMod val="40000"/>
              <a:lumOff val="60000"/>
              <a:alpha val="69804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Linear </a:t>
            </a:r>
            <a:r>
              <a:rPr lang="en-US" altLang="ko-KR" sz="1200" dirty="0" err="1">
                <a:latin typeface="+mn-ea"/>
              </a:rPr>
              <a:t>Regresssion</a:t>
            </a:r>
            <a:r>
              <a:rPr lang="ko-KR" altLang="en-US" sz="1200" dirty="0">
                <a:latin typeface="+mn-ea"/>
              </a:rPr>
              <a:t>은 정확도가 매우 높은 모델 확인</a:t>
            </a:r>
          </a:p>
        </p:txBody>
      </p:sp>
    </p:spTree>
    <p:extLst>
      <p:ext uri="{BB962C8B-B14F-4D97-AF65-F5344CB8AC3E}">
        <p14:creationId xmlns:p14="http://schemas.microsoft.com/office/powerpoint/2010/main" val="41836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646452" y="877466"/>
            <a:ext cx="5688632" cy="0"/>
          </a:xfrm>
          <a:prstGeom prst="line">
            <a:avLst/>
          </a:prstGeom>
          <a:ln>
            <a:solidFill>
              <a:srgbClr val="59B3FD">
                <a:alpha val="61000"/>
              </a:srgbClr>
            </a:solidFill>
            <a:prstDash val="sysDash"/>
            <a:headEnd type="none"/>
            <a:tailEnd type="oval" w="lg" len="lg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1266" name="Picture 2" descr="C:\Users\PC\Desktop\20211122_16503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36" y="475898"/>
            <a:ext cx="2198694" cy="2101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 descr="C:\Users\PC\Desktop\그림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83518"/>
            <a:ext cx="1874363" cy="608583"/>
          </a:xfrm>
          <a:prstGeom prst="rect">
            <a:avLst/>
          </a:prstGeom>
          <a:noFill/>
          <a:effectLst>
            <a:outerShdw blurRad="50800" dist="38100" dir="33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1619672" y="1274884"/>
            <a:ext cx="7704856" cy="720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buClr>
                <a:schemeClr val="accent3">
                  <a:lumMod val="75000"/>
                </a:schemeClr>
              </a:buClr>
            </a:pPr>
            <a:r>
              <a:rPr lang="en-US" altLang="ko-KR" sz="1600" b="1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Orange3</a:t>
            </a:r>
            <a:r>
              <a:rPr lang="ko-KR" altLang="en-US" sz="1600" b="1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의 </a:t>
            </a:r>
            <a:r>
              <a:rPr lang="en-US" altLang="ko-KR" sz="1600" b="1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 </a:t>
            </a:r>
            <a:r>
              <a:rPr lang="ko-KR" altLang="en-US" sz="1600" b="1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카테고리의 </a:t>
            </a:r>
            <a:r>
              <a:rPr lang="en-US" altLang="ko-KR" sz="1600" b="1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[Datasets] </a:t>
            </a:r>
            <a:r>
              <a:rPr lang="ko-KR" altLang="en-US" sz="1600" b="1" spc="-1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위젯에</a:t>
            </a:r>
            <a:r>
              <a:rPr lang="ko-KR" altLang="en-US" sz="1600" b="1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있는 데이터들은 </a:t>
            </a:r>
            <a:br>
              <a:rPr lang="en-US" altLang="ko-KR" sz="1600" b="1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ko-KR" altLang="en-US" sz="1600" b="1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사용하기 적절한가요</a:t>
            </a:r>
            <a:r>
              <a:rPr lang="en-US" altLang="ko-KR" sz="1600" b="1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</a:t>
            </a:r>
          </a:p>
        </p:txBody>
      </p:sp>
      <p:pic>
        <p:nvPicPr>
          <p:cNvPr id="11269" name="Picture 5" descr="C:\Users\PC\Desktop\a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818" y="2248315"/>
            <a:ext cx="271986" cy="27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C:\Users\PC\Desktop\q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817" y="1360056"/>
            <a:ext cx="271986" cy="27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1619672" y="2139702"/>
            <a:ext cx="6924673" cy="175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buClr>
                <a:schemeClr val="accent3">
                  <a:lumMod val="75000"/>
                </a:schemeClr>
              </a:buClr>
            </a:pPr>
            <a:r>
              <a:rPr lang="en-US" altLang="ko-KR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[Datasets] </a:t>
            </a:r>
            <a:r>
              <a:rPr lang="ko-KR" altLang="en-US" sz="16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위젯에는</a:t>
            </a:r>
            <a:r>
              <a:rPr lang="ko-KR" altLang="en-US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70</a:t>
            </a:r>
            <a:r>
              <a:rPr lang="ko-KR" altLang="en-US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여 개의 데이터가 있으며</a:t>
            </a:r>
            <a:r>
              <a:rPr lang="en-US" altLang="ko-KR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br>
              <a:rPr lang="en-US" altLang="ko-KR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ko-KR" altLang="en-US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붓꽃 품종 데이터</a:t>
            </a:r>
            <a:r>
              <a:rPr lang="en-US" altLang="ko-KR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6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타이타닉</a:t>
            </a:r>
            <a:r>
              <a:rPr lang="ko-KR" altLang="en-US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생존자 데이터</a:t>
            </a:r>
            <a:r>
              <a:rPr lang="en-US" altLang="ko-KR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와인 품질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데이터</a:t>
            </a:r>
            <a:r>
              <a:rPr lang="en-US" altLang="ko-KR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br>
              <a:rPr lang="en-US" altLang="ko-KR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ko-KR" altLang="en-US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보스턴 집값 예측 데이터 등 널리 알려진 데이터가 많습니다</a:t>
            </a:r>
            <a:r>
              <a:rPr lang="en-US" altLang="ko-KR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br>
              <a:rPr lang="en-US" altLang="ko-KR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ko-KR" altLang="en-US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인공지능을 처음 시작하는 사람들이 사용하기 적합한 데이터로 구성되어 있습니다</a:t>
            </a:r>
            <a:r>
              <a:rPr lang="en-US" altLang="ko-KR" sz="16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656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61245" y="747167"/>
            <a:ext cx="5472608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/>
              <a:t>예측</a:t>
            </a:r>
            <a:r>
              <a:rPr lang="en-US" altLang="ko-KR" b="1" spc="-150" dirty="0"/>
              <a:t>(</a:t>
            </a:r>
            <a:r>
              <a:rPr lang="ko-KR" altLang="en-US" b="1" spc="-150" dirty="0"/>
              <a:t>회귀</a:t>
            </a:r>
            <a:r>
              <a:rPr lang="en-US" altLang="ko-KR" b="1" spc="-150" dirty="0"/>
              <a:t>) </a:t>
            </a:r>
            <a:r>
              <a:rPr lang="ko-KR" altLang="en-US" b="1" spc="-150" dirty="0"/>
              <a:t>모델 평가 지표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835696" y="1347614"/>
            <a:ext cx="66247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002060"/>
                </a:solidFill>
              </a:rPr>
              <a:t>지금까지 배운 내용을 바탕으로 성능 평가를 한 후 </a:t>
            </a:r>
            <a:r>
              <a:rPr lang="en-US" altLang="ko-KR" sz="1600" dirty="0">
                <a:solidFill>
                  <a:srgbClr val="002060"/>
                </a:solidFill>
              </a:rPr>
              <a:t>4</a:t>
            </a:r>
            <a:r>
              <a:rPr lang="ko-KR" altLang="en-US" sz="1600" dirty="0">
                <a:solidFill>
                  <a:srgbClr val="002060"/>
                </a:solidFill>
              </a:rPr>
              <a:t>개의 평가 지표를 정리해 보자</a:t>
            </a:r>
            <a:r>
              <a:rPr lang="en-US" altLang="ko-KR" sz="1600" dirty="0">
                <a:solidFill>
                  <a:srgbClr val="002060"/>
                </a:solidFill>
              </a:rPr>
              <a:t>.</a:t>
            </a:r>
            <a:endParaRPr lang="ko-KR" altLang="en-US" sz="1600" dirty="0">
              <a:solidFill>
                <a:srgbClr val="002060"/>
              </a:solidFill>
            </a:endParaRPr>
          </a:p>
        </p:txBody>
      </p:sp>
      <p:pic>
        <p:nvPicPr>
          <p:cNvPr id="13314" name="Picture 2" descr="C:\Users\PC\Desktop\20211122_17134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211710"/>
            <a:ext cx="3204535" cy="264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644008" y="2715766"/>
            <a:ext cx="3816424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1600" spc="-150" dirty="0"/>
              <a:t>점들을 학습시켜서 모델 𝐻</a:t>
            </a:r>
            <a:r>
              <a:rPr lang="en-US" altLang="ko-KR" sz="1600" spc="-150" dirty="0"/>
              <a:t>(</a:t>
            </a:r>
            <a:r>
              <a:rPr lang="ko-KR" altLang="en-US" sz="1600" spc="-150" dirty="0"/>
              <a:t>𝑥</a:t>
            </a:r>
            <a:r>
              <a:rPr lang="en-US" altLang="ko-KR" sz="1600" spc="-150" dirty="0"/>
              <a:t>)</a:t>
            </a:r>
            <a:r>
              <a:rPr lang="ko-KR" altLang="en-US" sz="1600" spc="-150" dirty="0"/>
              <a:t>를 만든다</a:t>
            </a:r>
            <a:r>
              <a:rPr lang="en-US" altLang="ko-KR" sz="1600" spc="-150" dirty="0"/>
              <a:t>. </a:t>
            </a:r>
            <a:br>
              <a:rPr lang="en-US" altLang="ko-KR" sz="1600" spc="-150" dirty="0"/>
            </a:br>
            <a:r>
              <a:rPr lang="ko-KR" altLang="en-US" sz="1600" spc="-150" dirty="0"/>
              <a:t>이때 어떤 𝑥 상태일 때 </a:t>
            </a:r>
            <a:r>
              <a:rPr lang="ko-KR" altLang="en-US" sz="1600" spc="-150" dirty="0" err="1"/>
              <a:t>실젯값</a:t>
            </a:r>
            <a:r>
              <a:rPr lang="en-US" altLang="ko-KR" sz="1600" spc="-150" dirty="0"/>
              <a:t>(</a:t>
            </a:r>
            <a:r>
              <a:rPr lang="ko-KR" altLang="en-US" sz="1600" spc="-150" dirty="0" err="1"/>
              <a:t>거리값</a:t>
            </a:r>
            <a:r>
              <a:rPr lang="en-US" altLang="ko-KR" sz="1600" spc="-150" dirty="0"/>
              <a:t>) </a:t>
            </a:r>
            <a:r>
              <a:rPr lang="ko-KR" altLang="en-US" sz="1600" spc="-150" dirty="0"/>
              <a:t>𝑦와 </a:t>
            </a:r>
            <a:br>
              <a:rPr lang="en-US" altLang="ko-KR" sz="1600" spc="-150" dirty="0"/>
            </a:br>
            <a:r>
              <a:rPr lang="ko-KR" altLang="en-US" sz="1600" spc="-150" dirty="0" err="1"/>
              <a:t>예측값</a:t>
            </a:r>
            <a:r>
              <a:rPr lang="ko-KR" altLang="en-US" sz="1600" spc="-150" dirty="0"/>
              <a:t> 𝐻</a:t>
            </a:r>
            <a:r>
              <a:rPr lang="en-US" altLang="ko-KR" sz="1600" spc="-150" dirty="0"/>
              <a:t>(</a:t>
            </a:r>
            <a:r>
              <a:rPr lang="ko-KR" altLang="en-US" sz="1600" spc="-150" dirty="0"/>
              <a:t>𝑥</a:t>
            </a:r>
            <a:r>
              <a:rPr lang="en-US" altLang="ko-KR" sz="1600" spc="-150" dirty="0"/>
              <a:t>)</a:t>
            </a:r>
            <a:r>
              <a:rPr lang="ko-KR" altLang="en-US" sz="1600" spc="-150" dirty="0"/>
              <a:t>의 차이가 발생할 수 있다</a:t>
            </a:r>
            <a:r>
              <a:rPr lang="en-US" altLang="ko-KR" sz="1600" spc="-150" dirty="0"/>
              <a:t>. </a:t>
            </a:r>
            <a:br>
              <a:rPr lang="en-US" altLang="ko-KR" sz="1600" spc="-150" dirty="0"/>
            </a:br>
            <a:r>
              <a:rPr lang="ko-KR" altLang="en-US" sz="1600" spc="-150" dirty="0"/>
              <a:t>이 차이가 작으면 작을수록 학습 모델이 예측을 잘한다고 할 수 있다</a:t>
            </a:r>
            <a:r>
              <a:rPr lang="en-US" altLang="ko-KR" sz="1600" spc="-150" dirty="0"/>
              <a:t>.</a:t>
            </a:r>
            <a:endParaRPr lang="ko-KR" altLang="en-US" sz="1600" spc="-1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F84F5-3157-482D-95DC-8398EB3C5F55}"/>
              </a:ext>
            </a:extLst>
          </p:cNvPr>
          <p:cNvSpPr txBox="1"/>
          <p:nvPr/>
        </p:nvSpPr>
        <p:spPr>
          <a:xfrm>
            <a:off x="4716016" y="1923678"/>
            <a:ext cx="3601828" cy="738664"/>
          </a:xfrm>
          <a:prstGeom prst="rect">
            <a:avLst/>
          </a:prstGeom>
          <a:solidFill>
            <a:srgbClr val="E2ECAE">
              <a:alpha val="69804"/>
            </a:srgb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>
                <a:latin typeface="+mn-ea"/>
              </a:defRPr>
            </a:lvl1pPr>
          </a:lstStyle>
          <a:p>
            <a:r>
              <a:rPr lang="ko-KR" altLang="en-US" sz="1400" dirty="0"/>
              <a:t>오차는 양수와 음수가 섞여 있으므로 정확도를 알기 위해서는 </a:t>
            </a:r>
            <a:r>
              <a:rPr lang="en-US" altLang="ko-KR" sz="1400" dirty="0"/>
              <a:t>4</a:t>
            </a:r>
            <a:r>
              <a:rPr lang="ko-KR" altLang="en-US" sz="1400" dirty="0"/>
              <a:t>개 평가 지표를 이용한다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48475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PC\Desktop\A9R323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223"/>
          <a:stretch/>
        </p:blipFill>
        <p:spPr bwMode="auto">
          <a:xfrm>
            <a:off x="708323" y="333375"/>
            <a:ext cx="7944569" cy="444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D0E130-5CF5-4DA0-9BCD-FE610C213718}"/>
              </a:ext>
            </a:extLst>
          </p:cNvPr>
          <p:cNvSpPr txBox="1"/>
          <p:nvPr/>
        </p:nvSpPr>
        <p:spPr>
          <a:xfrm>
            <a:off x="971600" y="555526"/>
            <a:ext cx="7416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600" b="1" i="0" u="none" strike="noStrike" baseline="0" dirty="0">
                <a:solidFill>
                  <a:srgbClr val="005C4A"/>
                </a:solidFill>
                <a:latin typeface="+mn-ea"/>
              </a:rPr>
              <a:t>① MSE(Mean Squared Error): </a:t>
            </a:r>
            <a:r>
              <a:rPr lang="ko-KR" altLang="en-US" sz="1600" b="0" i="0" u="none" strike="noStrike" baseline="0" dirty="0" err="1">
                <a:solidFill>
                  <a:srgbClr val="000000"/>
                </a:solidFill>
                <a:latin typeface="+mn-ea"/>
              </a:rPr>
              <a:t>예측값과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600" b="0" i="0" u="none" strike="noStrike" baseline="0" dirty="0" err="1">
                <a:solidFill>
                  <a:srgbClr val="000000"/>
                </a:solidFill>
                <a:latin typeface="+mn-ea"/>
              </a:rPr>
              <a:t>실젯값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</a:rPr>
              <a:t> 차이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</a:rPr>
              <a:t>오차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</a:rPr>
              <a:t>의 제곱을 평균 낸</a:t>
            </a:r>
            <a:b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</a:rPr>
            </a:b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</a:rPr>
              <a:t>  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</a:rPr>
              <a:t> 값으로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ko-KR" sz="1600" b="0" i="0" u="none" strike="noStrike" baseline="0" dirty="0">
                <a:solidFill>
                  <a:srgbClr val="C00000"/>
                </a:solidFill>
                <a:latin typeface="+mn-ea"/>
              </a:rPr>
              <a:t>0</a:t>
            </a:r>
            <a:r>
              <a:rPr lang="ko-KR" altLang="en-US" sz="1600" b="0" i="0" u="none" strike="noStrike" baseline="0" dirty="0">
                <a:solidFill>
                  <a:srgbClr val="C00000"/>
                </a:solidFill>
                <a:latin typeface="+mn-ea"/>
              </a:rPr>
              <a:t>에 가까울수록 </a:t>
            </a:r>
            <a:r>
              <a:rPr lang="ko-KR" altLang="en-US" sz="1600" b="0" i="0" u="none" strike="noStrike" baseline="0" dirty="0" err="1">
                <a:solidFill>
                  <a:srgbClr val="C00000"/>
                </a:solidFill>
                <a:latin typeface="+mn-ea"/>
              </a:rPr>
              <a:t>예측값과</a:t>
            </a:r>
            <a:r>
              <a:rPr lang="ko-KR" altLang="en-US" sz="1600" b="0" i="0" u="none" strike="noStrike" baseline="0" dirty="0">
                <a:solidFill>
                  <a:srgbClr val="C00000"/>
                </a:solidFill>
                <a:latin typeface="+mn-ea"/>
              </a:rPr>
              <a:t> </a:t>
            </a:r>
            <a:r>
              <a:rPr lang="ko-KR" altLang="en-US" sz="1600" b="0" i="0" u="none" strike="noStrike" baseline="0" dirty="0" err="1">
                <a:solidFill>
                  <a:srgbClr val="C00000"/>
                </a:solidFill>
                <a:latin typeface="+mn-ea"/>
              </a:rPr>
              <a:t>실젯값의</a:t>
            </a:r>
            <a:r>
              <a:rPr lang="ko-KR" altLang="en-US" sz="1600" b="0" i="0" u="none" strike="noStrike" baseline="0" dirty="0">
                <a:solidFill>
                  <a:srgbClr val="C00000"/>
                </a:solidFill>
                <a:latin typeface="+mn-ea"/>
              </a:rPr>
              <a:t> 차이가 없으므로 성능 우수</a:t>
            </a:r>
            <a:endParaRPr lang="ko-KR" altLang="en-US" sz="16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BEA3AA-4537-4793-A8F7-329B0DC9F223}"/>
              </a:ext>
            </a:extLst>
          </p:cNvPr>
          <p:cNvSpPr txBox="1"/>
          <p:nvPr/>
        </p:nvSpPr>
        <p:spPr>
          <a:xfrm>
            <a:off x="971600" y="1851670"/>
            <a:ext cx="72728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baseline="0" dirty="0">
                <a:solidFill>
                  <a:srgbClr val="005C4A"/>
                </a:solidFill>
                <a:latin typeface="+mn-ea"/>
              </a:rPr>
              <a:t>② RMSE(Root Mean Squared Error): 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+mn-ea"/>
              </a:rPr>
              <a:t>MSE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</a:rPr>
              <a:t>를 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+mn-ea"/>
              </a:rPr>
              <a:t>Root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</a:rPr>
              <a:t>로 처리한 값으로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+mn-ea"/>
              </a:rPr>
              <a:t>,</a:t>
            </a:r>
            <a:br>
              <a:rPr lang="en-US" altLang="ko-KR" sz="1800" b="0" i="0" u="none" strike="noStrike" baseline="0" dirty="0">
                <a:solidFill>
                  <a:srgbClr val="000000"/>
                </a:solidFill>
                <a:latin typeface="+mn-ea"/>
              </a:rPr>
            </a:b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ko-KR" sz="1800" b="0" i="0" u="none" strike="noStrike" baseline="0" dirty="0">
                <a:solidFill>
                  <a:srgbClr val="C00000"/>
                </a:solidFill>
                <a:latin typeface="+mn-ea"/>
              </a:rPr>
              <a:t>0</a:t>
            </a:r>
            <a:r>
              <a:rPr lang="ko-KR" altLang="en-US" sz="1800" b="0" i="0" u="none" strike="noStrike" baseline="0" dirty="0">
                <a:solidFill>
                  <a:srgbClr val="C00000"/>
                </a:solidFill>
                <a:latin typeface="+mn-ea"/>
              </a:rPr>
              <a:t>에 가까울수록 성능 우수</a:t>
            </a:r>
            <a:endParaRPr lang="ko-KR" altLang="en-US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CBC6E1-09F3-4E03-BB06-0E4CB449AFE8}"/>
              </a:ext>
            </a:extLst>
          </p:cNvPr>
          <p:cNvSpPr txBox="1"/>
          <p:nvPr/>
        </p:nvSpPr>
        <p:spPr>
          <a:xfrm>
            <a:off x="971600" y="3147814"/>
            <a:ext cx="7344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baseline="0" dirty="0">
                <a:solidFill>
                  <a:srgbClr val="005C4A"/>
                </a:solidFill>
                <a:latin typeface="+mn-ea"/>
              </a:rPr>
              <a:t>③ MAE(Mean Absolute Error): 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</a:rPr>
              <a:t>오차의 절댓값을 평균한 값으로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+mn-ea"/>
              </a:rPr>
              <a:t>, </a:t>
            </a:r>
            <a:br>
              <a:rPr lang="en-US" altLang="ko-KR" sz="1800" b="0" i="0" u="none" strike="noStrike" baseline="0" dirty="0">
                <a:solidFill>
                  <a:srgbClr val="000000"/>
                </a:solidFill>
                <a:latin typeface="+mn-ea"/>
              </a:rPr>
            </a:b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ko-KR" sz="1800" b="0" i="0" u="none" strike="noStrike" baseline="0" dirty="0">
                <a:solidFill>
                  <a:srgbClr val="C00000"/>
                </a:solidFill>
                <a:latin typeface="+mn-ea"/>
              </a:rPr>
              <a:t>0</a:t>
            </a:r>
            <a:r>
              <a:rPr lang="ko-KR" altLang="en-US" sz="1800" b="0" i="0" u="none" strike="noStrike" baseline="0" dirty="0">
                <a:solidFill>
                  <a:srgbClr val="C00000"/>
                </a:solidFill>
                <a:latin typeface="+mn-ea"/>
              </a:rPr>
              <a:t>에 가까울수록 성능 우수</a:t>
            </a:r>
            <a:endParaRPr lang="ko-KR" altLang="en-US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67511E5-390F-44F8-BCB7-768F8AD96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1203598"/>
            <a:ext cx="2068265" cy="52002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05186DD-77B5-4743-988B-ECAACAC73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715766"/>
            <a:ext cx="1152128" cy="21193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BCB4B53-BE5A-449D-9CAD-B7A19FE40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904" y="3795886"/>
            <a:ext cx="1952824" cy="48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77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93AC3F2-9855-4E8F-B887-94B9D1CB5490}"/>
              </a:ext>
            </a:extLst>
          </p:cNvPr>
          <p:cNvSpPr txBox="1"/>
          <p:nvPr/>
        </p:nvSpPr>
        <p:spPr>
          <a:xfrm>
            <a:off x="899592" y="771550"/>
            <a:ext cx="7753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800" b="1" i="0" u="none" strike="noStrike" baseline="0" dirty="0">
                <a:solidFill>
                  <a:srgbClr val="005C4A"/>
                </a:solidFill>
                <a:latin typeface="+mn-ea"/>
              </a:rPr>
              <a:t>④ R</a:t>
            </a:r>
            <a:r>
              <a:rPr lang="en-US" altLang="ko-KR" sz="800" b="1" i="0" u="none" strike="noStrike" baseline="0" dirty="0">
                <a:solidFill>
                  <a:srgbClr val="005C4A"/>
                </a:solidFill>
                <a:latin typeface="+mn-ea"/>
              </a:rPr>
              <a:t>2</a:t>
            </a:r>
            <a:r>
              <a:rPr lang="en-US" altLang="ko-KR" sz="1800" b="1" i="0" u="none" strike="noStrike" baseline="0" dirty="0">
                <a:solidFill>
                  <a:srgbClr val="005C4A"/>
                </a:solidFill>
                <a:latin typeface="+mn-ea"/>
              </a:rPr>
              <a:t>(R Squared, </a:t>
            </a:r>
            <a:r>
              <a:rPr lang="ko-KR" altLang="en-US" sz="1800" b="1" i="0" u="none" strike="noStrike" baseline="0" dirty="0">
                <a:solidFill>
                  <a:srgbClr val="005C4A"/>
                </a:solidFill>
                <a:latin typeface="+mn-ea"/>
              </a:rPr>
              <a:t>결정계수</a:t>
            </a:r>
            <a:r>
              <a:rPr lang="en-US" altLang="ko-KR" sz="1800" b="1" i="0" u="none" strike="noStrike" baseline="0" dirty="0">
                <a:solidFill>
                  <a:srgbClr val="005C4A"/>
                </a:solidFill>
                <a:latin typeface="+mn-ea"/>
              </a:rPr>
              <a:t>): 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</a:rPr>
              <a:t>적합한 정도를 재는 척도로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+mn-ea"/>
              </a:rPr>
              <a:t>,</a:t>
            </a:r>
            <a:br>
              <a:rPr lang="en-US" altLang="ko-KR" sz="1800" b="0" i="0" u="none" strike="noStrike" baseline="0" dirty="0">
                <a:solidFill>
                  <a:srgbClr val="000000"/>
                </a:solidFill>
                <a:latin typeface="+mn-ea"/>
              </a:rPr>
            </a:b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+mn-ea"/>
              </a:rPr>
              <a:t> 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  </a:t>
            </a:r>
            <a:r>
              <a:rPr lang="en-US" altLang="ko-KR" sz="1800" b="0" i="0" u="none" strike="noStrike" baseline="0" dirty="0">
                <a:solidFill>
                  <a:srgbClr val="C00000"/>
                </a:solidFill>
                <a:latin typeface="+mn-ea"/>
              </a:rPr>
              <a:t>1</a:t>
            </a:r>
            <a:r>
              <a:rPr lang="ko-KR" altLang="en-US" sz="1800" b="0" i="0" u="none" strike="noStrike" baseline="0" dirty="0">
                <a:solidFill>
                  <a:srgbClr val="C00000"/>
                </a:solidFill>
                <a:latin typeface="+mn-ea"/>
              </a:rPr>
              <a:t>에 가까울수록 성능이 우수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</a:rPr>
              <a:t>하고 </a:t>
            </a:r>
            <a:r>
              <a:rPr lang="en-US" altLang="ko-KR" sz="1800" b="0" i="0" u="none" strike="noStrike" baseline="0" dirty="0">
                <a:latin typeface="+mn-ea"/>
              </a:rPr>
              <a:t>0</a:t>
            </a:r>
            <a:r>
              <a:rPr lang="ko-KR" altLang="en-US" sz="1800" b="0" i="0" u="none" strike="noStrike" baseline="0" dirty="0">
                <a:latin typeface="+mn-ea"/>
              </a:rPr>
              <a:t>에 가까울수록 성능 저하</a:t>
            </a:r>
            <a:endParaRPr lang="ko-KR" altLang="en-US" dirty="0"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491629"/>
            <a:ext cx="6984776" cy="325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144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748760" y="1434480"/>
            <a:ext cx="7655805" cy="2793454"/>
          </a:xfrm>
          <a:prstGeom prst="roundRect">
            <a:avLst>
              <a:gd name="adj" fmla="val 5962"/>
            </a:avLst>
          </a:prstGeom>
          <a:solidFill>
            <a:srgbClr val="F2F9ED"/>
          </a:solidFill>
          <a:ln w="34925">
            <a:solidFill>
              <a:srgbClr val="ADDB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7584" y="1635646"/>
            <a:ext cx="7560840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100"/>
              </a:lnSpc>
            </a:pPr>
            <a:r>
              <a:rPr lang="en-US" altLang="ko-KR" spc="-100" dirty="0"/>
              <a:t>Orange3</a:t>
            </a:r>
            <a:r>
              <a:rPr lang="ko-KR" altLang="en-US" spc="-100" dirty="0"/>
              <a:t>를 활용하면 별도의 프로그래밍 없이도 </a:t>
            </a:r>
            <a:r>
              <a:rPr lang="en-US" altLang="ko-KR" spc="-100" dirty="0"/>
              <a:t>Orange3 </a:t>
            </a:r>
            <a:r>
              <a:rPr lang="ko-KR" altLang="en-US" spc="-100" dirty="0"/>
              <a:t>데이터를 가져와 </a:t>
            </a:r>
            <a:br>
              <a:rPr lang="en-US" altLang="ko-KR" spc="-100" dirty="0"/>
            </a:br>
            <a:r>
              <a:rPr lang="ko-KR" altLang="en-US" spc="-100" dirty="0"/>
              <a:t>처리하고 인공지능 모델을 만들어 평가까지 할 수 있었다</a:t>
            </a:r>
            <a:r>
              <a:rPr lang="en-US" altLang="ko-KR" spc="-100" dirty="0"/>
              <a:t>. </a:t>
            </a:r>
            <a:br>
              <a:rPr lang="en-US" altLang="ko-KR" spc="-100" dirty="0"/>
            </a:br>
            <a:r>
              <a:rPr lang="ko-KR" altLang="en-US" spc="-100" dirty="0"/>
              <a:t>또한 </a:t>
            </a:r>
            <a:r>
              <a:rPr lang="en-US" altLang="ko-KR" spc="-100" dirty="0"/>
              <a:t>Orange3 </a:t>
            </a:r>
            <a:r>
              <a:rPr lang="ko-KR" altLang="en-US" spc="-100" dirty="0"/>
              <a:t>데이터로 학습하고 예측 모델의 평가 지표 수치를 확인해 보니 전반적으로 성능이 우수한 것으로 나왔다</a:t>
            </a:r>
            <a:r>
              <a:rPr lang="en-US" altLang="ko-KR" spc="-100" dirty="0"/>
              <a:t>. </a:t>
            </a:r>
            <a:br>
              <a:rPr lang="en-US" altLang="ko-KR" spc="-100" dirty="0"/>
            </a:br>
            <a:r>
              <a:rPr lang="ko-KR" altLang="en-US" spc="-100" dirty="0"/>
              <a:t>이처럼 </a:t>
            </a:r>
            <a:r>
              <a:rPr lang="en-US" altLang="ko-KR" spc="-100" dirty="0"/>
              <a:t>Orange3</a:t>
            </a:r>
            <a:r>
              <a:rPr lang="ko-KR" altLang="en-US" spc="-100" dirty="0"/>
              <a:t>에는 인공지능 모델을 학습하고 평가하는 데 유용한 </a:t>
            </a:r>
            <a:br>
              <a:rPr lang="en-US" altLang="ko-KR" spc="-100" dirty="0"/>
            </a:br>
            <a:r>
              <a:rPr lang="ko-KR" altLang="en-US" spc="-100" dirty="0"/>
              <a:t>데이터가 많다</a:t>
            </a:r>
            <a:r>
              <a:rPr lang="en-US" altLang="ko-KR" spc="-100" dirty="0"/>
              <a:t>.</a:t>
            </a:r>
            <a:endParaRPr lang="ko-KR" altLang="en-US" spc="-100" dirty="0"/>
          </a:p>
        </p:txBody>
      </p:sp>
      <p:pic>
        <p:nvPicPr>
          <p:cNvPr id="5122" name="Picture 2" descr="C:\Users\PC\Desktop\정리하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15" y="1107474"/>
            <a:ext cx="1218193" cy="537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553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158152"/>
            <a:ext cx="9144000" cy="763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ko-KR" altLang="en-US" sz="4400" b="1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anose="020B0503020000020004" pitchFamily="50" charset="-127"/>
              </a:rPr>
              <a:t>감사합니다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3435846"/>
            <a:ext cx="1512167" cy="46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01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각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1593</Words>
  <Application>Microsoft Office PowerPoint</Application>
  <PresentationFormat>화면 슬라이드 쇼(16:9)</PresentationFormat>
  <Paragraphs>175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8" baseType="lpstr">
      <vt:lpstr>ITCGaramondStd-Lt</vt:lpstr>
      <vt:lpstr>TTChoucreambbangL</vt:lpstr>
      <vt:lpstr>YDVYGOStd33</vt:lpstr>
      <vt:lpstr>YDVYMjOStd33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PC</dc:creator>
  <cp:lastModifiedBy>PC</cp:lastModifiedBy>
  <cp:revision>169</cp:revision>
  <cp:lastPrinted>2021-11-23T02:37:31Z</cp:lastPrinted>
  <dcterms:created xsi:type="dcterms:W3CDTF">2021-11-22T04:32:39Z</dcterms:created>
  <dcterms:modified xsi:type="dcterms:W3CDTF">2023-05-19T01:54:24Z</dcterms:modified>
</cp:coreProperties>
</file>
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handoutMasterIdLst>
    <p:handoutMasterId r:id="rId50"/>
  </p:handoutMasterIdLst>
  <p:sldIdLst>
    <p:sldId id="257" r:id="rId2"/>
    <p:sldId id="256" r:id="rId3"/>
    <p:sldId id="258" r:id="rId4"/>
    <p:sldId id="290" r:id="rId5"/>
    <p:sldId id="260" r:id="rId6"/>
    <p:sldId id="261" r:id="rId7"/>
    <p:sldId id="295" r:id="rId8"/>
    <p:sldId id="316" r:id="rId9"/>
    <p:sldId id="317" r:id="rId10"/>
    <p:sldId id="318" r:id="rId11"/>
    <p:sldId id="262" r:id="rId12"/>
    <p:sldId id="298" r:id="rId13"/>
    <p:sldId id="263" r:id="rId14"/>
    <p:sldId id="319" r:id="rId15"/>
    <p:sldId id="299" r:id="rId16"/>
    <p:sldId id="266" r:id="rId17"/>
    <p:sldId id="320" r:id="rId18"/>
    <p:sldId id="339" r:id="rId19"/>
    <p:sldId id="270" r:id="rId20"/>
    <p:sldId id="269" r:id="rId21"/>
    <p:sldId id="321" r:id="rId22"/>
    <p:sldId id="288" r:id="rId23"/>
    <p:sldId id="322" r:id="rId24"/>
    <p:sldId id="323" r:id="rId25"/>
    <p:sldId id="324" r:id="rId26"/>
    <p:sldId id="325" r:id="rId27"/>
    <p:sldId id="326" r:id="rId28"/>
    <p:sldId id="327" r:id="rId29"/>
    <p:sldId id="328" r:id="rId30"/>
    <p:sldId id="329" r:id="rId31"/>
    <p:sldId id="330" r:id="rId32"/>
    <p:sldId id="331" r:id="rId33"/>
    <p:sldId id="332" r:id="rId34"/>
    <p:sldId id="286" r:id="rId35"/>
    <p:sldId id="333" r:id="rId36"/>
    <p:sldId id="289" r:id="rId37"/>
    <p:sldId id="334" r:id="rId38"/>
    <p:sldId id="284" r:id="rId39"/>
    <p:sldId id="309" r:id="rId40"/>
    <p:sldId id="315" r:id="rId41"/>
    <p:sldId id="335" r:id="rId42"/>
    <p:sldId id="336" r:id="rId43"/>
    <p:sldId id="337" r:id="rId44"/>
    <p:sldId id="338" r:id="rId45"/>
    <p:sldId id="272" r:id="rId46"/>
    <p:sldId id="301" r:id="rId47"/>
    <p:sldId id="276" r:id="rId48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971" userDrawn="1">
          <p15:clr>
            <a:srgbClr val="A4A3A4"/>
          </p15:clr>
        </p15:guide>
        <p15:guide id="3" pos="567" userDrawn="1">
          <p15:clr>
            <a:srgbClr val="A4A3A4"/>
          </p15:clr>
        </p15:guide>
        <p15:guide id="4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59E8F8B-492F-3667-A88A-45BDBEA5C428}" name="QP254" initials="Q" userId="QP254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957"/>
    <a:srgbClr val="81B56A"/>
    <a:srgbClr val="ED724A"/>
    <a:srgbClr val="FBCA3B"/>
    <a:srgbClr val="6492CC"/>
    <a:srgbClr val="FEE1D1"/>
    <a:srgbClr val="F7F7D5"/>
    <a:srgbClr val="F2F9ED"/>
    <a:srgbClr val="DC5F0D"/>
    <a:srgbClr val="33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72" autoAdjust="0"/>
    <p:restoredTop sz="94660"/>
  </p:normalViewPr>
  <p:slideViewPr>
    <p:cSldViewPr>
      <p:cViewPr varScale="1">
        <p:scale>
          <a:sx n="203" d="100"/>
          <a:sy n="203" d="100"/>
        </p:scale>
        <p:origin x="984" y="174"/>
      </p:cViewPr>
      <p:guideLst>
        <p:guide orient="horz" pos="713"/>
        <p:guide pos="2971"/>
        <p:guide pos="56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102" d="100"/>
          <a:sy n="102" d="100"/>
        </p:scale>
        <p:origin x="-255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55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C17AAF-FE03-4DAC-946A-F1B0D37E46A6}" type="datetimeFigureOut">
              <a:rPr lang="ko-KR" altLang="en-US" smtClean="0"/>
              <a:t>2023-05-19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4DD33-6877-436E-99DE-74E15368C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73474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91B8CC-F766-4FCC-A153-AEBEB9DD577B}" type="datetimeFigureOut">
              <a:rPr lang="ko-KR" altLang="en-US" smtClean="0"/>
              <a:t>2023-05-19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29B661-B010-4F37-BD6C-DD220BF712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8159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29B661-B010-4F37-BD6C-DD220BF71209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9441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Pr>
        <a:gradFill>
          <a:gsLst>
            <a:gs pos="0">
              <a:srgbClr val="CAD900"/>
            </a:gs>
            <a:gs pos="100000">
              <a:srgbClr val="EBFDA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PC\Desktop\adheherh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8566" y="2574197"/>
            <a:ext cx="2493834" cy="2229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PC\Desktop\제목 없음-1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6925" y="372277"/>
            <a:ext cx="4248471" cy="4431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C:\Users\PC\Desktop\aehdzbb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948" y="3391469"/>
            <a:ext cx="1983546" cy="149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C:\Users\PC\Desktop\20220607_164334.jp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1090559"/>
            <a:ext cx="459358" cy="501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C:\Users\PC\Desktop\20220607_164334.jp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1096526"/>
            <a:ext cx="459358" cy="501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368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PC\Desktop\A9RA0F1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44" b="32737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PC\Desktop\A9RA0F3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263" y="354013"/>
            <a:ext cx="4435475" cy="443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3973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bg>
      <p:bgPr>
        <a:solidFill>
          <a:srgbClr val="CDDF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27">
            <a:extLst>
              <a:ext uri="{FF2B5EF4-FFF2-40B4-BE49-F238E27FC236}">
                <a16:creationId xmlns:a16="http://schemas.microsoft.com/office/drawing/2014/main" id="{00195A94-F6C1-48C2-858D-13C9EDCF929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34371" y="4922870"/>
            <a:ext cx="364106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Copyrightⓒ2021</a:t>
            </a:r>
            <a:r>
              <a:rPr kumimoji="0" lang="en-US" altLang="ko-KR" sz="900" baseline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900" spc="-150" baseline="0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씨마스</a:t>
            </a:r>
            <a:r>
              <a:rPr kumimoji="0" lang="en-US" altLang="ko-KR" sz="900" baseline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All Rights Reserved. </a:t>
            </a:r>
            <a:endParaRPr kumimoji="0" lang="ko-KR" altLang="en-US" sz="900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모서리가 둥근 직사각형 10"/>
          <p:cNvSpPr/>
          <p:nvPr userDrawn="1"/>
        </p:nvSpPr>
        <p:spPr>
          <a:xfrm>
            <a:off x="292187" y="185961"/>
            <a:ext cx="8568952" cy="4752528"/>
          </a:xfrm>
          <a:prstGeom prst="roundRect">
            <a:avLst>
              <a:gd name="adj" fmla="val 524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076" name="Picture 4" descr="C:\Users\PC\Desktop\A9RA0FA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555526"/>
            <a:ext cx="4578698" cy="50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7728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bg>
      <p:bgPr>
        <a:solidFill>
          <a:srgbClr val="CDDF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27">
            <a:extLst>
              <a:ext uri="{FF2B5EF4-FFF2-40B4-BE49-F238E27FC236}">
                <a16:creationId xmlns:a16="http://schemas.microsoft.com/office/drawing/2014/main" id="{00195A94-F6C1-48C2-858D-13C9EDCF929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34371" y="4922870"/>
            <a:ext cx="364106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Copyrightⓒ2021</a:t>
            </a:r>
            <a:r>
              <a:rPr kumimoji="0" lang="en-US" altLang="ko-KR" sz="900" baseline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900" spc="-150" baseline="0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씨마스</a:t>
            </a:r>
            <a:r>
              <a:rPr kumimoji="0" lang="en-US" altLang="ko-KR" sz="900" baseline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All Rights Reserved. </a:t>
            </a:r>
            <a:endParaRPr kumimoji="0" lang="ko-KR" altLang="en-US" sz="900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모서리가 둥근 직사각형 10"/>
          <p:cNvSpPr/>
          <p:nvPr userDrawn="1"/>
        </p:nvSpPr>
        <p:spPr>
          <a:xfrm>
            <a:off x="292187" y="185961"/>
            <a:ext cx="8568952" cy="4752528"/>
          </a:xfrm>
          <a:prstGeom prst="roundRect">
            <a:avLst>
              <a:gd name="adj" fmla="val 524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4996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bg>
      <p:bgPr>
        <a:solidFill>
          <a:srgbClr val="CDDF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27">
            <a:extLst>
              <a:ext uri="{FF2B5EF4-FFF2-40B4-BE49-F238E27FC236}">
                <a16:creationId xmlns:a16="http://schemas.microsoft.com/office/drawing/2014/main" id="{00195A94-F6C1-48C2-858D-13C9EDCF929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34371" y="4922870"/>
            <a:ext cx="364106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Copyrightⓒ2021</a:t>
            </a:r>
            <a:r>
              <a:rPr kumimoji="0" lang="en-US" altLang="ko-KR" sz="900" baseline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900" spc="-150" baseline="0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씨마스</a:t>
            </a:r>
            <a:r>
              <a:rPr kumimoji="0" lang="en-US" altLang="ko-KR" sz="900" baseline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All Rights Reserved. </a:t>
            </a:r>
            <a:endParaRPr kumimoji="0" lang="ko-KR" altLang="en-US" sz="900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모서리가 둥근 직사각형 10"/>
          <p:cNvSpPr/>
          <p:nvPr userDrawn="1"/>
        </p:nvSpPr>
        <p:spPr>
          <a:xfrm>
            <a:off x="292187" y="185961"/>
            <a:ext cx="8568952" cy="4752528"/>
          </a:xfrm>
          <a:prstGeom prst="roundRect">
            <a:avLst>
              <a:gd name="adj" fmla="val 524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9218" name="Picture 2" descr="C:\Users\PC\Desktop\20211122_162623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3"/>
          <a:stretch/>
        </p:blipFill>
        <p:spPr bwMode="auto">
          <a:xfrm>
            <a:off x="660710" y="489767"/>
            <a:ext cx="3818422" cy="569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직선 연결선 4"/>
          <p:cNvCxnSpPr/>
          <p:nvPr userDrawn="1"/>
        </p:nvCxnSpPr>
        <p:spPr>
          <a:xfrm>
            <a:off x="4443412" y="843558"/>
            <a:ext cx="3945012" cy="0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headEnd type="none"/>
            <a:tailEnd type="oval" w="lg" len="lg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630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및 내용">
    <p:bg>
      <p:bgPr>
        <a:solidFill>
          <a:srgbClr val="CDDF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27">
            <a:extLst>
              <a:ext uri="{FF2B5EF4-FFF2-40B4-BE49-F238E27FC236}">
                <a16:creationId xmlns:a16="http://schemas.microsoft.com/office/drawing/2014/main" id="{00195A94-F6C1-48C2-858D-13C9EDCF929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34371" y="4922870"/>
            <a:ext cx="364106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Copyrightⓒ2021</a:t>
            </a:r>
            <a:r>
              <a:rPr kumimoji="0" lang="en-US" altLang="ko-KR" sz="900" baseline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900" spc="-150" baseline="0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씨마스</a:t>
            </a:r>
            <a:r>
              <a:rPr kumimoji="0" lang="en-US" altLang="ko-KR" sz="900" baseline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All Rights Reserved. </a:t>
            </a:r>
            <a:endParaRPr kumimoji="0" lang="ko-KR" altLang="en-US" sz="900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모서리가 둥근 직사각형 10"/>
          <p:cNvSpPr/>
          <p:nvPr userDrawn="1"/>
        </p:nvSpPr>
        <p:spPr>
          <a:xfrm>
            <a:off x="292187" y="185961"/>
            <a:ext cx="8568952" cy="4752528"/>
          </a:xfrm>
          <a:prstGeom prst="roundRect">
            <a:avLst>
              <a:gd name="adj" fmla="val 524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242" name="Picture 2" descr="C:\Users\PC\Desktop\20211122_164015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1" y="922346"/>
            <a:ext cx="3096344" cy="2585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PC\Desktop\20211122_164015.jpg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3" b="-1"/>
          <a:stretch/>
        </p:blipFill>
        <p:spPr bwMode="auto">
          <a:xfrm>
            <a:off x="611561" y="2882280"/>
            <a:ext cx="3096344" cy="1856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 userDrawn="1"/>
        </p:nvSpPr>
        <p:spPr>
          <a:xfrm>
            <a:off x="564119" y="569814"/>
            <a:ext cx="4166753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ko-KR" sz="3200" b="1" spc="-150" dirty="0">
                <a:solidFill>
                  <a:srgbClr val="0070C0"/>
                </a:solidFill>
              </a:rPr>
              <a:t>AI</a:t>
            </a:r>
            <a:r>
              <a:rPr lang="ko-KR" altLang="en-US" sz="2000" b="1" spc="-150" dirty="0">
                <a:solidFill>
                  <a:srgbClr val="0070C0"/>
                </a:solidFill>
              </a:rPr>
              <a:t>랑</a:t>
            </a:r>
            <a:r>
              <a:rPr lang="ko-KR" altLang="en-US" sz="2400" b="1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2000" b="1" spc="-150" dirty="0">
                <a:solidFill>
                  <a:srgbClr val="2AA79F"/>
                </a:solidFill>
              </a:rPr>
              <a:t>친해지기</a:t>
            </a:r>
            <a:endParaRPr lang="ko-KR" altLang="en-US" sz="2400" b="1" spc="-150" dirty="0">
              <a:solidFill>
                <a:srgbClr val="2AA79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496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제목 및 내용">
    <p:bg>
      <p:bgPr>
        <a:solidFill>
          <a:srgbClr val="CDDF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27">
            <a:extLst>
              <a:ext uri="{FF2B5EF4-FFF2-40B4-BE49-F238E27FC236}">
                <a16:creationId xmlns:a16="http://schemas.microsoft.com/office/drawing/2014/main" id="{00195A94-F6C1-48C2-858D-13C9EDCF929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34371" y="4922870"/>
            <a:ext cx="364106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Copyrightⓒ2021</a:t>
            </a:r>
            <a:r>
              <a:rPr kumimoji="0" lang="en-US" altLang="ko-KR" sz="900" baseline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900" spc="-150" baseline="0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씨마스</a:t>
            </a:r>
            <a:r>
              <a:rPr kumimoji="0" lang="en-US" altLang="ko-KR" sz="900" baseline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All Rights Reserved. </a:t>
            </a:r>
            <a:endParaRPr kumimoji="0" lang="ko-KR" altLang="en-US" sz="900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모서리가 둥근 직사각형 10"/>
          <p:cNvSpPr/>
          <p:nvPr userDrawn="1"/>
        </p:nvSpPr>
        <p:spPr>
          <a:xfrm>
            <a:off x="292187" y="185961"/>
            <a:ext cx="8568952" cy="4752528"/>
          </a:xfrm>
          <a:prstGeom prst="roundRect">
            <a:avLst>
              <a:gd name="adj" fmla="val 524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074" name="Picture 2" descr="C:\Users\PC\Desktop\20211206_154520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909" y="259675"/>
            <a:ext cx="8305965" cy="4049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 userDrawn="1"/>
        </p:nvSpPr>
        <p:spPr>
          <a:xfrm>
            <a:off x="561323" y="626972"/>
            <a:ext cx="1044116" cy="675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2400"/>
              </a:lnSpc>
            </a:pPr>
            <a:r>
              <a:rPr lang="ko-KR" altLang="en-US" sz="1600" b="1" spc="-150" dirty="0">
                <a:solidFill>
                  <a:srgbClr val="023040"/>
                </a:solidFill>
              </a:rPr>
              <a:t>전문가</a:t>
            </a:r>
            <a:endParaRPr lang="en-US" altLang="ko-KR" sz="1600" b="1" spc="-150" dirty="0">
              <a:solidFill>
                <a:srgbClr val="023040"/>
              </a:solidFill>
            </a:endParaRPr>
          </a:p>
          <a:p>
            <a:pPr algn="r">
              <a:lnSpc>
                <a:spcPts val="2400"/>
              </a:lnSpc>
            </a:pPr>
            <a:r>
              <a:rPr lang="en-US" altLang="ko-KR" sz="1600" b="1" spc="-150" baseline="0" dirty="0">
                <a:solidFill>
                  <a:srgbClr val="023040"/>
                </a:solidFill>
              </a:rPr>
              <a:t>   </a:t>
            </a:r>
            <a:r>
              <a:rPr lang="ko-KR" altLang="en-US" sz="1600" b="1" spc="-150" dirty="0">
                <a:solidFill>
                  <a:srgbClr val="023040"/>
                </a:solidFill>
              </a:rPr>
              <a:t>되기</a:t>
            </a:r>
          </a:p>
        </p:txBody>
      </p:sp>
    </p:spTree>
    <p:extLst>
      <p:ext uri="{BB962C8B-B14F-4D97-AF65-F5344CB8AC3E}">
        <p14:creationId xmlns:p14="http://schemas.microsoft.com/office/powerpoint/2010/main" val="1681205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및 내용">
    <p:bg>
      <p:bgPr>
        <a:solidFill>
          <a:srgbClr val="CDDF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27">
            <a:extLst>
              <a:ext uri="{FF2B5EF4-FFF2-40B4-BE49-F238E27FC236}">
                <a16:creationId xmlns:a16="http://schemas.microsoft.com/office/drawing/2014/main" id="{00195A94-F6C1-48C2-858D-13C9EDCF929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34371" y="4922870"/>
            <a:ext cx="364106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Copyrightⓒ2021</a:t>
            </a:r>
            <a:r>
              <a:rPr kumimoji="0" lang="en-US" altLang="ko-KR" sz="900" baseline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900" spc="-150" baseline="0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씨마스</a:t>
            </a:r>
            <a:r>
              <a:rPr kumimoji="0" lang="en-US" altLang="ko-KR" sz="900" baseline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All Rights Reserved. </a:t>
            </a:r>
            <a:endParaRPr kumimoji="0" lang="ko-KR" altLang="en-US" sz="900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모서리가 둥근 직사각형 10"/>
          <p:cNvSpPr/>
          <p:nvPr userDrawn="1"/>
        </p:nvSpPr>
        <p:spPr>
          <a:xfrm>
            <a:off x="292187" y="185961"/>
            <a:ext cx="8568952" cy="4752528"/>
          </a:xfrm>
          <a:prstGeom prst="roundRect">
            <a:avLst>
              <a:gd name="adj" fmla="val 524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모서리가 둥근 직사각형 3"/>
          <p:cNvSpPr/>
          <p:nvPr userDrawn="1"/>
        </p:nvSpPr>
        <p:spPr>
          <a:xfrm>
            <a:off x="748760" y="1434480"/>
            <a:ext cx="7655805" cy="3225502"/>
          </a:xfrm>
          <a:prstGeom prst="roundRect">
            <a:avLst>
              <a:gd name="adj" fmla="val 5962"/>
            </a:avLst>
          </a:prstGeom>
          <a:solidFill>
            <a:srgbClr val="E4ED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6" descr="C:\Users\PC\Desktop\dahaher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133" y="1107473"/>
            <a:ext cx="1152128" cy="509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1423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PC\Desktop\A9RA0F1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44" b="32737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3" descr="C:\Users\PC\Desktop\A9RA0F3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263" y="354013"/>
            <a:ext cx="4435475" cy="443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직사각형 7"/>
          <p:cNvSpPr/>
          <p:nvPr userDrawn="1"/>
        </p:nvSpPr>
        <p:spPr>
          <a:xfrm>
            <a:off x="4211960" y="1203598"/>
            <a:ext cx="792088" cy="5040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0024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4211960" y="1203598"/>
            <a:ext cx="792088" cy="5040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3781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3897F-199E-4F49-AA54-E877A67F5BFF}" type="datetimeFigureOut">
              <a:rPr lang="ko-KR" altLang="en-US" smtClean="0"/>
              <a:t>2023-05-19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F2706-E937-4004-98DD-DF74E81139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4122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49" r:id="rId2"/>
    <p:sldLayoutId id="2147483660" r:id="rId3"/>
    <p:sldLayoutId id="2147483661" r:id="rId4"/>
    <p:sldLayoutId id="2147483663" r:id="rId5"/>
    <p:sldLayoutId id="2147483664" r:id="rId6"/>
    <p:sldLayoutId id="2147483669" r:id="rId7"/>
    <p:sldLayoutId id="2147483666" r:id="rId8"/>
    <p:sldLayoutId id="2147483667" r:id="rId9"/>
    <p:sldLayoutId id="2147483655" r:id="rId10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0tW5Vf" TargetMode="External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7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4.jpeg"/><Relationship Id="rId4" Type="http://schemas.openxmlformats.org/officeDocument/2006/relationships/image" Target="../media/image63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9.jpe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emf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9025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45286" y="711567"/>
            <a:ext cx="5565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b="1" dirty="0">
                <a:solidFill>
                  <a:srgbClr val="78B832"/>
                </a:solidFill>
                <a:latin typeface="+mj-lt"/>
                <a:ea typeface="맑은 고딕" panose="020B0503020000020004" pitchFamily="50" charset="-127"/>
              </a:rPr>
              <a:t>8</a:t>
            </a:r>
            <a:endParaRPr lang="ko-KR" altLang="en-US" sz="5000" b="1" dirty="0">
              <a:solidFill>
                <a:srgbClr val="78B832"/>
              </a:solidFill>
              <a:latin typeface="+mj-lt"/>
              <a:ea typeface="맑은 고딕" panose="020B050302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670318"/>
            <a:ext cx="9144000" cy="147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00"/>
              </a:lnSpc>
            </a:pPr>
            <a:r>
              <a:rPr lang="ko-KR" altLang="en-US" sz="3800" b="1" spc="-250" dirty="0">
                <a:solidFill>
                  <a:srgbClr val="619428"/>
                </a:solidFill>
                <a:latin typeface="+mj-lt"/>
                <a:ea typeface="맑은 고딕" panose="020B0503020000020004" pitchFamily="50" charset="-127"/>
              </a:rPr>
              <a:t>대기 오염 </a:t>
            </a:r>
            <a:r>
              <a:rPr lang="ko-KR" altLang="en-US" sz="3800" b="1" spc="-250" dirty="0">
                <a:latin typeface="+mj-lt"/>
                <a:ea typeface="맑은 고딕" panose="020B0503020000020004" pitchFamily="50" charset="-127"/>
              </a:rPr>
              <a:t>예측을</a:t>
            </a:r>
            <a:br>
              <a:rPr lang="en-US" altLang="ko-KR" sz="3800" b="1" spc="-250" dirty="0">
                <a:latin typeface="+mj-lt"/>
                <a:ea typeface="맑은 고딕" panose="020B0503020000020004" pitchFamily="50" charset="-127"/>
              </a:rPr>
            </a:br>
            <a:r>
              <a:rPr lang="ko-KR" altLang="en-US" sz="3800" b="1" spc="-250" dirty="0">
                <a:latin typeface="+mj-lt"/>
                <a:ea typeface="맑은 고딕" panose="020B0503020000020004" pitchFamily="50" charset="-127"/>
              </a:rPr>
              <a:t>부탁해</a:t>
            </a:r>
            <a:r>
              <a:rPr lang="en-US" altLang="ko-KR" sz="3800" b="1" spc="-250" dirty="0">
                <a:latin typeface="+mj-lt"/>
                <a:ea typeface="맑은 고딕" panose="020B0503020000020004" pitchFamily="50" charset="-127"/>
              </a:rPr>
              <a:t>!</a:t>
            </a:r>
            <a:endParaRPr lang="ko-KR" altLang="en-US" sz="3800" b="1" spc="-250" dirty="0">
              <a:latin typeface="+mj-lt"/>
              <a:ea typeface="맑은 고딕" panose="020B050302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-4584" y="3298372"/>
            <a:ext cx="9144000" cy="720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altLang="ko-KR" sz="1400" spc="-100" dirty="0">
                <a:latin typeface="+mn-ea"/>
              </a:rPr>
              <a:t>Random Forest</a:t>
            </a:r>
            <a:r>
              <a:rPr lang="ko-KR" altLang="en-US" sz="1400" spc="-100" dirty="0">
                <a:latin typeface="+mn-ea"/>
              </a:rPr>
              <a:t>를 사용하여 서울의 초미세먼지</a:t>
            </a:r>
          </a:p>
          <a:p>
            <a:pPr algn="ctr">
              <a:lnSpc>
                <a:spcPts val="2600"/>
              </a:lnSpc>
            </a:pPr>
            <a:r>
              <a:rPr lang="ko-KR" altLang="en-US" sz="1400" spc="-100" dirty="0">
                <a:latin typeface="+mn-ea"/>
              </a:rPr>
              <a:t>정도를 예측해 보자</a:t>
            </a:r>
            <a:r>
              <a:rPr lang="en-US" altLang="ko-KR" sz="1400" spc="-100" dirty="0">
                <a:latin typeface="+mn-ea"/>
              </a:rPr>
              <a:t>.</a:t>
            </a:r>
            <a:endParaRPr lang="ko-KR" altLang="en-US" sz="1400" spc="-1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31174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74373" y="371881"/>
            <a:ext cx="20297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ko-KR" altLang="en-US" sz="1600" spc="-100" dirty="0"/>
              <a:t>데이터 종류</a:t>
            </a:r>
            <a:r>
              <a:rPr lang="en-US" altLang="ko-KR" sz="1600" spc="-100" dirty="0"/>
              <a:t>:</a:t>
            </a:r>
          </a:p>
          <a:p>
            <a:pPr algn="ctr">
              <a:lnSpc>
                <a:spcPts val="3600"/>
              </a:lnSpc>
            </a:pPr>
            <a:r>
              <a:rPr lang="ko-KR" altLang="en-US" sz="2800" b="1" spc="-100" dirty="0">
                <a:solidFill>
                  <a:srgbClr val="FB5D05"/>
                </a:solidFill>
              </a:rPr>
              <a:t>정형 데이터</a:t>
            </a:r>
            <a:endParaRPr lang="ko-KR" altLang="en-US" b="1" spc="-100" dirty="0">
              <a:solidFill>
                <a:srgbClr val="FB5D05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99992" y="358552"/>
            <a:ext cx="33843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ko-KR" altLang="en-US" sz="1600" spc="-100" dirty="0"/>
              <a:t>사용하는 모델</a:t>
            </a:r>
            <a:r>
              <a:rPr lang="en-US" altLang="ko-KR" sz="1600" spc="-100" dirty="0"/>
              <a:t>:</a:t>
            </a:r>
          </a:p>
          <a:p>
            <a:pPr algn="ctr">
              <a:lnSpc>
                <a:spcPts val="3600"/>
              </a:lnSpc>
            </a:pPr>
            <a:r>
              <a:rPr lang="en-US" altLang="ko-KR" sz="2800" b="1" spc="-100" dirty="0">
                <a:solidFill>
                  <a:srgbClr val="FB5D05"/>
                </a:solidFill>
              </a:rPr>
              <a:t>Random Forest</a:t>
            </a:r>
            <a:endParaRPr lang="ko-KR" altLang="en-US" sz="2800" b="1" spc="-100" dirty="0">
              <a:solidFill>
                <a:srgbClr val="FB5D05"/>
              </a:solidFill>
            </a:endParaRPr>
          </a:p>
        </p:txBody>
      </p:sp>
      <p:pic>
        <p:nvPicPr>
          <p:cNvPr id="7" name="그림 6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5D7EDCB8-4D22-40BA-ACDD-2CFD88CE1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1779662"/>
            <a:ext cx="2027487" cy="2747075"/>
          </a:xfrm>
          <a:prstGeom prst="rect">
            <a:avLst/>
          </a:prstGeom>
        </p:spPr>
      </p:pic>
      <p:pic>
        <p:nvPicPr>
          <p:cNvPr id="5" name="그림 4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F6E21330-9599-497F-AB4D-8ABFCCE14C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1566" y="2499742"/>
            <a:ext cx="3641227" cy="1979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544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/>
        </p:nvSpPr>
        <p:spPr>
          <a:xfrm>
            <a:off x="744097" y="1419622"/>
            <a:ext cx="7655805" cy="3225502"/>
          </a:xfrm>
          <a:prstGeom prst="roundRect">
            <a:avLst>
              <a:gd name="adj" fmla="val 5962"/>
            </a:avLst>
          </a:prstGeom>
          <a:solidFill>
            <a:srgbClr val="FEF5E3"/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634673" y="384676"/>
            <a:ext cx="4523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sz="3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ko-KR" altLang="en-US" sz="36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5141" y="537104"/>
            <a:ext cx="4166753" cy="413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sz="2200" b="1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해결해야</a:t>
            </a:r>
            <a:r>
              <a:rPr lang="en-US" altLang="ko-KR" sz="2200" b="1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2200" b="1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할 문제는 무엇일까</a:t>
            </a:r>
            <a:r>
              <a:rPr lang="en-US" altLang="ko-KR" sz="2200" b="1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?</a:t>
            </a:r>
            <a:endParaRPr lang="ko-KR" altLang="en-US" sz="2200" b="1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9" name="Picture 2" descr="C:\Users\PC\Desktop\문제 상황.png">
            <a:extLst>
              <a:ext uri="{FF2B5EF4-FFF2-40B4-BE49-F238E27FC236}">
                <a16:creationId xmlns:a16="http://schemas.microsoft.com/office/drawing/2014/main" id="{83096BF7-3BD5-49C0-B055-8702947EC9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133" y="1119116"/>
            <a:ext cx="1152128" cy="48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8C29520-43A2-44B3-8A8C-BBFB13DBBE1B}"/>
              </a:ext>
            </a:extLst>
          </p:cNvPr>
          <p:cNvSpPr txBox="1"/>
          <p:nvPr/>
        </p:nvSpPr>
        <p:spPr>
          <a:xfrm>
            <a:off x="971599" y="1851670"/>
            <a:ext cx="7200800" cy="2477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ts val="3100"/>
              </a:lnSpc>
              <a:defRPr spc="-100"/>
            </a:lvl1pPr>
          </a:lstStyle>
          <a:p>
            <a:r>
              <a:rPr lang="ko-KR" altLang="en-US" dirty="0"/>
              <a:t>대기 오염</a:t>
            </a:r>
            <a:r>
              <a:rPr lang="en-US" altLang="ko-KR" dirty="0"/>
              <a:t>(</a:t>
            </a:r>
            <a:r>
              <a:rPr lang="ko-KR" altLang="en-US" dirty="0"/>
              <a:t>大氣汚染</a:t>
            </a:r>
            <a:r>
              <a:rPr lang="en-US" altLang="ko-KR" dirty="0"/>
              <a:t>, Air pollution)</a:t>
            </a:r>
            <a:r>
              <a:rPr lang="ko-KR" altLang="en-US" dirty="0"/>
              <a:t>은 공장의 매연</a:t>
            </a:r>
            <a:r>
              <a:rPr lang="en-US" altLang="ko-KR" dirty="0"/>
              <a:t>, </a:t>
            </a:r>
            <a:r>
              <a:rPr lang="ko-KR" altLang="en-US" dirty="0"/>
              <a:t>자동차 배기가스 등의 인간 활동으로 인한 대기상의 환경 오염을 말한다</a:t>
            </a:r>
            <a:r>
              <a:rPr lang="en-US" altLang="ko-KR" dirty="0"/>
              <a:t>. </a:t>
            </a:r>
            <a:r>
              <a:rPr lang="ko-KR" altLang="en-US" dirty="0"/>
              <a:t>미국 질병 통제예방센터</a:t>
            </a:r>
            <a:r>
              <a:rPr lang="en-US" altLang="ko-KR" dirty="0"/>
              <a:t>(CDC)</a:t>
            </a:r>
            <a:r>
              <a:rPr lang="ko-KR" altLang="en-US" dirty="0"/>
              <a:t>의 연구에 따르면 대기 오염 증가가 암</a:t>
            </a:r>
            <a:r>
              <a:rPr lang="en-US" altLang="ko-KR" dirty="0"/>
              <a:t>, </a:t>
            </a:r>
            <a:r>
              <a:rPr lang="ko-KR" altLang="en-US" dirty="0"/>
              <a:t>심장 질환</a:t>
            </a:r>
            <a:r>
              <a:rPr lang="en-US" altLang="ko-KR" dirty="0"/>
              <a:t>, </a:t>
            </a:r>
            <a:r>
              <a:rPr lang="ko-KR" altLang="en-US" dirty="0"/>
              <a:t>폐렴</a:t>
            </a:r>
            <a:r>
              <a:rPr lang="en-US" altLang="ko-KR" dirty="0"/>
              <a:t>, </a:t>
            </a:r>
            <a:r>
              <a:rPr lang="ko-KR" altLang="en-US" dirty="0" err="1"/>
              <a:t>저체중</a:t>
            </a:r>
            <a:r>
              <a:rPr lang="ko-KR" altLang="en-US" dirty="0"/>
              <a:t> 등의 건강 문제와 함께 판단 오류</a:t>
            </a:r>
            <a:r>
              <a:rPr lang="en-US" altLang="ko-KR" dirty="0"/>
              <a:t>, </a:t>
            </a:r>
            <a:r>
              <a:rPr lang="ko-KR" altLang="en-US" dirty="0"/>
              <a:t>정신 건강 문제</a:t>
            </a:r>
            <a:r>
              <a:rPr lang="en-US" altLang="ko-KR" dirty="0"/>
              <a:t>,</a:t>
            </a:r>
            <a:r>
              <a:rPr lang="ko-KR" altLang="en-US" dirty="0"/>
              <a:t>학업 부진</a:t>
            </a:r>
            <a:r>
              <a:rPr lang="en-US" altLang="ko-KR" dirty="0"/>
              <a:t>, </a:t>
            </a:r>
            <a:r>
              <a:rPr lang="ko-KR" altLang="en-US" dirty="0"/>
              <a:t>높은 </a:t>
            </a:r>
            <a:r>
              <a:rPr lang="ko-KR" altLang="en-US" dirty="0" err="1"/>
              <a:t>범죄율</a:t>
            </a:r>
            <a:r>
              <a:rPr lang="ko-KR" altLang="en-US" dirty="0"/>
              <a:t> 등과 관련 있다고 한다</a:t>
            </a:r>
            <a:r>
              <a:rPr lang="en-US" altLang="ko-KR" dirty="0"/>
              <a:t>. </a:t>
            </a:r>
            <a:r>
              <a:rPr lang="ko-KR" altLang="en-US" dirty="0"/>
              <a:t>대기 오염으로 인해 발생할 수 있는 이러한 문제를 예방할 방안은 없을까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038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사각형 설명선 1"/>
          <p:cNvSpPr/>
          <p:nvPr/>
        </p:nvSpPr>
        <p:spPr>
          <a:xfrm>
            <a:off x="772720" y="492132"/>
            <a:ext cx="5095424" cy="1989321"/>
          </a:xfrm>
          <a:prstGeom prst="wedgeRoundRectCallout">
            <a:avLst>
              <a:gd name="adj1" fmla="val 38643"/>
              <a:gd name="adj2" fmla="val 77532"/>
              <a:gd name="adj3" fmla="val 16667"/>
            </a:avLst>
          </a:prstGeom>
          <a:solidFill>
            <a:srgbClr val="FCDB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C150EC-4F6F-4B06-A01E-9CF3FF55318B}"/>
              </a:ext>
            </a:extLst>
          </p:cNvPr>
          <p:cNvSpPr txBox="1"/>
          <p:nvPr/>
        </p:nvSpPr>
        <p:spPr>
          <a:xfrm>
            <a:off x="872160" y="627534"/>
            <a:ext cx="4896544" cy="1711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just">
              <a:lnSpc>
                <a:spcPts val="4400"/>
              </a:lnSpc>
              <a:defRPr sz="2400" spc="-200"/>
            </a:lvl1pPr>
          </a:lstStyle>
          <a:p>
            <a:r>
              <a:rPr lang="ko-KR" altLang="en-US" dirty="0"/>
              <a:t>서울의 대기 오염 데이터를 분석 및 시각화한 후</a:t>
            </a:r>
            <a:r>
              <a:rPr lang="en-US" altLang="ko-KR" dirty="0"/>
              <a:t>, </a:t>
            </a:r>
            <a:r>
              <a:rPr lang="ko-KR" altLang="en-US" b="1" dirty="0">
                <a:solidFill>
                  <a:srgbClr val="619428"/>
                </a:solidFill>
              </a:rPr>
              <a:t>대기 오염 정도를 예측</a:t>
            </a:r>
            <a:r>
              <a:rPr lang="ko-KR" altLang="en-US" dirty="0"/>
              <a:t>할 수 있는 인공지능 모델을 만들어 보자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7" name="그림 6" descr="텍스트, 방, 도박장이(가) 표시된 사진&#10;&#10;자동 생성된 설명">
            <a:extLst>
              <a:ext uri="{FF2B5EF4-FFF2-40B4-BE49-F238E27FC236}">
                <a16:creationId xmlns:a16="http://schemas.microsoft.com/office/drawing/2014/main" id="{AA7939AE-D6AB-4DDC-B1F6-370F492447D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13" t="17147" r="20106" b="15504"/>
          <a:stretch/>
        </p:blipFill>
        <p:spPr>
          <a:xfrm>
            <a:off x="5580112" y="2283718"/>
            <a:ext cx="2989209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798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3CDC2BA1-7FC5-45D9-87A0-5F7F587CC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343" y="2144094"/>
            <a:ext cx="4427984" cy="236744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직사각형 1"/>
          <p:cNvSpPr/>
          <p:nvPr/>
        </p:nvSpPr>
        <p:spPr>
          <a:xfrm>
            <a:off x="634673" y="384676"/>
            <a:ext cx="4523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sz="3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ko-KR" altLang="en-US" sz="36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5141" y="537104"/>
            <a:ext cx="4166753" cy="413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sz="2200" b="1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데이터를 준비하자</a:t>
            </a:r>
            <a:r>
              <a:rPr lang="en-US" altLang="ko-KR" sz="2200" b="1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!</a:t>
            </a:r>
            <a:endParaRPr lang="ko-KR" altLang="en-US" sz="2200" b="1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3903" y="1178580"/>
            <a:ext cx="4166753" cy="399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b="1" spc="-150" dirty="0">
                <a:solidFill>
                  <a:srgbClr val="005957"/>
                </a:solidFill>
                <a:latin typeface="+mn-ea"/>
              </a:rPr>
              <a:t>외부 데이터 다운로드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663438" y="1285467"/>
            <a:ext cx="242503" cy="242503"/>
          </a:xfrm>
          <a:prstGeom prst="roundRect">
            <a:avLst>
              <a:gd name="adj" fmla="val 11376"/>
            </a:avLst>
          </a:prstGeom>
          <a:solidFill>
            <a:srgbClr val="0059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6732240" y="681014"/>
            <a:ext cx="1892154" cy="342417"/>
          </a:xfrm>
          <a:prstGeom prst="roundRect">
            <a:avLst/>
          </a:prstGeom>
          <a:solidFill>
            <a:srgbClr val="84AEE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6732240" y="339502"/>
            <a:ext cx="1728192" cy="333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ko-KR" altLang="en-US" sz="1400" b="1" spc="-150" dirty="0">
                <a:solidFill>
                  <a:srgbClr val="3A7DCE"/>
                </a:solidFill>
              </a:rPr>
              <a:t>데이터 다운로드 링크</a:t>
            </a:r>
            <a:endParaRPr lang="en-US" altLang="ko-KR" sz="1400" b="1" spc="-150" dirty="0">
              <a:solidFill>
                <a:srgbClr val="3A7DCE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69C946-E4BA-4BDB-AE55-0A67A8B9B41B}"/>
              </a:ext>
            </a:extLst>
          </p:cNvPr>
          <p:cNvSpPr txBox="1"/>
          <p:nvPr/>
        </p:nvSpPr>
        <p:spPr>
          <a:xfrm>
            <a:off x="922517" y="1600797"/>
            <a:ext cx="4572000" cy="410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342900" indent="-342900">
              <a:lnSpc>
                <a:spcPts val="2700"/>
              </a:lnSpc>
              <a:buFont typeface="+mj-ea"/>
              <a:buAutoNum type="circleNumDbPlain"/>
              <a:defRPr sz="1700" b="1" spc="-150"/>
            </a:lvl1pPr>
          </a:lstStyle>
          <a:p>
            <a:r>
              <a:rPr lang="ko-KR" altLang="en-US" spc="-100" dirty="0" err="1"/>
              <a:t>캐글</a:t>
            </a:r>
            <a:r>
              <a:rPr lang="ko-KR" altLang="en-US" spc="-100" dirty="0"/>
              <a:t> 데이터 다운로드하기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CB3BD81-11F4-487C-8A45-E7DB31290CE9}"/>
              </a:ext>
            </a:extLst>
          </p:cNvPr>
          <p:cNvSpPr txBox="1"/>
          <p:nvPr/>
        </p:nvSpPr>
        <p:spPr>
          <a:xfrm>
            <a:off x="1087041" y="4529484"/>
            <a:ext cx="4407476" cy="348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lnSpc>
                <a:spcPts val="2200"/>
              </a:lnSpc>
              <a:defRPr sz="1400" b="1" spc="-150">
                <a:solidFill>
                  <a:srgbClr val="3A7DCE"/>
                </a:solidFill>
              </a:defRPr>
            </a:lvl1pPr>
          </a:lstStyle>
          <a:p>
            <a:r>
              <a:rPr lang="ko-KR" altLang="en-US" dirty="0"/>
              <a:t>그림 </a:t>
            </a:r>
            <a:r>
              <a:rPr lang="en-US" altLang="ko-KR" dirty="0"/>
              <a:t>8-1 </a:t>
            </a:r>
            <a:r>
              <a:rPr lang="ko-KR" altLang="en-US" b="0" dirty="0" err="1">
                <a:solidFill>
                  <a:schemeClr val="tx1"/>
                </a:solidFill>
              </a:rPr>
              <a:t>캐글의</a:t>
            </a:r>
            <a:r>
              <a:rPr lang="ko-KR" altLang="en-US" b="0" dirty="0">
                <a:solidFill>
                  <a:schemeClr val="tx1"/>
                </a:solidFill>
              </a:rPr>
              <a:t> </a:t>
            </a:r>
            <a:r>
              <a:rPr lang="en-US" altLang="ko-KR" sz="1600" b="0" i="0" u="none" strike="noStrike" baseline="0" dirty="0">
                <a:solidFill>
                  <a:schemeClr val="tx1"/>
                </a:solidFill>
                <a:latin typeface="+mn-ea"/>
              </a:rPr>
              <a:t>Air Pollution in Seoul </a:t>
            </a:r>
            <a:r>
              <a:rPr lang="ko-KR" altLang="en-US" b="0" dirty="0">
                <a:solidFill>
                  <a:schemeClr val="tx1"/>
                </a:solidFill>
              </a:rPr>
              <a:t>데이터</a:t>
            </a:r>
          </a:p>
        </p:txBody>
      </p:sp>
      <p:sp>
        <p:nvSpPr>
          <p:cNvPr id="34" name="모서리가 둥근 직사각형 4">
            <a:extLst>
              <a:ext uri="{FF2B5EF4-FFF2-40B4-BE49-F238E27FC236}">
                <a16:creationId xmlns:a16="http://schemas.microsoft.com/office/drawing/2014/main" id="{BEF269BF-F9D5-4FB2-AFEF-B90712B9AE5E}"/>
              </a:ext>
            </a:extLst>
          </p:cNvPr>
          <p:cNvSpPr/>
          <p:nvPr/>
        </p:nvSpPr>
        <p:spPr>
          <a:xfrm>
            <a:off x="4343400" y="3010198"/>
            <a:ext cx="549823" cy="137616"/>
          </a:xfrm>
          <a:prstGeom prst="roundRect">
            <a:avLst>
              <a:gd name="adj" fmla="val 7199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21DF82-686E-4FD3-A7ED-88D9EFB1ED21}"/>
              </a:ext>
            </a:extLst>
          </p:cNvPr>
          <p:cNvSpPr txBox="1"/>
          <p:nvPr/>
        </p:nvSpPr>
        <p:spPr>
          <a:xfrm>
            <a:off x="5580112" y="2133684"/>
            <a:ext cx="3044282" cy="6540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600" b="0" i="0" u="none" strike="noStrike" spc="-150" baseline="0">
                <a:latin typeface="+mn-ea"/>
              </a:defRPr>
            </a:lvl1pPr>
          </a:lstStyle>
          <a:p>
            <a:r>
              <a:rPr lang="ko-KR" altLang="en-US" dirty="0" err="1"/>
              <a:t>캐글에서</a:t>
            </a:r>
            <a:r>
              <a:rPr lang="ko-KR" altLang="en-US" dirty="0"/>
              <a:t> ‘</a:t>
            </a:r>
            <a:r>
              <a:rPr lang="en-US" altLang="ko-KR" sz="1600" b="0" i="0" u="none" strike="noStrike" baseline="0" dirty="0">
                <a:solidFill>
                  <a:schemeClr val="tx1"/>
                </a:solidFill>
                <a:latin typeface="+mn-ea"/>
              </a:rPr>
              <a:t>Air Pollution in Seoul</a:t>
            </a:r>
            <a:r>
              <a:rPr lang="ko-KR" altLang="en-US" dirty="0"/>
              <a:t>’을 검색하여 데이터 다운로드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F20578-FC9A-464E-BCB2-20432B8DC191}"/>
              </a:ext>
            </a:extLst>
          </p:cNvPr>
          <p:cNvSpPr txBox="1"/>
          <p:nvPr/>
        </p:nvSpPr>
        <p:spPr>
          <a:xfrm>
            <a:off x="6795366" y="672991"/>
            <a:ext cx="1713961" cy="33348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lnSpc>
                <a:spcPts val="2100"/>
              </a:lnSpc>
              <a:defRPr sz="1400" spc="-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altLang="ko-KR" dirty="0"/>
              <a:t>(</a:t>
            </a:r>
            <a:r>
              <a:rPr lang="en-US" altLang="ko-KR" dirty="0">
                <a:hlinkClick r:id="rId3"/>
              </a:rPr>
              <a:t>https://bit.ly/30tW5Vf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9798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6AF9FCF0-7522-4105-920D-65069E77D600}"/>
              </a:ext>
            </a:extLst>
          </p:cNvPr>
          <p:cNvSpPr txBox="1"/>
          <p:nvPr/>
        </p:nvSpPr>
        <p:spPr>
          <a:xfrm>
            <a:off x="905941" y="476984"/>
            <a:ext cx="5970315" cy="399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700"/>
              </a:lnSpc>
              <a:buFont typeface="+mj-ea"/>
              <a:buAutoNum type="circleNumDbPlain" startAt="2"/>
            </a:pPr>
            <a:r>
              <a:rPr lang="ko-KR" altLang="en-US" sz="1700" b="1" spc="-150" dirty="0"/>
              <a:t>데이터 살펴보기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E47A89F-8112-4A52-AC31-E610690A1E43}"/>
              </a:ext>
            </a:extLst>
          </p:cNvPr>
          <p:cNvSpPr txBox="1"/>
          <p:nvPr/>
        </p:nvSpPr>
        <p:spPr>
          <a:xfrm>
            <a:off x="5131770" y="4494962"/>
            <a:ext cx="2664296" cy="343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lnSpc>
                <a:spcPts val="2200"/>
              </a:lnSpc>
              <a:defRPr sz="1400" b="1" spc="-150">
                <a:solidFill>
                  <a:srgbClr val="3A7DCE"/>
                </a:solidFill>
              </a:defRPr>
            </a:lvl1pPr>
          </a:lstStyle>
          <a:p>
            <a:r>
              <a:rPr lang="ko-KR" altLang="en-US" dirty="0"/>
              <a:t>그림 </a:t>
            </a:r>
            <a:r>
              <a:rPr lang="en-US" altLang="ko-KR" dirty="0"/>
              <a:t>8-1 </a:t>
            </a:r>
            <a:r>
              <a:rPr lang="en-US" altLang="ko-KR" b="0" i="0" u="none" strike="noStrike" baseline="0" dirty="0">
                <a:solidFill>
                  <a:schemeClr val="tx1"/>
                </a:solidFill>
                <a:latin typeface="+mn-ea"/>
              </a:rPr>
              <a:t>Measurement_summary.csv</a:t>
            </a:r>
            <a:endParaRPr lang="ko-KR" altLang="en-US" b="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FFA688F-2C5E-44AB-9D47-DC0BC9AF9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1710" y="2067694"/>
            <a:ext cx="3744416" cy="238172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0E5519F-2408-42D8-9EE2-AA8C311097E1}"/>
              </a:ext>
            </a:extLst>
          </p:cNvPr>
          <p:cNvSpPr txBox="1"/>
          <p:nvPr/>
        </p:nvSpPr>
        <p:spPr>
          <a:xfrm>
            <a:off x="1115616" y="876581"/>
            <a:ext cx="7416824" cy="1435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44463" indent="-144463">
              <a:lnSpc>
                <a:spcPts val="2700"/>
              </a:lnSpc>
              <a:buFont typeface="Arial" panose="020B0604020202020204" pitchFamily="34" charset="0"/>
              <a:buChar char="•"/>
              <a:defRPr sz="1600" spc="-150">
                <a:latin typeface="+mn-ea"/>
              </a:defRPr>
            </a:lvl1pPr>
          </a:lstStyle>
          <a:p>
            <a:r>
              <a:rPr lang="en-US" altLang="ko-KR" dirty="0"/>
              <a:t>Measurement_summary.csv </a:t>
            </a:r>
            <a:r>
              <a:rPr lang="ko-KR" altLang="en-US" dirty="0"/>
              <a:t>파일을 열면 </a:t>
            </a:r>
            <a:r>
              <a:rPr lang="en-US" altLang="ko-KR" dirty="0"/>
              <a:t>2017</a:t>
            </a:r>
            <a:r>
              <a:rPr lang="ko-KR" altLang="en-US" dirty="0"/>
              <a:t>년 </a:t>
            </a:r>
            <a:r>
              <a:rPr lang="en-US" altLang="ko-KR" dirty="0"/>
              <a:t>1</a:t>
            </a:r>
            <a:r>
              <a:rPr lang="ko-KR" altLang="en-US" dirty="0"/>
              <a:t>월 </a:t>
            </a:r>
            <a:r>
              <a:rPr lang="en-US" altLang="ko-KR" dirty="0"/>
              <a:t>1</a:t>
            </a:r>
            <a:r>
              <a:rPr lang="ko-KR" altLang="en-US" dirty="0"/>
              <a:t>일 </a:t>
            </a:r>
            <a:r>
              <a:rPr lang="en-US" altLang="ko-KR" dirty="0"/>
              <a:t>0</a:t>
            </a:r>
            <a:r>
              <a:rPr lang="ko-KR" altLang="en-US" dirty="0"/>
              <a:t>시부터 </a:t>
            </a:r>
            <a:r>
              <a:rPr lang="en-US" altLang="ko-KR" dirty="0"/>
              <a:t>2019</a:t>
            </a:r>
            <a:r>
              <a:rPr lang="ko-KR" altLang="en-US" dirty="0"/>
              <a:t>년 </a:t>
            </a:r>
            <a:r>
              <a:rPr lang="en-US" altLang="ko-KR" dirty="0"/>
              <a:t>12</a:t>
            </a:r>
            <a:r>
              <a:rPr lang="ko-KR" altLang="en-US" dirty="0"/>
              <a:t>월 </a:t>
            </a:r>
            <a:r>
              <a:rPr lang="en-US" altLang="ko-KR" dirty="0"/>
              <a:t>31</a:t>
            </a:r>
            <a:r>
              <a:rPr lang="ko-KR" altLang="en-US" dirty="0"/>
              <a:t>일 </a:t>
            </a:r>
            <a:r>
              <a:rPr lang="en-US" altLang="ko-KR" dirty="0"/>
              <a:t>23</a:t>
            </a:r>
            <a:r>
              <a:rPr lang="ko-KR" altLang="en-US" dirty="0"/>
              <a:t>시까지 한 시간 간격으로 서울 </a:t>
            </a:r>
            <a:r>
              <a:rPr lang="en-US" altLang="ko-KR" dirty="0"/>
              <a:t>25</a:t>
            </a:r>
            <a:r>
              <a:rPr lang="ko-KR" altLang="en-US" dirty="0"/>
              <a:t>개 대기 오염 측정 장소의 </a:t>
            </a:r>
            <a:r>
              <a:rPr lang="en-US" altLang="ko-KR" dirty="0">
                <a:solidFill>
                  <a:srgbClr val="0070C0"/>
                </a:solidFill>
              </a:rPr>
              <a:t>SO2(</a:t>
            </a:r>
            <a:r>
              <a:rPr lang="ko-KR" altLang="en-US" dirty="0">
                <a:solidFill>
                  <a:srgbClr val="0070C0"/>
                </a:solidFill>
              </a:rPr>
              <a:t>아황산가스</a:t>
            </a:r>
            <a:r>
              <a:rPr lang="en-US" altLang="ko-KR" dirty="0">
                <a:solidFill>
                  <a:srgbClr val="0070C0"/>
                </a:solidFill>
              </a:rPr>
              <a:t>), NO2(</a:t>
            </a:r>
            <a:r>
              <a:rPr lang="ko-KR" altLang="en-US" dirty="0">
                <a:solidFill>
                  <a:srgbClr val="0070C0"/>
                </a:solidFill>
              </a:rPr>
              <a:t>이산화질소</a:t>
            </a:r>
            <a:r>
              <a:rPr lang="en-US" altLang="ko-KR" dirty="0">
                <a:solidFill>
                  <a:srgbClr val="0070C0"/>
                </a:solidFill>
              </a:rPr>
              <a:t>), O3(</a:t>
            </a:r>
            <a:r>
              <a:rPr lang="ko-KR" altLang="en-US" dirty="0">
                <a:solidFill>
                  <a:srgbClr val="0070C0"/>
                </a:solidFill>
              </a:rPr>
              <a:t>오존</a:t>
            </a:r>
            <a:r>
              <a:rPr lang="en-US" altLang="ko-KR" dirty="0">
                <a:solidFill>
                  <a:srgbClr val="0070C0"/>
                </a:solidFill>
              </a:rPr>
              <a:t>), CO(</a:t>
            </a:r>
            <a:r>
              <a:rPr lang="ko-KR" altLang="en-US" dirty="0">
                <a:solidFill>
                  <a:srgbClr val="0070C0"/>
                </a:solidFill>
              </a:rPr>
              <a:t>일산화탄소</a:t>
            </a:r>
            <a:r>
              <a:rPr lang="en-US" altLang="ko-KR" dirty="0">
                <a:solidFill>
                  <a:srgbClr val="0070C0"/>
                </a:solidFill>
              </a:rPr>
              <a:t>), PM10(</a:t>
            </a:r>
            <a:r>
              <a:rPr lang="ko-KR" altLang="en-US" dirty="0">
                <a:solidFill>
                  <a:srgbClr val="0070C0"/>
                </a:solidFill>
              </a:rPr>
              <a:t>미세먼지</a:t>
            </a:r>
            <a:r>
              <a:rPr lang="en-US" altLang="ko-KR" dirty="0">
                <a:solidFill>
                  <a:srgbClr val="0070C0"/>
                </a:solidFill>
              </a:rPr>
              <a:t>), PM2.5(</a:t>
            </a:r>
            <a:r>
              <a:rPr lang="ko-KR" altLang="en-US" dirty="0">
                <a:solidFill>
                  <a:srgbClr val="0070C0"/>
                </a:solidFill>
              </a:rPr>
              <a:t>초미세먼지</a:t>
            </a:r>
            <a:r>
              <a:rPr lang="en-US" altLang="ko-KR" dirty="0">
                <a:solidFill>
                  <a:srgbClr val="0070C0"/>
                </a:solidFill>
              </a:rPr>
              <a:t>)</a:t>
            </a:r>
            <a:r>
              <a:rPr lang="ko-KR" altLang="en-US" dirty="0">
                <a:solidFill>
                  <a:srgbClr val="0070C0"/>
                </a:solidFill>
              </a:rPr>
              <a:t>의 값</a:t>
            </a:r>
            <a:r>
              <a:rPr lang="ko-KR" altLang="en-US" dirty="0"/>
              <a:t>을 측정하여 수집한 데이터 파일 확인</a:t>
            </a:r>
            <a:endParaRPr lang="en-US" altLang="ko-KR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2ABDA4-8FA4-4EE5-A65F-D49F7F6466E2}"/>
              </a:ext>
            </a:extLst>
          </p:cNvPr>
          <p:cNvSpPr txBox="1"/>
          <p:nvPr/>
        </p:nvSpPr>
        <p:spPr>
          <a:xfrm>
            <a:off x="1115616" y="2643758"/>
            <a:ext cx="3476094" cy="742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44463" indent="-144463">
              <a:lnSpc>
                <a:spcPts val="2700"/>
              </a:lnSpc>
              <a:buFont typeface="Arial" panose="020B0604020202020204" pitchFamily="34" charset="0"/>
              <a:buChar char="•"/>
              <a:defRPr sz="1600" spc="-150">
                <a:latin typeface="+mn-ea"/>
              </a:defRPr>
            </a:lvl1pPr>
          </a:lstStyle>
          <a:p>
            <a:r>
              <a:rPr lang="ko-KR" altLang="en-US" dirty="0"/>
              <a:t>각 장소의 </a:t>
            </a:r>
            <a:r>
              <a:rPr lang="en-US" altLang="ko-KR" dirty="0"/>
              <a:t>Latitude(</a:t>
            </a:r>
            <a:r>
              <a:rPr lang="ko-KR" altLang="en-US" dirty="0"/>
              <a:t>위도</a:t>
            </a:r>
            <a:r>
              <a:rPr lang="en-US" altLang="ko-KR" dirty="0"/>
              <a:t>)</a:t>
            </a:r>
            <a:r>
              <a:rPr lang="ko-KR" altLang="en-US" dirty="0"/>
              <a:t>와 </a:t>
            </a:r>
            <a:r>
              <a:rPr lang="en-US" altLang="ko-KR" dirty="0"/>
              <a:t>Longitude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경도</a:t>
            </a:r>
            <a:r>
              <a:rPr lang="en-US" altLang="ko-KR" dirty="0"/>
              <a:t>), </a:t>
            </a:r>
            <a:r>
              <a:rPr lang="ko-KR" altLang="en-US" dirty="0"/>
              <a:t>영문 주소 등도 포함됨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366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6AF9FCF0-7522-4105-920D-65069E77D600}"/>
              </a:ext>
            </a:extLst>
          </p:cNvPr>
          <p:cNvSpPr txBox="1"/>
          <p:nvPr/>
        </p:nvSpPr>
        <p:spPr>
          <a:xfrm>
            <a:off x="905941" y="476984"/>
            <a:ext cx="5970315" cy="399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700"/>
              </a:lnSpc>
              <a:buFont typeface="+mj-ea"/>
              <a:buAutoNum type="circleNumDbPlain" startAt="3"/>
            </a:pPr>
            <a:r>
              <a:rPr lang="ko-KR" altLang="en-US" sz="1700" b="1" spc="-150" dirty="0"/>
              <a:t>데이터 편집하기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E5519F-2408-42D8-9EE2-AA8C311097E1}"/>
              </a:ext>
            </a:extLst>
          </p:cNvPr>
          <p:cNvSpPr txBox="1"/>
          <p:nvPr/>
        </p:nvSpPr>
        <p:spPr>
          <a:xfrm>
            <a:off x="1115616" y="876581"/>
            <a:ext cx="7416824" cy="756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44463" indent="-144463">
              <a:lnSpc>
                <a:spcPts val="2700"/>
              </a:lnSpc>
              <a:buFont typeface="Arial" panose="020B0604020202020204" pitchFamily="34" charset="0"/>
              <a:buChar char="•"/>
              <a:defRPr sz="1600" spc="-150">
                <a:latin typeface="+mn-ea"/>
              </a:defRPr>
            </a:lvl1pPr>
          </a:lstStyle>
          <a:p>
            <a:r>
              <a:rPr lang="ko-KR" altLang="en-US" dirty="0"/>
              <a:t>데이터 처리 속도를 높이기 위해 전체 데이터 중 </a:t>
            </a:r>
            <a:r>
              <a:rPr lang="en-US" altLang="ko-KR" dirty="0"/>
              <a:t>1</a:t>
            </a:r>
            <a:r>
              <a:rPr lang="ko-KR" altLang="en-US" dirty="0"/>
              <a:t>년치에 해당하는 </a:t>
            </a:r>
            <a:r>
              <a:rPr lang="en-US" altLang="ko-KR" dirty="0">
                <a:solidFill>
                  <a:srgbClr val="0070C0"/>
                </a:solidFill>
              </a:rPr>
              <a:t>2019</a:t>
            </a:r>
            <a:r>
              <a:rPr lang="ko-KR" altLang="en-US" dirty="0">
                <a:solidFill>
                  <a:srgbClr val="0070C0"/>
                </a:solidFill>
              </a:rPr>
              <a:t>년 데이터만 편집하여 시각화</a:t>
            </a:r>
            <a:r>
              <a:rPr lang="ko-KR" altLang="en-US" dirty="0"/>
              <a:t>해 보기</a:t>
            </a:r>
            <a:endParaRPr lang="en-US" altLang="ko-KR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2ABDA4-8FA4-4EE5-A65F-D49F7F6466E2}"/>
              </a:ext>
            </a:extLst>
          </p:cNvPr>
          <p:cNvSpPr txBox="1"/>
          <p:nvPr/>
        </p:nvSpPr>
        <p:spPr>
          <a:xfrm>
            <a:off x="1115616" y="1563638"/>
            <a:ext cx="7416824" cy="396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44463" indent="-144463">
              <a:lnSpc>
                <a:spcPts val="2700"/>
              </a:lnSpc>
              <a:buFont typeface="Arial" panose="020B0604020202020204" pitchFamily="34" charset="0"/>
              <a:buChar char="•"/>
              <a:defRPr sz="1600" spc="-150">
                <a:latin typeface="+mn-ea"/>
              </a:defRPr>
            </a:lvl1pPr>
          </a:lstStyle>
          <a:p>
            <a:r>
              <a:rPr lang="ko-KR" altLang="en-US" dirty="0"/>
              <a:t>파일을 연 후 </a:t>
            </a:r>
            <a:r>
              <a:rPr lang="en-US" altLang="ko-KR" dirty="0"/>
              <a:t>[</a:t>
            </a:r>
            <a:r>
              <a:rPr lang="ko-KR" altLang="en-US" dirty="0"/>
              <a:t>데이터</a:t>
            </a:r>
            <a:r>
              <a:rPr lang="en-US" altLang="ko-KR" dirty="0"/>
              <a:t>]-[</a:t>
            </a:r>
            <a:r>
              <a:rPr lang="ko-KR" altLang="en-US" dirty="0"/>
              <a:t>정렬</a:t>
            </a:r>
            <a:r>
              <a:rPr lang="en-US" altLang="ko-KR" dirty="0"/>
              <a:t>]</a:t>
            </a:r>
            <a:r>
              <a:rPr lang="ko-KR" altLang="en-US" dirty="0"/>
              <a:t>에서 </a:t>
            </a:r>
            <a:r>
              <a:rPr lang="en-US" altLang="ko-KR" dirty="0"/>
              <a:t>Measurement date</a:t>
            </a:r>
            <a:r>
              <a:rPr lang="ko-KR" altLang="en-US" dirty="0"/>
              <a:t>를 기준으로 오름차순 정렬을 실행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4384A64-A2BC-4953-BEFA-AFA2AE838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185" y="2220370"/>
            <a:ext cx="1368152" cy="141053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71D99F1-F394-4499-8B55-AE5504592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24" y="2220370"/>
            <a:ext cx="2743200" cy="237066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1" name="모서리가 둥근 직사각형 4">
            <a:extLst>
              <a:ext uri="{FF2B5EF4-FFF2-40B4-BE49-F238E27FC236}">
                <a16:creationId xmlns:a16="http://schemas.microsoft.com/office/drawing/2014/main" id="{FB6F2655-500C-47C2-8D32-F02BD8819CED}"/>
              </a:ext>
            </a:extLst>
          </p:cNvPr>
          <p:cNvSpPr/>
          <p:nvPr/>
        </p:nvSpPr>
        <p:spPr>
          <a:xfrm>
            <a:off x="2199185" y="2373468"/>
            <a:ext cx="1368152" cy="216024"/>
          </a:xfrm>
          <a:prstGeom prst="roundRect">
            <a:avLst>
              <a:gd name="adj" fmla="val 3315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49BCEFFF-0965-4C1D-BEB9-B77DF9DE1BDB}"/>
              </a:ext>
            </a:extLst>
          </p:cNvPr>
          <p:cNvSpPr/>
          <p:nvPr/>
        </p:nvSpPr>
        <p:spPr>
          <a:xfrm rot="16200000">
            <a:off x="4056991" y="2781620"/>
            <a:ext cx="241380" cy="288031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4">
            <a:extLst>
              <a:ext uri="{FF2B5EF4-FFF2-40B4-BE49-F238E27FC236}">
                <a16:creationId xmlns:a16="http://schemas.microsoft.com/office/drawing/2014/main" id="{253BD017-7FF8-4373-85E5-DFC883BD2465}"/>
              </a:ext>
            </a:extLst>
          </p:cNvPr>
          <p:cNvSpPr/>
          <p:nvPr/>
        </p:nvSpPr>
        <p:spPr>
          <a:xfrm>
            <a:off x="4846044" y="3141642"/>
            <a:ext cx="2174227" cy="489258"/>
          </a:xfrm>
          <a:prstGeom prst="roundRect">
            <a:avLst>
              <a:gd name="adj" fmla="val 15524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8115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1" grpId="0" animBg="1"/>
      <p:bldP spid="12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5FADE6-57E2-4EEE-98D6-E014100342FC}"/>
              </a:ext>
            </a:extLst>
          </p:cNvPr>
          <p:cNvSpPr txBox="1"/>
          <p:nvPr/>
        </p:nvSpPr>
        <p:spPr>
          <a:xfrm>
            <a:off x="845332" y="771550"/>
            <a:ext cx="763284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44463" indent="-144463">
              <a:lnSpc>
                <a:spcPts val="2700"/>
              </a:lnSpc>
              <a:buFont typeface="Arial" panose="020B0604020202020204" pitchFamily="34" charset="0"/>
              <a:buChar char="•"/>
              <a:defRPr sz="1600" spc="-150">
                <a:latin typeface="+mn-ea"/>
              </a:defRPr>
            </a:lvl1pPr>
          </a:lstStyle>
          <a:p>
            <a:r>
              <a:rPr lang="en-US" altLang="ko-KR" dirty="0"/>
              <a:t>Measurement date</a:t>
            </a:r>
            <a:r>
              <a:rPr lang="ko-KR" altLang="en-US" dirty="0"/>
              <a:t>를 기준으로 정렬된 데이터에서 </a:t>
            </a:r>
            <a:r>
              <a:rPr lang="en-US" altLang="ko-KR" dirty="0"/>
              <a:t>2019</a:t>
            </a:r>
            <a:r>
              <a:rPr lang="ko-KR" altLang="en-US" dirty="0"/>
              <a:t>년 데이터만 선택하여 복사한 후</a:t>
            </a:r>
            <a:r>
              <a:rPr lang="en-US" altLang="ko-KR" dirty="0"/>
              <a:t>, [</a:t>
            </a:r>
            <a:r>
              <a:rPr lang="ko-KR" altLang="en-US" dirty="0"/>
              <a:t>파일</a:t>
            </a:r>
            <a:r>
              <a:rPr lang="en-US" altLang="ko-KR" dirty="0"/>
              <a:t>]-[</a:t>
            </a:r>
            <a:r>
              <a:rPr lang="ko-KR" altLang="en-US" dirty="0" err="1"/>
              <a:t>새문서</a:t>
            </a:r>
            <a:r>
              <a:rPr lang="en-US" altLang="ko-KR" dirty="0"/>
              <a:t>]</a:t>
            </a:r>
            <a:r>
              <a:rPr lang="ko-KR" altLang="en-US" dirty="0"/>
              <a:t>를 만들어 </a:t>
            </a:r>
            <a:r>
              <a:rPr lang="en-US" altLang="ko-KR" dirty="0"/>
              <a:t>1</a:t>
            </a:r>
            <a:r>
              <a:rPr lang="ko-KR" altLang="en-US" dirty="0"/>
              <a:t>행은 비워 두고 </a:t>
            </a:r>
            <a:r>
              <a:rPr lang="en-US" altLang="ko-KR" dirty="0"/>
              <a:t>2</a:t>
            </a:r>
            <a:r>
              <a:rPr lang="ko-KR" altLang="en-US" dirty="0"/>
              <a:t>행에 붙여넣기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7FADCB9-66FB-41C9-BF9C-1DB348570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20" y="1707654"/>
            <a:ext cx="7812360" cy="1959194"/>
          </a:xfrm>
          <a:prstGeom prst="rect">
            <a:avLst/>
          </a:prstGeom>
        </p:spPr>
      </p:pic>
      <p:sp>
        <p:nvSpPr>
          <p:cNvPr id="6" name="모서리가 둥근 직사각형 4">
            <a:extLst>
              <a:ext uri="{FF2B5EF4-FFF2-40B4-BE49-F238E27FC236}">
                <a16:creationId xmlns:a16="http://schemas.microsoft.com/office/drawing/2014/main" id="{D7811392-0CBB-463C-82AF-3DD33AA3A5CD}"/>
              </a:ext>
            </a:extLst>
          </p:cNvPr>
          <p:cNvSpPr/>
          <p:nvPr/>
        </p:nvSpPr>
        <p:spPr>
          <a:xfrm>
            <a:off x="755576" y="2086354"/>
            <a:ext cx="7722604" cy="216024"/>
          </a:xfrm>
          <a:prstGeom prst="roundRect">
            <a:avLst>
              <a:gd name="adj" fmla="val 7199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사각형 설명선 3">
            <a:extLst>
              <a:ext uri="{FF2B5EF4-FFF2-40B4-BE49-F238E27FC236}">
                <a16:creationId xmlns:a16="http://schemas.microsoft.com/office/drawing/2014/main" id="{418CF016-888C-4ED4-879D-BD84CD99A7AA}"/>
              </a:ext>
            </a:extLst>
          </p:cNvPr>
          <p:cNvSpPr/>
          <p:nvPr/>
        </p:nvSpPr>
        <p:spPr>
          <a:xfrm>
            <a:off x="1547664" y="1514510"/>
            <a:ext cx="1440160" cy="337160"/>
          </a:xfrm>
          <a:prstGeom prst="wedgeRoundRectCallout">
            <a:avLst>
              <a:gd name="adj1" fmla="val -36882"/>
              <a:gd name="adj2" fmla="val 117841"/>
              <a:gd name="adj3" fmla="val 16667"/>
            </a:avLst>
          </a:prstGeom>
          <a:solidFill>
            <a:schemeClr val="bg1"/>
          </a:solidFill>
          <a:ln>
            <a:solidFill>
              <a:srgbClr val="78B8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spc="-15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1</a:t>
            </a:r>
            <a:r>
              <a:rPr lang="ko-KR" altLang="en-US" sz="1400" spc="-15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행 비우기</a:t>
            </a:r>
            <a:endParaRPr lang="ko-KR" altLang="en-US" sz="1000" spc="-150" dirty="0">
              <a:solidFill>
                <a:schemeClr val="accent4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93670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E77A37-76FC-496E-8CF3-11DDD6F754BF}"/>
              </a:ext>
            </a:extLst>
          </p:cNvPr>
          <p:cNvSpPr txBox="1"/>
          <p:nvPr/>
        </p:nvSpPr>
        <p:spPr>
          <a:xfrm>
            <a:off x="827584" y="627534"/>
            <a:ext cx="7704856" cy="742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44463" indent="-144463">
              <a:lnSpc>
                <a:spcPts val="2700"/>
              </a:lnSpc>
              <a:buFont typeface="Arial" panose="020B0604020202020204" pitchFamily="34" charset="0"/>
              <a:buChar char="•"/>
              <a:defRPr sz="1600" spc="-150">
                <a:latin typeface="+mn-ea"/>
              </a:defRPr>
            </a:lvl1pPr>
          </a:lstStyle>
          <a:p>
            <a:r>
              <a:rPr lang="en-US" altLang="ko-KR" dirty="0"/>
              <a:t>Measurement_summary.csv </a:t>
            </a:r>
            <a:r>
              <a:rPr lang="ko-KR" altLang="en-US" dirty="0"/>
              <a:t>파일에서 속성명이 입력되어 있는 첫 번째 행을 복사하여 새문서의 </a:t>
            </a:r>
            <a:r>
              <a:rPr lang="en-US" altLang="ko-KR" dirty="0"/>
              <a:t>1</a:t>
            </a:r>
            <a:r>
              <a:rPr lang="ko-KR" altLang="en-US" dirty="0"/>
              <a:t>행에 마저 붙여 넣고</a:t>
            </a:r>
            <a:r>
              <a:rPr lang="en-US" altLang="ko-KR" dirty="0"/>
              <a:t>, </a:t>
            </a:r>
            <a:r>
              <a:rPr lang="ko-KR" altLang="en-US" dirty="0"/>
              <a:t>파일명을 ‘</a:t>
            </a:r>
            <a:r>
              <a:rPr lang="en-US" altLang="ko-KR" dirty="0" err="1"/>
              <a:t>Airpollution</a:t>
            </a:r>
            <a:r>
              <a:rPr lang="ko-KR" altLang="en-US" dirty="0"/>
              <a:t>’으로 설정한 후 </a:t>
            </a:r>
            <a:r>
              <a:rPr lang="en-US" altLang="ko-KR" dirty="0">
                <a:solidFill>
                  <a:srgbClr val="0070C0"/>
                </a:solidFill>
              </a:rPr>
              <a:t>csv</a:t>
            </a:r>
            <a:r>
              <a:rPr lang="ko-KR" altLang="en-US" dirty="0">
                <a:solidFill>
                  <a:srgbClr val="0070C0"/>
                </a:solidFill>
              </a:rPr>
              <a:t>파일</a:t>
            </a:r>
            <a:r>
              <a:rPr lang="ko-KR" altLang="en-US" dirty="0"/>
              <a:t>로 저장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0FE7E5B-B4C1-458E-AB58-D356F2B73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491630"/>
            <a:ext cx="7380312" cy="147606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7AECB4A-4E4F-40F0-B79B-9411A8B83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4501" y="3134180"/>
            <a:ext cx="1274997" cy="14055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84FDC49-000A-41B2-9F2F-5DDFCC12DBCB}"/>
              </a:ext>
            </a:extLst>
          </p:cNvPr>
          <p:cNvSpPr txBox="1"/>
          <p:nvPr/>
        </p:nvSpPr>
        <p:spPr>
          <a:xfrm>
            <a:off x="3911377" y="4506777"/>
            <a:ext cx="1493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 err="1"/>
              <a:t>Airpollution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00917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모서리가 둥근 직사각형 2">
            <a:extLst>
              <a:ext uri="{FF2B5EF4-FFF2-40B4-BE49-F238E27FC236}">
                <a16:creationId xmlns:a16="http://schemas.microsoft.com/office/drawing/2014/main" id="{7275A038-1007-4C75-B3DE-B2EC19FA6916}"/>
              </a:ext>
            </a:extLst>
          </p:cNvPr>
          <p:cNvSpPr/>
          <p:nvPr/>
        </p:nvSpPr>
        <p:spPr>
          <a:xfrm>
            <a:off x="1259632" y="1870574"/>
            <a:ext cx="438373" cy="256818"/>
          </a:xfrm>
          <a:prstGeom prst="roundRect">
            <a:avLst/>
          </a:prstGeom>
          <a:solidFill>
            <a:srgbClr val="F7CC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모서리가 둥근 직사각형 14"/>
          <p:cNvSpPr/>
          <p:nvPr/>
        </p:nvSpPr>
        <p:spPr>
          <a:xfrm>
            <a:off x="1259632" y="983326"/>
            <a:ext cx="438373" cy="256818"/>
          </a:xfrm>
          <a:prstGeom prst="roundRect">
            <a:avLst/>
          </a:prstGeom>
          <a:solidFill>
            <a:srgbClr val="F7CC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899592" y="531314"/>
            <a:ext cx="4166753" cy="402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b="1" spc="-150" dirty="0">
                <a:solidFill>
                  <a:srgbClr val="005957"/>
                </a:solidFill>
              </a:rPr>
              <a:t>데이터 불러오기</a:t>
            </a:r>
          </a:p>
        </p:txBody>
      </p:sp>
      <p:sp>
        <p:nvSpPr>
          <p:cNvPr id="3" name="모서리가 둥근 직사각형 2"/>
          <p:cNvSpPr/>
          <p:nvPr/>
        </p:nvSpPr>
        <p:spPr>
          <a:xfrm>
            <a:off x="663438" y="613265"/>
            <a:ext cx="242503" cy="242503"/>
          </a:xfrm>
          <a:prstGeom prst="roundRect">
            <a:avLst>
              <a:gd name="adj" fmla="val 11376"/>
            </a:avLst>
          </a:prstGeom>
          <a:solidFill>
            <a:srgbClr val="0059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2</a:t>
            </a:r>
            <a:endParaRPr lang="ko-KR" alt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904825" y="911190"/>
            <a:ext cx="7915647" cy="1281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600" spc="-150" dirty="0">
                <a:latin typeface="+mn-ea"/>
              </a:rPr>
              <a:t>Data </a:t>
            </a:r>
            <a:r>
              <a:rPr lang="ko-KR" altLang="en-US" sz="1600" spc="-150" dirty="0">
                <a:latin typeface="+mn-ea"/>
              </a:rPr>
              <a:t>카테고리 </a:t>
            </a:r>
            <a:r>
              <a:rPr lang="en-US" altLang="ko-KR" sz="1600" spc="-150" dirty="0">
                <a:latin typeface="+mn-ea"/>
              </a:rPr>
              <a:t>- [File] </a:t>
            </a:r>
            <a:r>
              <a:rPr lang="ko-KR" altLang="en-US" sz="1600" spc="-150" dirty="0">
                <a:latin typeface="+mn-ea"/>
              </a:rPr>
              <a:t>위젯을 가져와서</a:t>
            </a:r>
            <a:r>
              <a:rPr lang="en-US" altLang="ko-KR" sz="1600" spc="-150" dirty="0">
                <a:latin typeface="+mn-ea"/>
              </a:rPr>
              <a:t> </a:t>
            </a:r>
            <a:r>
              <a:rPr lang="ko-KR" altLang="en-US" sz="1600" spc="-150" dirty="0">
                <a:latin typeface="+mn-ea"/>
              </a:rPr>
              <a:t>더블 클릭 후 </a:t>
            </a:r>
            <a:r>
              <a:rPr lang="en-US" altLang="ko-KR" sz="1600" spc="-150" dirty="0">
                <a:latin typeface="+mn-ea"/>
              </a:rPr>
              <a:t>, </a:t>
            </a:r>
            <a:r>
              <a:rPr lang="ko-KR" altLang="en-US" sz="1600" spc="-150" dirty="0">
                <a:latin typeface="+mn-ea"/>
              </a:rPr>
              <a:t>미리 준비한 데이터</a:t>
            </a:r>
            <a:r>
              <a:rPr lang="en-US" altLang="ko-KR" sz="1600" spc="-150" dirty="0">
                <a:latin typeface="+mn-ea"/>
              </a:rPr>
              <a:t>(</a:t>
            </a:r>
            <a:r>
              <a:rPr lang="en-US" altLang="ko-KR" sz="1800" b="0" i="0" u="none" strike="noStrike" baseline="0" dirty="0">
                <a:latin typeface="ITCGaramondStd-Lt"/>
              </a:rPr>
              <a:t>Airpollution</a:t>
            </a:r>
            <a:r>
              <a:rPr lang="en-US" altLang="ko-KR" sz="1600" b="0" i="0" u="none" strike="noStrike" baseline="0" dirty="0">
                <a:latin typeface="+mn-ea"/>
              </a:rPr>
              <a:t>.csv</a:t>
            </a:r>
            <a:r>
              <a:rPr lang="en-US" altLang="ko-KR" sz="1600" spc="-150" dirty="0">
                <a:latin typeface="+mn-ea"/>
              </a:rPr>
              <a:t>)</a:t>
            </a:r>
            <a:r>
              <a:rPr lang="ko-KR" altLang="en-US" sz="1600" spc="-150" dirty="0">
                <a:latin typeface="+mn-ea"/>
              </a:rPr>
              <a:t> 불러오기</a:t>
            </a:r>
            <a:endParaRPr lang="en-US" altLang="ko-KR" sz="1600" spc="-150" dirty="0">
              <a:latin typeface="+mn-ea"/>
            </a:endParaRP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ko-KR" sz="1600" spc="-150" dirty="0">
              <a:latin typeface="+mn-ea"/>
            </a:endParaRP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600" spc="-150" dirty="0">
                <a:latin typeface="+mn-ea"/>
              </a:rPr>
              <a:t>Data </a:t>
            </a:r>
            <a:r>
              <a:rPr lang="ko-KR" altLang="en-US" sz="1600" spc="-150" dirty="0">
                <a:latin typeface="+mn-ea"/>
              </a:rPr>
              <a:t>카테고리 </a:t>
            </a:r>
            <a:r>
              <a:rPr lang="en-US" altLang="ko-KR" sz="1600" spc="-150" dirty="0">
                <a:latin typeface="+mn-ea"/>
              </a:rPr>
              <a:t>– [Data Table]</a:t>
            </a:r>
            <a:r>
              <a:rPr lang="ko-KR" altLang="en-US" sz="1600" spc="-150" dirty="0">
                <a:latin typeface="+mn-ea"/>
              </a:rPr>
              <a:t>위젯을 가져와서 </a:t>
            </a:r>
            <a:r>
              <a:rPr lang="en-US" altLang="ko-KR" sz="1600" spc="-150" dirty="0">
                <a:latin typeface="+mn-ea"/>
              </a:rPr>
              <a:t>[File]</a:t>
            </a:r>
            <a:r>
              <a:rPr lang="ko-KR" altLang="en-US" sz="1600" spc="-150" dirty="0">
                <a:latin typeface="+mn-ea"/>
              </a:rPr>
              <a:t>위젯과 연결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399D187-E94C-45D3-BC9D-ADA080B99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897" y="2355726"/>
            <a:ext cx="4876205" cy="2146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798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0A47334-69A2-49D2-AFE0-9FCBF1B69636}"/>
              </a:ext>
            </a:extLst>
          </p:cNvPr>
          <p:cNvSpPr txBox="1"/>
          <p:nvPr/>
        </p:nvSpPr>
        <p:spPr>
          <a:xfrm>
            <a:off x="899592" y="627534"/>
            <a:ext cx="7560840" cy="396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44463" indent="-144463">
              <a:lnSpc>
                <a:spcPts val="2700"/>
              </a:lnSpc>
              <a:buFont typeface="Arial" panose="020B0604020202020204" pitchFamily="34" charset="0"/>
              <a:buChar char="•"/>
              <a:defRPr sz="1600" spc="-150">
                <a:latin typeface="+mn-ea"/>
              </a:defRPr>
            </a:lvl1pPr>
          </a:lstStyle>
          <a:p>
            <a:r>
              <a:rPr lang="en-US" altLang="ko-KR" dirty="0"/>
              <a:t>[Data Table] </a:t>
            </a:r>
            <a:r>
              <a:rPr lang="ko-KR" altLang="en-US" dirty="0"/>
              <a:t>위젯을 통해 전체 데이터를 한눈에 살펴보고</a:t>
            </a:r>
            <a:r>
              <a:rPr lang="en-US" altLang="ko-KR" dirty="0"/>
              <a:t>, Info </a:t>
            </a:r>
            <a:r>
              <a:rPr lang="ko-KR" altLang="en-US" dirty="0"/>
              <a:t>탭에서 데이터 정보 확인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0322B00-68EB-4530-8D4A-08D55257E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08" y="1131590"/>
            <a:ext cx="7034984" cy="345638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1" name="모서리가 둥근 직사각형 4">
            <a:extLst>
              <a:ext uri="{FF2B5EF4-FFF2-40B4-BE49-F238E27FC236}">
                <a16:creationId xmlns:a16="http://schemas.microsoft.com/office/drawing/2014/main" id="{29BB15C8-F344-4586-B17C-F84453276410}"/>
              </a:ext>
            </a:extLst>
          </p:cNvPr>
          <p:cNvSpPr/>
          <p:nvPr/>
        </p:nvSpPr>
        <p:spPr>
          <a:xfrm>
            <a:off x="1054509" y="1347614"/>
            <a:ext cx="1573276" cy="576064"/>
          </a:xfrm>
          <a:prstGeom prst="roundRect">
            <a:avLst>
              <a:gd name="adj" fmla="val 9855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032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89202" y="533339"/>
            <a:ext cx="4166753" cy="402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b="1" spc="-150" dirty="0">
                <a:solidFill>
                  <a:srgbClr val="249088"/>
                </a:solidFill>
              </a:rPr>
              <a:t>데이터 속성 정보 확인하기</a:t>
            </a:r>
          </a:p>
        </p:txBody>
      </p:sp>
      <p:sp>
        <p:nvSpPr>
          <p:cNvPr id="3" name="모서리가 둥근 직사각형 2"/>
          <p:cNvSpPr/>
          <p:nvPr/>
        </p:nvSpPr>
        <p:spPr>
          <a:xfrm>
            <a:off x="663438" y="613265"/>
            <a:ext cx="242503" cy="242503"/>
          </a:xfrm>
          <a:prstGeom prst="roundRect">
            <a:avLst>
              <a:gd name="adj" fmla="val 11376"/>
            </a:avLst>
          </a:prstGeom>
          <a:solidFill>
            <a:srgbClr val="2AA7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3</a:t>
            </a:r>
            <a:endParaRPr lang="ko-KR" alt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809030" y="915566"/>
            <a:ext cx="7363370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2888" indent="-242888">
              <a:lnSpc>
                <a:spcPts val="2700"/>
              </a:lnSpc>
              <a:buClr>
                <a:srgbClr val="7030A0"/>
              </a:buClr>
              <a:buFont typeface="Wingdings" panose="05000000000000000000" pitchFamily="2" charset="2"/>
              <a:buChar char="u"/>
            </a:pPr>
            <a:r>
              <a:rPr lang="ko-KR" altLang="en-US" sz="1400" spc="-150" dirty="0">
                <a:solidFill>
                  <a:srgbClr val="7030A0"/>
                </a:solidFill>
              </a:rPr>
              <a:t>대기 오염 데이터</a:t>
            </a:r>
            <a:r>
              <a:rPr lang="en-US" altLang="ko-KR" sz="1400" spc="100" dirty="0">
                <a:solidFill>
                  <a:srgbClr val="7030A0"/>
                </a:solidFill>
              </a:rPr>
              <a:t>:</a:t>
            </a:r>
            <a:r>
              <a:rPr lang="en-US" altLang="ko-KR" sz="1400" spc="100" dirty="0"/>
              <a:t> </a:t>
            </a:r>
            <a:r>
              <a:rPr lang="en-US" altLang="ko-KR" sz="1400" b="0" i="0" u="none" strike="noStrike" spc="-150" baseline="0" dirty="0">
                <a:latin typeface="+mn-ea"/>
              </a:rPr>
              <a:t>2017</a:t>
            </a:r>
            <a:r>
              <a:rPr lang="ko-KR" altLang="en-US" sz="1400" b="0" i="0" u="none" strike="noStrike" spc="-150" baseline="0" dirty="0">
                <a:latin typeface="+mn-ea"/>
              </a:rPr>
              <a:t>년부터 </a:t>
            </a:r>
            <a:r>
              <a:rPr lang="en-US" altLang="ko-KR" sz="1400" b="0" i="0" u="none" strike="noStrike" spc="-150" baseline="0" dirty="0">
                <a:latin typeface="+mn-ea"/>
              </a:rPr>
              <a:t>2019</a:t>
            </a:r>
            <a:r>
              <a:rPr lang="ko-KR" altLang="en-US" sz="1400" b="0" i="0" u="none" strike="noStrike" spc="-150" baseline="0" dirty="0">
                <a:latin typeface="+mn-ea"/>
              </a:rPr>
              <a:t>년까지 수집한 데이터의 </a:t>
            </a:r>
            <a:r>
              <a:rPr lang="en-US" altLang="ko-KR" sz="1400" b="0" i="0" u="none" strike="noStrike" spc="-150" baseline="0" dirty="0">
                <a:latin typeface="+mn-ea"/>
              </a:rPr>
              <a:t>11</a:t>
            </a:r>
            <a:r>
              <a:rPr lang="ko-KR" altLang="en-US" sz="1400" b="0" i="0" u="none" strike="noStrike" spc="-150" baseline="0" dirty="0">
                <a:latin typeface="+mn-ea"/>
              </a:rPr>
              <a:t>개 속성 정보</a:t>
            </a:r>
            <a:endParaRPr lang="ko-KR" altLang="en-US" sz="1400" spc="-150" dirty="0">
              <a:latin typeface="+mn-ea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421388"/>
              </p:ext>
            </p:extLst>
          </p:nvPr>
        </p:nvGraphicFramePr>
        <p:xfrm>
          <a:off x="887376" y="1377814"/>
          <a:ext cx="3756632" cy="2189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3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spc="-1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속성명</a:t>
                      </a:r>
                      <a:endParaRPr lang="ko-KR" altLang="en-US" sz="1400" b="1" spc="-1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spc="-1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속성 정보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31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0" i="0" u="none" strike="noStrike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Measurement</a:t>
                      </a:r>
                    </a:p>
                    <a:p>
                      <a:pPr algn="ctr"/>
                      <a:r>
                        <a:rPr lang="en-US" altLang="ko-KR" sz="1100" b="0" i="0" u="none" strike="noStrike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date</a:t>
                      </a:r>
                      <a:endParaRPr lang="ko-KR" altLang="en-US" sz="1100" b="0" i="0" u="none" strike="noStrike" kern="12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대기 오염 정도를 측정한 날과 시간을</a:t>
                      </a:r>
                    </a:p>
                    <a:p>
                      <a:pPr marL="0" algn="l" defTabSz="914400" rtl="0" eaLnBrk="1" latinLnBrk="1" hangingPunct="1"/>
                      <a:r>
                        <a:rPr lang="ko-KR" altLang="en-US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‘년</a:t>
                      </a:r>
                      <a:r>
                        <a:rPr lang="en-US" altLang="ko-KR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월</a:t>
                      </a:r>
                      <a:r>
                        <a:rPr lang="en-US" altLang="ko-KR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일 </a:t>
                      </a:r>
                      <a:r>
                        <a:rPr lang="ko-KR" altLang="en-US" sz="1100" b="0" i="0" u="none" strike="noStrike" kern="1200" spc="-10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시간’으로</a:t>
                      </a:r>
                      <a:r>
                        <a:rPr lang="ko-KR" altLang="en-US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표시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3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Station</a:t>
                      </a:r>
                      <a:r>
                        <a:rPr lang="ko-KR" altLang="en-US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code</a:t>
                      </a:r>
                      <a:endParaRPr lang="ko-KR" altLang="en-US" sz="11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측정 장소 코드</a:t>
                      </a:r>
                    </a:p>
                    <a:p>
                      <a:r>
                        <a:rPr lang="en-US" altLang="ko-KR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•101~125</a:t>
                      </a:r>
                      <a:r>
                        <a:rPr lang="ko-KR" altLang="en-US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값 부여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090646"/>
                  </a:ext>
                </a:extLst>
              </a:tr>
              <a:tr h="4287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Address</a:t>
                      </a:r>
                      <a:endParaRPr lang="ko-KR" altLang="en-US" sz="11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서울 </a:t>
                      </a:r>
                      <a:r>
                        <a:rPr lang="en-US" altLang="ko-KR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25</a:t>
                      </a:r>
                      <a:r>
                        <a:rPr lang="ko-KR" altLang="en-US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개 대기 오염 측정 장소의</a:t>
                      </a:r>
                    </a:p>
                    <a:p>
                      <a:pPr marL="0" algn="l" defTabSz="914400" rtl="0" eaLnBrk="1" latinLnBrk="1" hangingPunct="1"/>
                      <a:r>
                        <a:rPr lang="ko-KR" altLang="en-US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구체적인 영문 주소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5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Latitude</a:t>
                      </a:r>
                      <a:endParaRPr lang="ko-KR" altLang="en-US" sz="11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측정 장소의 위도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9056311"/>
                  </a:ext>
                </a:extLst>
              </a:tr>
              <a:tr h="2753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Longitude</a:t>
                      </a:r>
                      <a:endParaRPr lang="ko-KR" altLang="en-US" sz="11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측정 장소의 경도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443941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A4AEC5A-C908-4F05-A867-EF7134A9B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153393"/>
              </p:ext>
            </p:extLst>
          </p:nvPr>
        </p:nvGraphicFramePr>
        <p:xfrm>
          <a:off x="4716016" y="1377814"/>
          <a:ext cx="3756632" cy="2189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336">
                  <a:extLst>
                    <a:ext uri="{9D8B030D-6E8A-4147-A177-3AD203B41FA5}">
                      <a16:colId xmlns:a16="http://schemas.microsoft.com/office/drawing/2014/main" val="779639149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704338570"/>
                    </a:ext>
                  </a:extLst>
                </a:gridCol>
              </a:tblGrid>
              <a:tr h="33171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400" b="1" kern="1200" spc="-1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속성명</a:t>
                      </a:r>
                      <a:endParaRPr lang="ko-KR" altLang="en-US" sz="1400" b="1" kern="1200" spc="-1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1D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400" b="1" kern="1200" spc="-1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속성 정보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1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766767"/>
                  </a:ext>
                </a:extLst>
              </a:tr>
              <a:tr h="4644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SO2</a:t>
                      </a:r>
                      <a:endParaRPr lang="ko-KR" altLang="en-US" sz="11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공기 </a:t>
                      </a:r>
                      <a:r>
                        <a:rPr lang="en-US" altLang="ko-KR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㎥ 중 아황산가스</a:t>
                      </a:r>
                      <a:r>
                        <a:rPr lang="en-US" altLang="ko-KR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(SO2) </a:t>
                      </a:r>
                      <a:r>
                        <a:rPr lang="ko-KR" altLang="en-US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농도를</a:t>
                      </a:r>
                    </a:p>
                    <a:p>
                      <a:pPr marL="0" algn="l" defTabSz="914400" rtl="0" eaLnBrk="1" latinLnBrk="1" hangingPunct="1"/>
                      <a:r>
                        <a:rPr lang="en-US" altLang="ko-KR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ppm </a:t>
                      </a:r>
                      <a:r>
                        <a:rPr lang="ko-KR" altLang="en-US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단위로 표시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794866"/>
                  </a:ext>
                </a:extLst>
              </a:tr>
              <a:tr h="4644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NO2</a:t>
                      </a:r>
                      <a:endParaRPr lang="ko-KR" altLang="en-US" sz="11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공기 </a:t>
                      </a:r>
                      <a:r>
                        <a:rPr lang="en-US" altLang="ko-KR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㎥ 중 이산화질소</a:t>
                      </a:r>
                      <a:r>
                        <a:rPr lang="en-US" altLang="ko-KR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(NO2) </a:t>
                      </a:r>
                      <a:r>
                        <a:rPr lang="ko-KR" altLang="en-US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농도를</a:t>
                      </a:r>
                    </a:p>
                    <a:p>
                      <a:pPr marL="0" algn="l" defTabSz="914400" rtl="0" eaLnBrk="1" latinLnBrk="1" hangingPunct="1"/>
                      <a:r>
                        <a:rPr lang="en-US" altLang="ko-KR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ppm </a:t>
                      </a:r>
                      <a:r>
                        <a:rPr lang="ko-KR" altLang="en-US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단위로 표시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515447"/>
                  </a:ext>
                </a:extLst>
              </a:tr>
              <a:tr h="4644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O3</a:t>
                      </a:r>
                      <a:endParaRPr lang="ko-KR" altLang="en-US" sz="11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공기 </a:t>
                      </a:r>
                      <a:r>
                        <a:rPr lang="en-US" altLang="ko-KR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㎥ 중 오존</a:t>
                      </a:r>
                      <a:r>
                        <a:rPr lang="en-US" altLang="ko-KR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(O3)</a:t>
                      </a:r>
                      <a:r>
                        <a:rPr lang="ko-KR" altLang="en-US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의 농도를 </a:t>
                      </a:r>
                      <a:r>
                        <a:rPr lang="en-US" altLang="ko-KR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ppm</a:t>
                      </a:r>
                    </a:p>
                    <a:p>
                      <a:pPr marL="0" algn="l" defTabSz="914400" rtl="0" eaLnBrk="1" latinLnBrk="1" hangingPunct="1"/>
                      <a:r>
                        <a:rPr lang="ko-KR" altLang="en-US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단위로 표시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33612"/>
                  </a:ext>
                </a:extLst>
              </a:tr>
              <a:tr h="4644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CO</a:t>
                      </a:r>
                      <a:endParaRPr lang="ko-KR" altLang="en-US" sz="11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공기 </a:t>
                      </a:r>
                      <a:r>
                        <a:rPr lang="en-US" altLang="ko-KR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㎥ 중 일산화탄소</a:t>
                      </a:r>
                      <a:r>
                        <a:rPr lang="en-US" altLang="ko-KR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(CO)</a:t>
                      </a:r>
                      <a:r>
                        <a:rPr lang="ko-KR" altLang="en-US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의</a:t>
                      </a:r>
                    </a:p>
                    <a:p>
                      <a:pPr marL="0" algn="l" defTabSz="914400" rtl="0" eaLnBrk="1" latinLnBrk="1" hangingPunct="1"/>
                      <a:r>
                        <a:rPr lang="ko-KR" altLang="en-US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농도를 </a:t>
                      </a:r>
                      <a:r>
                        <a:rPr lang="en-US" altLang="ko-KR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ppm </a:t>
                      </a:r>
                      <a:r>
                        <a:rPr lang="ko-KR" altLang="en-US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단위로 표시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7999309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6D678A7A-58A6-4314-95AB-B8B9A45B64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262413"/>
              </p:ext>
            </p:extLst>
          </p:nvPr>
        </p:nvGraphicFramePr>
        <p:xfrm>
          <a:off x="887376" y="3671120"/>
          <a:ext cx="7585272" cy="8591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4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908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85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spc="-1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속성명</a:t>
                      </a:r>
                      <a:endParaRPr lang="ko-KR" altLang="en-US" sz="1400" b="1" spc="-1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spc="-1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속성 정보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2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i="0" u="none" strike="noStrike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PM10</a:t>
                      </a:r>
                      <a:endParaRPr lang="ko-KR" altLang="en-US" sz="11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공기 </a:t>
                      </a:r>
                      <a:r>
                        <a:rPr lang="en-US" altLang="ko-KR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㎥ 중 지름이 </a:t>
                      </a:r>
                      <a:r>
                        <a:rPr lang="en-US" altLang="ko-KR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㎛보다 작은 미세먼지의 양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2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i="0" u="none" strike="noStrike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PM2.5</a:t>
                      </a:r>
                      <a:endParaRPr lang="ko-KR" altLang="en-US" sz="11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공기 </a:t>
                      </a:r>
                      <a:r>
                        <a:rPr lang="en-US" altLang="ko-KR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㎥ 중 지름이 </a:t>
                      </a:r>
                      <a:r>
                        <a:rPr lang="en-US" altLang="ko-KR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25</a:t>
                      </a:r>
                      <a:r>
                        <a:rPr lang="ko-KR" altLang="en-US" sz="1100" b="0" i="0" u="none" strike="noStrike" kern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㎛보다 작은 미세먼지의 양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090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8878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6DD405C-2294-4FA2-ADD3-A972E8B95D84}"/>
              </a:ext>
            </a:extLst>
          </p:cNvPr>
          <p:cNvSpPr/>
          <p:nvPr/>
        </p:nvSpPr>
        <p:spPr>
          <a:xfrm>
            <a:off x="1223628" y="555526"/>
            <a:ext cx="6696744" cy="4104456"/>
          </a:xfrm>
          <a:prstGeom prst="roundRect">
            <a:avLst>
              <a:gd name="adj" fmla="val 4312"/>
            </a:avLst>
          </a:prstGeom>
          <a:solidFill>
            <a:srgbClr val="FEE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7F15D3E-9134-4696-9612-846DCF877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1087864"/>
            <a:ext cx="4752528" cy="25751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E102D0-B3C6-43E0-A5FE-0348F157A318}"/>
              </a:ext>
            </a:extLst>
          </p:cNvPr>
          <p:cNvSpPr txBox="1"/>
          <p:nvPr/>
        </p:nvSpPr>
        <p:spPr>
          <a:xfrm>
            <a:off x="3347864" y="699542"/>
            <a:ext cx="2214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spc="-150" dirty="0"/>
              <a:t>미세먼지 크기 비교도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BDB168-E705-4F41-A5B5-8F4EB048C631}"/>
              </a:ext>
            </a:extLst>
          </p:cNvPr>
          <p:cNvSpPr txBox="1"/>
          <p:nvPr/>
        </p:nvSpPr>
        <p:spPr>
          <a:xfrm>
            <a:off x="2051720" y="3653863"/>
            <a:ext cx="5184576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1400" b="0" i="0" u="none" strike="noStrike" spc="-100" dirty="0">
                <a:latin typeface="YDVYGOStd32"/>
              </a:rPr>
              <a:t>PM</a:t>
            </a:r>
            <a:r>
              <a:rPr lang="en-US" altLang="ko-KR" sz="600" b="0" i="0" u="none" strike="noStrike" spc="-100" dirty="0">
                <a:latin typeface="YDVYGOStd32"/>
              </a:rPr>
              <a:t>10</a:t>
            </a:r>
            <a:r>
              <a:rPr lang="ko-KR" altLang="en-US" sz="1400" b="0" i="0" u="none" strike="noStrike" spc="-100" dirty="0">
                <a:latin typeface="YDVYGOStd32"/>
              </a:rPr>
              <a:t>은 먼지</a:t>
            </a:r>
            <a:r>
              <a:rPr lang="en-US" altLang="ko-KR" sz="1400" b="0" i="0" u="none" strike="noStrike" spc="-100" dirty="0">
                <a:latin typeface="YDVYGOStd32"/>
              </a:rPr>
              <a:t>, </a:t>
            </a:r>
            <a:r>
              <a:rPr lang="ko-KR" altLang="en-US" sz="1400" b="0" i="0" u="none" strike="noStrike" spc="-100" dirty="0">
                <a:latin typeface="YDVYGOStd32"/>
              </a:rPr>
              <a:t>꽃가루</a:t>
            </a:r>
            <a:r>
              <a:rPr lang="en-US" altLang="ko-KR" sz="1400" b="0" i="0" u="none" strike="noStrike" spc="-100" dirty="0">
                <a:latin typeface="YDVYGOStd32"/>
              </a:rPr>
              <a:t>, </a:t>
            </a:r>
            <a:r>
              <a:rPr lang="ko-KR" altLang="en-US" sz="1400" b="0" i="0" u="none" strike="noStrike" spc="-100" dirty="0">
                <a:latin typeface="YDVYGOStd32"/>
              </a:rPr>
              <a:t>곰팡이 등 </a:t>
            </a:r>
            <a:r>
              <a:rPr lang="en-US" altLang="ko-KR" sz="1400" b="0" i="0" u="none" strike="noStrike" spc="-100" dirty="0">
                <a:latin typeface="YDVYGOStd32"/>
              </a:rPr>
              <a:t>10</a:t>
            </a:r>
            <a:r>
              <a:rPr lang="ko-KR" altLang="en-US" sz="1400" spc="-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㎛</a:t>
            </a:r>
            <a:r>
              <a:rPr lang="en-US" altLang="ko-KR" sz="1400" b="0" i="0" u="none" strike="noStrike" spc="-100" dirty="0">
                <a:latin typeface="YDVYGOStd32"/>
              </a:rPr>
              <a:t> </a:t>
            </a:r>
            <a:r>
              <a:rPr lang="ko-KR" altLang="en-US" sz="1400" b="0" i="0" u="none" strike="noStrike" spc="-100" dirty="0">
                <a:latin typeface="YDVYGOStd32"/>
              </a:rPr>
              <a:t>이하의 미세먼지이고</a:t>
            </a:r>
            <a:r>
              <a:rPr lang="en-US" altLang="ko-KR" sz="1400" b="0" i="0" u="none" strike="noStrike" spc="-100" dirty="0">
                <a:latin typeface="YDVYGOStd32"/>
              </a:rPr>
              <a:t>, PM</a:t>
            </a:r>
            <a:r>
              <a:rPr lang="en-US" altLang="ko-KR" sz="600" b="0" i="0" u="none" strike="noStrike" spc="-100" dirty="0">
                <a:latin typeface="YDVYGOStd32"/>
              </a:rPr>
              <a:t>2.5</a:t>
            </a:r>
            <a:r>
              <a:rPr lang="ko-KR" altLang="en-US" sz="1400" b="0" i="0" u="none" strike="noStrike" spc="-100" dirty="0">
                <a:latin typeface="YDVYGOStd32"/>
              </a:rPr>
              <a:t>는 연소 입자</a:t>
            </a:r>
            <a:r>
              <a:rPr lang="en-US" altLang="ko-KR" sz="1400" b="0" i="0" u="none" strike="noStrike" spc="-100" dirty="0">
                <a:latin typeface="YDVYGOStd32"/>
              </a:rPr>
              <a:t>, </a:t>
            </a:r>
            <a:r>
              <a:rPr lang="ko-KR" altLang="en-US" sz="1400" b="0" i="0" u="none" strike="noStrike" spc="-100" dirty="0">
                <a:latin typeface="YDVYGOStd32"/>
              </a:rPr>
              <a:t>유기 화합물</a:t>
            </a:r>
            <a:r>
              <a:rPr lang="en-US" altLang="ko-KR" sz="1400" b="0" i="0" u="none" strike="noStrike" spc="-100" dirty="0">
                <a:latin typeface="YDVYGOStd32"/>
              </a:rPr>
              <a:t>, </a:t>
            </a:r>
            <a:r>
              <a:rPr lang="ko-KR" altLang="en-US" sz="1400" b="0" i="0" u="none" strike="noStrike" spc="-100" dirty="0">
                <a:latin typeface="YDVYGOStd32"/>
              </a:rPr>
              <a:t>금속 등과 같이 미세먼지의 </a:t>
            </a:r>
            <a:r>
              <a:rPr lang="en-US" altLang="ko-KR" sz="1400" b="0" i="0" u="none" strike="noStrike" spc="-100" dirty="0">
                <a:latin typeface="YDVYGOStd32"/>
              </a:rPr>
              <a:t>1/4 </a:t>
            </a:r>
            <a:r>
              <a:rPr lang="ko-KR" altLang="en-US" sz="1400" b="0" i="0" u="none" strike="noStrike" spc="-100" dirty="0">
                <a:latin typeface="YDVYGOStd32"/>
              </a:rPr>
              <a:t>크기인 작은 초미세먼지를 말한다</a:t>
            </a:r>
            <a:r>
              <a:rPr lang="en-US" altLang="ko-KR" sz="1400" b="0" i="0" u="none" strike="noStrike" spc="-100" dirty="0">
                <a:latin typeface="YDVYGOStd32"/>
              </a:rPr>
              <a:t>.</a:t>
            </a:r>
            <a:endParaRPr lang="ko-KR" altLang="en-US" sz="1400" spc="-100" dirty="0"/>
          </a:p>
        </p:txBody>
      </p:sp>
    </p:spTree>
    <p:extLst>
      <p:ext uri="{BB962C8B-B14F-4D97-AF65-F5344CB8AC3E}">
        <p14:creationId xmlns:p14="http://schemas.microsoft.com/office/powerpoint/2010/main" val="3868220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9472934E-8EA5-4E78-B0B2-350D4016A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453" y="1111670"/>
            <a:ext cx="2587557" cy="329958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AF9FCF0-7522-4105-920D-65069E77D600}"/>
              </a:ext>
            </a:extLst>
          </p:cNvPr>
          <p:cNvSpPr txBox="1"/>
          <p:nvPr/>
        </p:nvSpPr>
        <p:spPr>
          <a:xfrm>
            <a:off x="905941" y="476984"/>
            <a:ext cx="5970315" cy="399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700"/>
              </a:lnSpc>
              <a:buFont typeface="+mj-ea"/>
              <a:buAutoNum type="circleNumDbPlain"/>
            </a:pPr>
            <a:r>
              <a:rPr lang="ko-KR" altLang="en-US" sz="1700" b="1" spc="-150" dirty="0"/>
              <a:t>속성 형식 및 역할 변경하기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4E0D78-0646-4B79-AA05-EB9462873F8E}"/>
              </a:ext>
            </a:extLst>
          </p:cNvPr>
          <p:cNvSpPr txBox="1"/>
          <p:nvPr/>
        </p:nvSpPr>
        <p:spPr>
          <a:xfrm>
            <a:off x="1078985" y="4462884"/>
            <a:ext cx="2736304" cy="343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lnSpc>
                <a:spcPts val="2200"/>
              </a:lnSpc>
              <a:defRPr sz="1400" b="1" spc="-150">
                <a:solidFill>
                  <a:srgbClr val="3A7DCE"/>
                </a:solidFill>
              </a:defRPr>
            </a:lvl1pPr>
          </a:lstStyle>
          <a:p>
            <a:r>
              <a:rPr lang="ko-KR" altLang="en-US" dirty="0"/>
              <a:t>그림 </a:t>
            </a:r>
            <a:r>
              <a:rPr lang="en-US" altLang="ko-KR" dirty="0"/>
              <a:t>8-3 </a:t>
            </a:r>
            <a:r>
              <a:rPr lang="ko-KR" altLang="en-US" b="0" dirty="0">
                <a:solidFill>
                  <a:schemeClr val="tx1"/>
                </a:solidFill>
              </a:rPr>
              <a:t>속성의 형식과 역할 변경 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E553C2-BFA0-4B0B-8893-E1CF6F9C1A74}"/>
              </a:ext>
            </a:extLst>
          </p:cNvPr>
          <p:cNvSpPr txBox="1"/>
          <p:nvPr/>
        </p:nvSpPr>
        <p:spPr>
          <a:xfrm>
            <a:off x="4139243" y="4462884"/>
            <a:ext cx="2736304" cy="343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lnSpc>
                <a:spcPts val="2200"/>
              </a:lnSpc>
              <a:defRPr sz="1400" b="1" spc="-150">
                <a:solidFill>
                  <a:srgbClr val="3A7DCE"/>
                </a:solidFill>
              </a:defRPr>
            </a:lvl1pPr>
          </a:lstStyle>
          <a:p>
            <a:r>
              <a:rPr lang="ko-KR" altLang="en-US" dirty="0"/>
              <a:t>그림 </a:t>
            </a:r>
            <a:r>
              <a:rPr lang="en-US" altLang="ko-KR" dirty="0"/>
              <a:t>8-4 </a:t>
            </a:r>
            <a:r>
              <a:rPr lang="ko-KR" altLang="en-US" b="0" dirty="0">
                <a:solidFill>
                  <a:schemeClr val="tx1"/>
                </a:solidFill>
              </a:rPr>
              <a:t>속성의 형식과 역할 변경 후</a:t>
            </a:r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C2D4BB35-575E-4B81-AAF9-7C43605580FF}"/>
              </a:ext>
            </a:extLst>
          </p:cNvPr>
          <p:cNvSpPr/>
          <p:nvPr/>
        </p:nvSpPr>
        <p:spPr>
          <a:xfrm>
            <a:off x="3847521" y="2529990"/>
            <a:ext cx="291722" cy="218453"/>
          </a:xfrm>
          <a:prstGeom prst="rightArrow">
            <a:avLst/>
          </a:prstGeom>
          <a:solidFill>
            <a:srgbClr val="DC5F0D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모서리가 둥근 직사각형 4">
            <a:extLst>
              <a:ext uri="{FF2B5EF4-FFF2-40B4-BE49-F238E27FC236}">
                <a16:creationId xmlns:a16="http://schemas.microsoft.com/office/drawing/2014/main" id="{801D08DE-C078-4522-975C-502619565D36}"/>
              </a:ext>
            </a:extLst>
          </p:cNvPr>
          <p:cNvSpPr/>
          <p:nvPr/>
        </p:nvSpPr>
        <p:spPr>
          <a:xfrm>
            <a:off x="4355976" y="2355726"/>
            <a:ext cx="2376264" cy="144016"/>
          </a:xfrm>
          <a:prstGeom prst="roundRect">
            <a:avLst>
              <a:gd name="adj" fmla="val 7199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8A70D5CE-31B6-45B2-8E3D-E1E31AAD9134}"/>
              </a:ext>
            </a:extLst>
          </p:cNvPr>
          <p:cNvCxnSpPr>
            <a:cxnSpLocks/>
            <a:stCxn id="38" idx="3"/>
            <a:endCxn id="34" idx="1"/>
          </p:cNvCxnSpPr>
          <p:nvPr/>
        </p:nvCxnSpPr>
        <p:spPr>
          <a:xfrm>
            <a:off x="6749941" y="3743798"/>
            <a:ext cx="342338" cy="1272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44F190D-C5D0-4E77-A757-CE24F081A7EE}"/>
              </a:ext>
            </a:extLst>
          </p:cNvPr>
          <p:cNvSpPr txBox="1"/>
          <p:nvPr/>
        </p:nvSpPr>
        <p:spPr>
          <a:xfrm>
            <a:off x="7092279" y="3501132"/>
            <a:ext cx="1548273" cy="510778"/>
          </a:xfrm>
          <a:prstGeom prst="roundRect">
            <a:avLst/>
          </a:prstGeom>
          <a:solidFill>
            <a:schemeClr val="accent2">
              <a:lumMod val="40000"/>
              <a:lumOff val="60000"/>
              <a:alpha val="69804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200" spc="-100" dirty="0">
                <a:latin typeface="+mn-ea"/>
              </a:rPr>
              <a:t>PM2.5</a:t>
            </a:r>
            <a:r>
              <a:rPr lang="ko-KR" altLang="en-US" sz="1200" spc="-100" dirty="0">
                <a:latin typeface="+mn-ea"/>
              </a:rPr>
              <a:t>의 역할</a:t>
            </a:r>
            <a:r>
              <a:rPr lang="en-US" altLang="ko-KR" sz="1200" spc="-100" dirty="0">
                <a:latin typeface="+mn-ea"/>
              </a:rPr>
              <a:t> target</a:t>
            </a:r>
            <a:r>
              <a:rPr lang="ko-KR" altLang="en-US" sz="1200" spc="-100" dirty="0">
                <a:latin typeface="+mn-ea"/>
              </a:rPr>
              <a:t>으로 변경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3A3D20-5653-4D1D-BCC7-29E74F156956}"/>
              </a:ext>
            </a:extLst>
          </p:cNvPr>
          <p:cNvSpPr txBox="1"/>
          <p:nvPr/>
        </p:nvSpPr>
        <p:spPr>
          <a:xfrm>
            <a:off x="7092279" y="1358522"/>
            <a:ext cx="1548273" cy="715089"/>
          </a:xfrm>
          <a:prstGeom prst="roundRect">
            <a:avLst/>
          </a:prstGeom>
          <a:solidFill>
            <a:srgbClr val="BCD444">
              <a:alpha val="69804"/>
            </a:srgbClr>
          </a:solidFill>
        </p:spPr>
        <p:txBody>
          <a:bodyPr wrap="square" rtlCol="0">
            <a:spAutoFit/>
          </a:bodyPr>
          <a:lstStyle/>
          <a:p>
            <a:r>
              <a:rPr lang="ko-KR" altLang="en-US" sz="1200" spc="-100" dirty="0">
                <a:solidFill>
                  <a:srgbClr val="003300"/>
                </a:solidFill>
                <a:latin typeface="+mn-ea"/>
              </a:rPr>
              <a:t>데이터 분석에 영향을 주지 않도록</a:t>
            </a:r>
            <a:r>
              <a:rPr lang="en-US" altLang="ko-KR" sz="1200" b="1" spc="-100" dirty="0">
                <a:solidFill>
                  <a:srgbClr val="003300"/>
                </a:solidFill>
                <a:latin typeface="+mn-ea"/>
              </a:rPr>
              <a:t>meta</a:t>
            </a:r>
            <a:r>
              <a:rPr lang="ko-KR" altLang="en-US" sz="1200" spc="-100" dirty="0">
                <a:solidFill>
                  <a:srgbClr val="003300"/>
                </a:solidFill>
                <a:latin typeface="+mn-ea"/>
              </a:rPr>
              <a:t>로 변경</a:t>
            </a: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964DDE07-CA70-4B65-8C42-6981A7E50A54}"/>
              </a:ext>
            </a:extLst>
          </p:cNvPr>
          <p:cNvCxnSpPr>
            <a:cxnSpLocks/>
            <a:endCxn id="35" idx="1"/>
          </p:cNvCxnSpPr>
          <p:nvPr/>
        </p:nvCxnSpPr>
        <p:spPr>
          <a:xfrm flipV="1">
            <a:off x="6381641" y="1716067"/>
            <a:ext cx="710638" cy="656054"/>
          </a:xfrm>
          <a:prstGeom prst="straightConnector1">
            <a:avLst/>
          </a:prstGeom>
          <a:ln>
            <a:solidFill>
              <a:srgbClr val="A6BE2C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B8E36E8-75E9-4ED6-9A5B-2D387EF38165}"/>
              </a:ext>
            </a:extLst>
          </p:cNvPr>
          <p:cNvSpPr txBox="1"/>
          <p:nvPr/>
        </p:nvSpPr>
        <p:spPr>
          <a:xfrm>
            <a:off x="7092279" y="2431156"/>
            <a:ext cx="1548273" cy="715089"/>
          </a:xfrm>
          <a:prstGeom prst="roundRect">
            <a:avLst/>
          </a:prstGeom>
          <a:solidFill>
            <a:schemeClr val="accent3">
              <a:lumMod val="20000"/>
              <a:lumOff val="80000"/>
              <a:alpha val="69804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1200" spc="-100" dirty="0">
                <a:solidFill>
                  <a:srgbClr val="003300"/>
                </a:solidFill>
                <a:latin typeface="+mn-ea"/>
              </a:rPr>
              <a:t>데이터 분석 시 무시할 속성이므로 </a:t>
            </a:r>
            <a:r>
              <a:rPr lang="en-US" altLang="ko-KR" sz="1200" spc="-100" dirty="0">
                <a:solidFill>
                  <a:srgbClr val="003300"/>
                </a:solidFill>
                <a:latin typeface="+mn-ea"/>
              </a:rPr>
              <a:t>skip</a:t>
            </a:r>
            <a:r>
              <a:rPr lang="ko-KR" altLang="en-US" sz="1200" spc="-100" dirty="0">
                <a:solidFill>
                  <a:srgbClr val="003300"/>
                </a:solidFill>
                <a:latin typeface="+mn-ea"/>
              </a:rPr>
              <a:t>으로 변경</a:t>
            </a: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C6BE7112-1B64-4B3C-93DE-CB5F40A62AC2}"/>
              </a:ext>
            </a:extLst>
          </p:cNvPr>
          <p:cNvCxnSpPr>
            <a:cxnSpLocks/>
            <a:stCxn id="37" idx="3"/>
            <a:endCxn id="41" idx="1"/>
          </p:cNvCxnSpPr>
          <p:nvPr/>
        </p:nvCxnSpPr>
        <p:spPr>
          <a:xfrm>
            <a:off x="6732240" y="2568030"/>
            <a:ext cx="360039" cy="22067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16524200-BDCE-4316-A96F-00199459E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154" y="1111670"/>
            <a:ext cx="2587557" cy="329958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2" name="모서리가 둥근 직사각형 4">
            <a:extLst>
              <a:ext uri="{FF2B5EF4-FFF2-40B4-BE49-F238E27FC236}">
                <a16:creationId xmlns:a16="http://schemas.microsoft.com/office/drawing/2014/main" id="{9F61B080-DE34-4D53-B789-F6BB482ACC65}"/>
              </a:ext>
            </a:extLst>
          </p:cNvPr>
          <p:cNvSpPr/>
          <p:nvPr/>
        </p:nvSpPr>
        <p:spPr>
          <a:xfrm>
            <a:off x="4355976" y="2640207"/>
            <a:ext cx="2376264" cy="298211"/>
          </a:xfrm>
          <a:prstGeom prst="roundRect">
            <a:avLst>
              <a:gd name="adj" fmla="val 7199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90A30124-4A1E-4CB7-B864-31FCB73134DA}"/>
              </a:ext>
            </a:extLst>
          </p:cNvPr>
          <p:cNvCxnSpPr>
            <a:cxnSpLocks/>
            <a:stCxn id="32" idx="3"/>
          </p:cNvCxnSpPr>
          <p:nvPr/>
        </p:nvCxnSpPr>
        <p:spPr>
          <a:xfrm flipV="1">
            <a:off x="6732240" y="2081651"/>
            <a:ext cx="438809" cy="707662"/>
          </a:xfrm>
          <a:prstGeom prst="straightConnector1">
            <a:avLst/>
          </a:prstGeom>
          <a:ln>
            <a:solidFill>
              <a:srgbClr val="A6BE2C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7" name="모서리가 둥근 직사각형 4">
            <a:extLst>
              <a:ext uri="{FF2B5EF4-FFF2-40B4-BE49-F238E27FC236}">
                <a16:creationId xmlns:a16="http://schemas.microsoft.com/office/drawing/2014/main" id="{21FCDF52-7110-462A-A67B-4E99CFC73749}"/>
              </a:ext>
            </a:extLst>
          </p:cNvPr>
          <p:cNvSpPr/>
          <p:nvPr/>
        </p:nvSpPr>
        <p:spPr>
          <a:xfrm>
            <a:off x="4355976" y="2506041"/>
            <a:ext cx="2376264" cy="123977"/>
          </a:xfrm>
          <a:prstGeom prst="roundRect">
            <a:avLst>
              <a:gd name="adj" fmla="val 7199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모서리가 둥근 직사각형 4">
            <a:extLst>
              <a:ext uri="{FF2B5EF4-FFF2-40B4-BE49-F238E27FC236}">
                <a16:creationId xmlns:a16="http://schemas.microsoft.com/office/drawing/2014/main" id="{4AD83850-2B3F-4D0C-AE5F-775D3F4E5B70}"/>
              </a:ext>
            </a:extLst>
          </p:cNvPr>
          <p:cNvSpPr/>
          <p:nvPr/>
        </p:nvSpPr>
        <p:spPr>
          <a:xfrm>
            <a:off x="4373677" y="3681809"/>
            <a:ext cx="2376264" cy="123977"/>
          </a:xfrm>
          <a:prstGeom prst="roundRect">
            <a:avLst>
              <a:gd name="adj" fmla="val 7199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1340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34" grpId="0" animBg="1"/>
      <p:bldP spid="35" grpId="0" animBg="1"/>
      <p:bldP spid="41" grpId="0" animBg="1"/>
      <p:bldP spid="32" grpId="0" animBg="1"/>
      <p:bldP spid="37" grpId="0" animBg="1"/>
      <p:bldP spid="3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모서리가 둥근 직사각형 2">
            <a:extLst>
              <a:ext uri="{FF2B5EF4-FFF2-40B4-BE49-F238E27FC236}">
                <a16:creationId xmlns:a16="http://schemas.microsoft.com/office/drawing/2014/main" id="{69425F9D-3A61-4277-B073-E515E9F78A22}"/>
              </a:ext>
            </a:extLst>
          </p:cNvPr>
          <p:cNvSpPr/>
          <p:nvPr/>
        </p:nvSpPr>
        <p:spPr>
          <a:xfrm>
            <a:off x="1310075" y="1470786"/>
            <a:ext cx="432048" cy="256818"/>
          </a:xfrm>
          <a:prstGeom prst="roundRect">
            <a:avLst/>
          </a:prstGeom>
          <a:solidFill>
            <a:srgbClr val="F7CC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905941" y="532860"/>
            <a:ext cx="4166753" cy="402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b="1" spc="-150" dirty="0">
                <a:solidFill>
                  <a:srgbClr val="005957"/>
                </a:solidFill>
              </a:rPr>
              <a:t>데이터 시각화하기</a:t>
            </a:r>
          </a:p>
        </p:txBody>
      </p:sp>
      <p:sp>
        <p:nvSpPr>
          <p:cNvPr id="3" name="모서리가 둥근 직사각형 2"/>
          <p:cNvSpPr/>
          <p:nvPr/>
        </p:nvSpPr>
        <p:spPr>
          <a:xfrm>
            <a:off x="663438" y="613265"/>
            <a:ext cx="242503" cy="242503"/>
          </a:xfrm>
          <a:prstGeom prst="roundRect">
            <a:avLst>
              <a:gd name="adj" fmla="val 11376"/>
            </a:avLst>
          </a:prstGeom>
          <a:solidFill>
            <a:srgbClr val="0059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4</a:t>
            </a:r>
            <a:endParaRPr lang="ko-KR" alt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905941" y="915566"/>
            <a:ext cx="6618387" cy="399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700"/>
              </a:lnSpc>
              <a:buFont typeface="+mj-ea"/>
              <a:buAutoNum type="circleNumDbPlain"/>
            </a:pPr>
            <a:r>
              <a:rPr lang="en-US" altLang="ko-KR" sz="1700" b="1" spc="-150" dirty="0"/>
              <a:t>[Feature Statistics] </a:t>
            </a:r>
            <a:r>
              <a:rPr lang="ko-KR" altLang="en-US" sz="1700" b="1" spc="-150" dirty="0"/>
              <a:t>위젯 이용하기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DBD041-04E0-4385-8C0F-8DB8F2F37F54}"/>
              </a:ext>
            </a:extLst>
          </p:cNvPr>
          <p:cNvSpPr txBox="1"/>
          <p:nvPr/>
        </p:nvSpPr>
        <p:spPr>
          <a:xfrm>
            <a:off x="1115616" y="1374961"/>
            <a:ext cx="6984776" cy="396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44463" indent="-144463">
              <a:lnSpc>
                <a:spcPts val="2700"/>
              </a:lnSpc>
              <a:buFont typeface="Arial" panose="020B0604020202020204" pitchFamily="34" charset="0"/>
              <a:buChar char="•"/>
              <a:defRPr sz="1600" spc="-150">
                <a:latin typeface="+mn-ea"/>
              </a:defRPr>
            </a:lvl1pPr>
          </a:lstStyle>
          <a:p>
            <a:r>
              <a:rPr lang="en-US" altLang="ko-KR" dirty="0"/>
              <a:t>Data </a:t>
            </a:r>
            <a:r>
              <a:rPr lang="ko-KR" altLang="en-US" dirty="0"/>
              <a:t>카테고리의 </a:t>
            </a:r>
            <a:r>
              <a:rPr lang="en-US" altLang="ko-KR" dirty="0"/>
              <a:t>[Feature Statistics] </a:t>
            </a:r>
            <a:r>
              <a:rPr lang="ko-KR" altLang="en-US" dirty="0"/>
              <a:t>위젯을 가져와서 </a:t>
            </a:r>
            <a:r>
              <a:rPr lang="en-US" altLang="ko-KR" dirty="0"/>
              <a:t>[File] </a:t>
            </a:r>
            <a:r>
              <a:rPr lang="ko-KR" altLang="en-US" dirty="0"/>
              <a:t>위젯과 연결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4025F7-8663-481A-A78C-5C0322F6EB1F}"/>
              </a:ext>
            </a:extLst>
          </p:cNvPr>
          <p:cNvSpPr txBox="1"/>
          <p:nvPr/>
        </p:nvSpPr>
        <p:spPr>
          <a:xfrm>
            <a:off x="905941" y="1884121"/>
            <a:ext cx="5970315" cy="410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342900" indent="-342900">
              <a:lnSpc>
                <a:spcPts val="2700"/>
              </a:lnSpc>
              <a:buFont typeface="+mj-ea"/>
              <a:buAutoNum type="circleNumDbPlain"/>
              <a:defRPr sz="1700" b="1" spc="-150"/>
            </a:lvl1pPr>
          </a:lstStyle>
          <a:p>
            <a:pPr>
              <a:buFont typeface="+mj-ea"/>
              <a:buAutoNum type="circleNumDbPlain" startAt="2"/>
            </a:pPr>
            <a:r>
              <a:rPr lang="en-US" altLang="ko-KR" dirty="0"/>
              <a:t>[Feature Statistics] </a:t>
            </a:r>
            <a:r>
              <a:rPr lang="ko-KR" altLang="en-US" dirty="0"/>
              <a:t>위젯 더블 클릭하기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C76D2C-BDD3-4EA8-A897-29F7B2EC01F9}"/>
              </a:ext>
            </a:extLst>
          </p:cNvPr>
          <p:cNvSpPr txBox="1"/>
          <p:nvPr/>
        </p:nvSpPr>
        <p:spPr>
          <a:xfrm>
            <a:off x="1115616" y="2294811"/>
            <a:ext cx="6192688" cy="396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44463" indent="-144463">
              <a:lnSpc>
                <a:spcPts val="2700"/>
              </a:lnSpc>
              <a:buFont typeface="Arial" panose="020B0604020202020204" pitchFamily="34" charset="0"/>
              <a:buChar char="•"/>
              <a:defRPr sz="1600" spc="-150">
                <a:latin typeface="+mn-ea"/>
              </a:defRPr>
            </a:lvl1pPr>
          </a:lstStyle>
          <a:p>
            <a:r>
              <a:rPr lang="en-US" altLang="ko-KR" dirty="0"/>
              <a:t>[Feature Statistics] </a:t>
            </a:r>
            <a:r>
              <a:rPr lang="ko-KR" altLang="en-US" dirty="0"/>
              <a:t>위젯을 더블 클릭하여 특성 통계표 확인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D3FB9AF9-EBF9-44D2-8036-2D1012FE8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3705" y="2817949"/>
            <a:ext cx="2316510" cy="1917272"/>
          </a:xfrm>
          <a:prstGeom prst="rect">
            <a:avLst/>
          </a:prstGeom>
        </p:spPr>
      </p:pic>
      <p:sp>
        <p:nvSpPr>
          <p:cNvPr id="17" name="모서리가 둥근 직사각형 4">
            <a:extLst>
              <a:ext uri="{FF2B5EF4-FFF2-40B4-BE49-F238E27FC236}">
                <a16:creationId xmlns:a16="http://schemas.microsoft.com/office/drawing/2014/main" id="{FFA6C759-2DE7-4514-BDBC-AB54CF782881}"/>
              </a:ext>
            </a:extLst>
          </p:cNvPr>
          <p:cNvSpPr/>
          <p:nvPr/>
        </p:nvSpPr>
        <p:spPr>
          <a:xfrm>
            <a:off x="4271029" y="3867894"/>
            <a:ext cx="1008112" cy="742746"/>
          </a:xfrm>
          <a:prstGeom prst="roundRect">
            <a:avLst>
              <a:gd name="adj" fmla="val 7199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9235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750564D-407A-48A9-AF64-B3A67F902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339" y="1130318"/>
            <a:ext cx="4193797" cy="348592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A367D1-8AB2-4F48-AC91-6B7841CAFD11}"/>
              </a:ext>
            </a:extLst>
          </p:cNvPr>
          <p:cNvSpPr txBox="1"/>
          <p:nvPr/>
        </p:nvSpPr>
        <p:spPr>
          <a:xfrm>
            <a:off x="6156176" y="3123839"/>
            <a:ext cx="2520280" cy="1480303"/>
          </a:xfrm>
          <a:prstGeom prst="wedgeRectCallout">
            <a:avLst>
              <a:gd name="adj1" fmla="val -75098"/>
              <a:gd name="adj2" fmla="val -63556"/>
            </a:avLst>
          </a:prstGeom>
          <a:solidFill>
            <a:schemeClr val="bg1"/>
          </a:solidFill>
          <a:ln>
            <a:solidFill>
              <a:srgbClr val="78B8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>
              <a:defRPr sz="1400">
                <a:solidFill>
                  <a:srgbClr val="C00000"/>
                </a:solidFill>
                <a:latin typeface="+mn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lnSpc>
                <a:spcPts val="1700"/>
              </a:lnSpc>
            </a:pPr>
            <a:r>
              <a:rPr lang="ko-KR" altLang="en-US" spc="-100" dirty="0">
                <a:solidFill>
                  <a:schemeClr val="tx1"/>
                </a:solidFill>
              </a:rPr>
              <a:t>속성 </a:t>
            </a:r>
            <a:r>
              <a:rPr lang="en-US" altLang="ko-KR" spc="-100" dirty="0">
                <a:solidFill>
                  <a:schemeClr val="tx1"/>
                </a:solidFill>
              </a:rPr>
              <a:t>SO2, NO2, O3, CO</a:t>
            </a:r>
            <a:r>
              <a:rPr lang="ko-KR" altLang="en-US" spc="-100" dirty="0">
                <a:solidFill>
                  <a:schemeClr val="tx1"/>
                </a:solidFill>
              </a:rPr>
              <a:t>의 최솟값</a:t>
            </a:r>
            <a:r>
              <a:rPr lang="en-US" altLang="ko-KR" spc="-100" dirty="0">
                <a:solidFill>
                  <a:schemeClr val="tx1"/>
                </a:solidFill>
              </a:rPr>
              <a:t>(Min.)</a:t>
            </a:r>
            <a:r>
              <a:rPr lang="ko-KR" altLang="en-US" spc="-100" dirty="0">
                <a:solidFill>
                  <a:schemeClr val="tx1"/>
                </a:solidFill>
              </a:rPr>
              <a:t>과 최댓값</a:t>
            </a:r>
            <a:r>
              <a:rPr lang="en-US" altLang="ko-KR" spc="-100" dirty="0">
                <a:solidFill>
                  <a:schemeClr val="tx1"/>
                </a:solidFill>
              </a:rPr>
              <a:t>(Max.)</a:t>
            </a:r>
            <a:r>
              <a:rPr lang="ko-KR" altLang="en-US" spc="-100" dirty="0">
                <a:solidFill>
                  <a:schemeClr val="tx1"/>
                </a:solidFill>
              </a:rPr>
              <a:t>의 차이는 크지 않은데 반해 </a:t>
            </a:r>
            <a:r>
              <a:rPr lang="en-US" altLang="ko-KR" spc="-100" dirty="0">
                <a:solidFill>
                  <a:schemeClr val="tx1"/>
                </a:solidFill>
              </a:rPr>
              <a:t>PM10, PM2.5</a:t>
            </a:r>
            <a:r>
              <a:rPr lang="ko-KR" altLang="en-US" spc="-100" dirty="0">
                <a:solidFill>
                  <a:schemeClr val="tx1"/>
                </a:solidFill>
              </a:rPr>
              <a:t>의 차이는 큰 것을 확인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5E40A1-1BF7-48B8-B4BF-2977D91C7F0B}"/>
              </a:ext>
            </a:extLst>
          </p:cNvPr>
          <p:cNvSpPr txBox="1"/>
          <p:nvPr/>
        </p:nvSpPr>
        <p:spPr>
          <a:xfrm>
            <a:off x="501236" y="3651870"/>
            <a:ext cx="1008112" cy="964367"/>
          </a:xfrm>
          <a:prstGeom prst="wedgeRectCallout">
            <a:avLst>
              <a:gd name="adj1" fmla="val 106810"/>
              <a:gd name="adj2" fmla="val -62797"/>
            </a:avLst>
          </a:prstGeom>
          <a:solidFill>
            <a:schemeClr val="accent2">
              <a:lumMod val="40000"/>
              <a:lumOff val="60000"/>
              <a:alpha val="69804"/>
            </a:schemeClr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solidFill>
                  <a:srgbClr val="C00000"/>
                </a:solidFill>
                <a:latin typeface="+mn-ea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>
              <a:lnSpc>
                <a:spcPts val="1700"/>
              </a:lnSpc>
            </a:pPr>
            <a:r>
              <a:rPr lang="ko-KR" altLang="en-US" spc="-100" dirty="0"/>
              <a:t>평균값</a:t>
            </a:r>
            <a:r>
              <a:rPr lang="en-US" altLang="ko-KR" spc="-100" dirty="0"/>
              <a:t>(Mean)</a:t>
            </a:r>
            <a:r>
              <a:rPr lang="ko-KR" altLang="en-US" spc="-100" dirty="0"/>
              <a:t>과 중앙값</a:t>
            </a:r>
            <a:r>
              <a:rPr lang="en-US" altLang="ko-KR" spc="-100" dirty="0"/>
              <a:t>(Median)</a:t>
            </a:r>
            <a:r>
              <a:rPr lang="ko-KR" altLang="en-US" spc="-100" dirty="0"/>
              <a:t>도 확인하기</a:t>
            </a:r>
          </a:p>
        </p:txBody>
      </p:sp>
      <p:sp>
        <p:nvSpPr>
          <p:cNvPr id="14" name="모서리가 둥근 직사각형 4">
            <a:extLst>
              <a:ext uri="{FF2B5EF4-FFF2-40B4-BE49-F238E27FC236}">
                <a16:creationId xmlns:a16="http://schemas.microsoft.com/office/drawing/2014/main" id="{6EB34B82-5E50-451E-8935-449EBF18C627}"/>
              </a:ext>
            </a:extLst>
          </p:cNvPr>
          <p:cNvSpPr/>
          <p:nvPr/>
        </p:nvSpPr>
        <p:spPr>
          <a:xfrm>
            <a:off x="4513952" y="1210578"/>
            <a:ext cx="438668" cy="2081252"/>
          </a:xfrm>
          <a:prstGeom prst="roundRect">
            <a:avLst>
              <a:gd name="adj" fmla="val 7199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772205" y="390570"/>
            <a:ext cx="7688227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600" spc="-150" dirty="0">
                <a:latin typeface="+mn-ea"/>
              </a:rPr>
              <a:t>특성 통계표에서 </a:t>
            </a:r>
            <a:r>
              <a:rPr lang="en-US" altLang="ko-KR" sz="1600" spc="-150" dirty="0">
                <a:latin typeface="+mn-ea"/>
              </a:rPr>
              <a:t>SO2, NO2, O3, CO, PM10, PM2.5</a:t>
            </a:r>
            <a:r>
              <a:rPr lang="ko-KR" altLang="en-US" sz="1600" spc="-150" dirty="0">
                <a:latin typeface="+mn-ea"/>
              </a:rPr>
              <a:t>의 최솟값이 </a:t>
            </a:r>
            <a:r>
              <a:rPr lang="en-US" altLang="ko-KR" sz="1600" spc="-150" dirty="0">
                <a:latin typeface="+mn-ea"/>
              </a:rPr>
              <a:t>–1</a:t>
            </a:r>
            <a:r>
              <a:rPr lang="ko-KR" altLang="en-US" sz="1600" spc="-150" dirty="0">
                <a:latin typeface="+mn-ea"/>
              </a:rPr>
              <a:t>인 것을 확인할 수 있는데 이 수치는 </a:t>
            </a:r>
            <a:r>
              <a:rPr lang="en-US" altLang="ko-KR" sz="1600" spc="-150" dirty="0">
                <a:latin typeface="+mn-ea"/>
              </a:rPr>
              <a:t>–1</a:t>
            </a:r>
            <a:r>
              <a:rPr lang="ko-KR" altLang="en-US" sz="1600" spc="-150" dirty="0">
                <a:latin typeface="+mn-ea"/>
              </a:rPr>
              <a:t>이 나올 수 없는 수치이므로 </a:t>
            </a:r>
            <a:r>
              <a:rPr lang="ko-KR" altLang="en-US" sz="1600" spc="-150" dirty="0" err="1">
                <a:latin typeface="+mn-ea"/>
              </a:rPr>
              <a:t>이상치로</a:t>
            </a:r>
            <a:r>
              <a:rPr lang="ko-KR" altLang="en-US" sz="1600" spc="-150" dirty="0">
                <a:latin typeface="+mn-ea"/>
              </a:rPr>
              <a:t> 판단한다</a:t>
            </a:r>
          </a:p>
        </p:txBody>
      </p:sp>
    </p:spTree>
    <p:extLst>
      <p:ext uri="{BB962C8B-B14F-4D97-AF65-F5344CB8AC3E}">
        <p14:creationId xmlns:p14="http://schemas.microsoft.com/office/powerpoint/2010/main" val="3231896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5FADE6-57E2-4EEE-98D6-E014100342FC}"/>
              </a:ext>
            </a:extLst>
          </p:cNvPr>
          <p:cNvSpPr txBox="1"/>
          <p:nvPr/>
        </p:nvSpPr>
        <p:spPr>
          <a:xfrm>
            <a:off x="845332" y="771550"/>
            <a:ext cx="4158716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44463" indent="-144463">
              <a:lnSpc>
                <a:spcPts val="2700"/>
              </a:lnSpc>
              <a:buFont typeface="Arial" panose="020B0604020202020204" pitchFamily="34" charset="0"/>
              <a:buChar char="•"/>
              <a:defRPr sz="1600" spc="-150">
                <a:latin typeface="+mn-ea"/>
              </a:defRPr>
            </a:lvl1pPr>
          </a:lstStyle>
          <a:p>
            <a:r>
              <a:rPr lang="en-US" altLang="ko-KR" dirty="0"/>
              <a:t>Airpollution.csv </a:t>
            </a:r>
            <a:r>
              <a:rPr lang="ko-KR" altLang="en-US" dirty="0"/>
              <a:t>파일을 열어서 이상치가 있는 행을 모두 삭제한 후</a:t>
            </a:r>
            <a:r>
              <a:rPr lang="en-US" altLang="ko-KR" dirty="0"/>
              <a:t>, </a:t>
            </a:r>
            <a:r>
              <a:rPr lang="ko-KR" altLang="en-US" dirty="0"/>
              <a:t>캔버스에 있는 </a:t>
            </a:r>
            <a:r>
              <a:rPr lang="en-US" altLang="ko-KR" dirty="0"/>
              <a:t>[File] </a:t>
            </a:r>
            <a:r>
              <a:rPr lang="ko-KR" altLang="en-US" dirty="0" err="1"/>
              <a:t>위젯을</a:t>
            </a:r>
            <a:r>
              <a:rPr lang="ko-KR" altLang="en-US" dirty="0"/>
              <a:t> 더블 클릭하여 창을 열고 파일 다시 불러오기</a:t>
            </a:r>
          </a:p>
        </p:txBody>
      </p:sp>
      <p:pic>
        <p:nvPicPr>
          <p:cNvPr id="1026" name="Picture 2" descr="C:\Users\PC\Desktop\20220214_18055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780544"/>
            <a:ext cx="2758794" cy="3813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A367D1-8AB2-4F48-AC91-6B7841CAFD11}"/>
              </a:ext>
            </a:extLst>
          </p:cNvPr>
          <p:cNvSpPr txBox="1"/>
          <p:nvPr/>
        </p:nvSpPr>
        <p:spPr>
          <a:xfrm>
            <a:off x="2123728" y="2311765"/>
            <a:ext cx="2232248" cy="1080120"/>
          </a:xfrm>
          <a:prstGeom prst="wedgeRectCallout">
            <a:avLst>
              <a:gd name="adj1" fmla="val 95432"/>
              <a:gd name="adj2" fmla="val -94574"/>
            </a:avLst>
          </a:prstGeom>
          <a:solidFill>
            <a:schemeClr val="bg1"/>
          </a:solidFill>
          <a:ln>
            <a:solidFill>
              <a:srgbClr val="78B8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>
              <a:defRPr sz="1400">
                <a:solidFill>
                  <a:srgbClr val="C00000"/>
                </a:solidFill>
                <a:latin typeface="+mn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lnSpc>
                <a:spcPts val="1700"/>
              </a:lnSpc>
            </a:pPr>
            <a:r>
              <a:rPr lang="en-US" altLang="ko-KR" spc="-100" dirty="0">
                <a:solidFill>
                  <a:schemeClr val="tx1"/>
                </a:solidFill>
              </a:rPr>
              <a:t>209,511</a:t>
            </a:r>
            <a:r>
              <a:rPr lang="ko-KR" altLang="en-US" spc="-100" dirty="0">
                <a:solidFill>
                  <a:schemeClr val="tx1"/>
                </a:solidFill>
              </a:rPr>
              <a:t>개의 데이터 중 이상치가 있는 데이터 </a:t>
            </a:r>
            <a:r>
              <a:rPr lang="en-US" altLang="ko-KR" spc="-100" dirty="0">
                <a:solidFill>
                  <a:schemeClr val="tx1"/>
                </a:solidFill>
              </a:rPr>
              <a:t>2,861</a:t>
            </a:r>
            <a:r>
              <a:rPr lang="ko-KR" altLang="en-US" spc="-100" dirty="0">
                <a:solidFill>
                  <a:schemeClr val="tx1"/>
                </a:solidFill>
              </a:rPr>
              <a:t>개를 삭제한 것을 확인한다</a:t>
            </a:r>
            <a:r>
              <a:rPr lang="en-US" altLang="ko-KR" spc="-100" dirty="0">
                <a:solidFill>
                  <a:schemeClr val="tx1"/>
                </a:solidFill>
              </a:rPr>
              <a:t>.</a:t>
            </a:r>
            <a:endParaRPr lang="ko-KR" altLang="en-US" spc="-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89728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7856" y="966142"/>
            <a:ext cx="2938040" cy="396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sz="1600" b="1" spc="-150" dirty="0">
                <a:solidFill>
                  <a:srgbClr val="993300"/>
                </a:solidFill>
              </a:rPr>
              <a:t>특성 통계표</a:t>
            </a:r>
            <a:r>
              <a:rPr lang="en-US" altLang="ko-KR" sz="1600" b="1" spc="-150" dirty="0">
                <a:solidFill>
                  <a:srgbClr val="993300"/>
                </a:solidFill>
              </a:rPr>
              <a:t>(feature statistics)</a:t>
            </a:r>
            <a:endParaRPr lang="ko-KR" altLang="en-US" sz="1600" b="1" spc="-150" dirty="0">
              <a:solidFill>
                <a:srgbClr val="9933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FC67EE-1D10-4BCA-BF9A-13CC1608849A}"/>
              </a:ext>
            </a:extLst>
          </p:cNvPr>
          <p:cNvSpPr txBox="1"/>
          <p:nvPr/>
        </p:nvSpPr>
        <p:spPr>
          <a:xfrm>
            <a:off x="504864" y="1664581"/>
            <a:ext cx="8027576" cy="206819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193675" indent="-193675">
              <a:lnSpc>
                <a:spcPts val="2600"/>
              </a:lnSpc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500" spc="-1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defRPr>
            </a:lvl1pPr>
          </a:lstStyle>
          <a:p>
            <a:r>
              <a:rPr lang="ko-KR" altLang="en-US" dirty="0"/>
              <a:t>특성 통계표는 데이터 테이블을 구성하는 각 속성값의 통계 정보와 도수 분포를 동시에 볼 수 있는 그래프이다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특성 통계표에서 </a:t>
            </a:r>
            <a:r>
              <a:rPr lang="ko-KR" altLang="en-US" dirty="0" err="1"/>
              <a:t>특성별</a:t>
            </a:r>
            <a:r>
              <a:rPr lang="ko-KR" altLang="en-US" dirty="0"/>
              <a:t> 도수 분포와 최솟값</a:t>
            </a:r>
            <a:r>
              <a:rPr lang="en-US" altLang="ko-KR" dirty="0"/>
              <a:t>, </a:t>
            </a:r>
            <a:r>
              <a:rPr lang="ko-KR" altLang="en-US" dirty="0"/>
              <a:t>최댓값</a:t>
            </a:r>
            <a:r>
              <a:rPr lang="en-US" altLang="ko-KR" dirty="0"/>
              <a:t>, </a:t>
            </a:r>
            <a:r>
              <a:rPr lang="ko-KR" altLang="en-US" dirty="0"/>
              <a:t>중앙값 등을 확인할 수 있으며</a:t>
            </a:r>
            <a:r>
              <a:rPr lang="en-US" altLang="ko-KR" dirty="0"/>
              <a:t>, </a:t>
            </a:r>
            <a:r>
              <a:rPr lang="ko-KR" altLang="en-US" dirty="0"/>
              <a:t>이를 통해 상대적으로 작은 값과 큰 값을 가지는 속성이 있는지 전처리가 필요한지 확인할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6561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모서리가 둥근 직사각형 2">
            <a:extLst>
              <a:ext uri="{FF2B5EF4-FFF2-40B4-BE49-F238E27FC236}">
                <a16:creationId xmlns:a16="http://schemas.microsoft.com/office/drawing/2014/main" id="{DB75F19F-B0F7-4042-80C5-EB75DA3E6F6C}"/>
              </a:ext>
            </a:extLst>
          </p:cNvPr>
          <p:cNvSpPr/>
          <p:nvPr/>
        </p:nvSpPr>
        <p:spPr>
          <a:xfrm>
            <a:off x="1200890" y="2255983"/>
            <a:ext cx="850830" cy="256818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55297E-C4CB-470F-9D66-A4DC00F8A39C}"/>
              </a:ext>
            </a:extLst>
          </p:cNvPr>
          <p:cNvSpPr txBox="1"/>
          <p:nvPr/>
        </p:nvSpPr>
        <p:spPr>
          <a:xfrm>
            <a:off x="1021360" y="2141321"/>
            <a:ext cx="408153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44463" indent="-144463">
              <a:lnSpc>
                <a:spcPts val="2700"/>
              </a:lnSpc>
              <a:buFont typeface="Arial" panose="020B0604020202020204" pitchFamily="34" charset="0"/>
              <a:buChar char="•"/>
              <a:defRPr sz="1600" spc="-150">
                <a:latin typeface="+mn-ea"/>
              </a:defRPr>
            </a:lvl1pPr>
          </a:lstStyle>
          <a:p>
            <a:r>
              <a:rPr lang="en-US" altLang="ko-KR" dirty="0"/>
              <a:t>Transform  </a:t>
            </a:r>
            <a:r>
              <a:rPr lang="ko-KR" altLang="en-US" dirty="0"/>
              <a:t>카테고리의 </a:t>
            </a:r>
            <a:r>
              <a:rPr lang="en-US" altLang="ko-KR" dirty="0"/>
              <a:t>[Data Sampler] </a:t>
            </a:r>
            <a:r>
              <a:rPr lang="ko-KR" altLang="en-US" dirty="0"/>
              <a:t>위젯을 가져와서 </a:t>
            </a:r>
            <a:r>
              <a:rPr lang="en-US" altLang="ko-KR" dirty="0"/>
              <a:t>[File] </a:t>
            </a:r>
            <a:r>
              <a:rPr lang="ko-KR" altLang="en-US" dirty="0"/>
              <a:t>위젯과 연결</a:t>
            </a:r>
          </a:p>
        </p:txBody>
      </p:sp>
      <p:pic>
        <p:nvPicPr>
          <p:cNvPr id="1026" name="Picture 2" descr="D:\Choihaitnim\2. 정보\!!정보단행본\오렌지\! 3쇄 작업\(220527) 오렌지_햇 수정\123p-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3898" y="915566"/>
            <a:ext cx="3144526" cy="3943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634673" y="384676"/>
            <a:ext cx="4523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sz="3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ko-KR" altLang="en-US" sz="36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5141" y="537104"/>
            <a:ext cx="4166753" cy="413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sz="2200" b="1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어떤 모델을 선택하고 학습시킬까</a:t>
            </a:r>
            <a:r>
              <a:rPr lang="en-US" altLang="ko-KR" sz="2200" b="1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?</a:t>
            </a:r>
            <a:endParaRPr lang="ko-KR" altLang="en-US" sz="2200" b="1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56963E-37E8-4F4D-903B-EA27BBA2D52D}"/>
              </a:ext>
            </a:extLst>
          </p:cNvPr>
          <p:cNvSpPr txBox="1"/>
          <p:nvPr/>
        </p:nvSpPr>
        <p:spPr>
          <a:xfrm>
            <a:off x="883903" y="1178580"/>
            <a:ext cx="4166753" cy="399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b="1" spc="-150" dirty="0">
                <a:solidFill>
                  <a:srgbClr val="249088"/>
                </a:solidFill>
                <a:latin typeface="+mn-ea"/>
              </a:rPr>
              <a:t>훈련 데이터와 테스트 데이터 나누기</a:t>
            </a:r>
          </a:p>
        </p:txBody>
      </p:sp>
      <p:sp>
        <p:nvSpPr>
          <p:cNvPr id="7" name="모서리가 둥근 직사각형 5">
            <a:extLst>
              <a:ext uri="{FF2B5EF4-FFF2-40B4-BE49-F238E27FC236}">
                <a16:creationId xmlns:a16="http://schemas.microsoft.com/office/drawing/2014/main" id="{E795C6F5-6488-4859-914D-1D99D9FD4C6C}"/>
              </a:ext>
            </a:extLst>
          </p:cNvPr>
          <p:cNvSpPr/>
          <p:nvPr/>
        </p:nvSpPr>
        <p:spPr>
          <a:xfrm>
            <a:off x="663438" y="1285467"/>
            <a:ext cx="242503" cy="242503"/>
          </a:xfrm>
          <a:prstGeom prst="roundRect">
            <a:avLst>
              <a:gd name="adj" fmla="val 11376"/>
            </a:avLst>
          </a:prstGeom>
          <a:solidFill>
            <a:srgbClr val="2AA7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BC5359-F8B0-47F8-A8E0-D473AE3789E1}"/>
              </a:ext>
            </a:extLst>
          </p:cNvPr>
          <p:cNvSpPr txBox="1"/>
          <p:nvPr/>
        </p:nvSpPr>
        <p:spPr>
          <a:xfrm>
            <a:off x="922517" y="1600797"/>
            <a:ext cx="4572000" cy="399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342900" indent="-342900">
              <a:lnSpc>
                <a:spcPts val="2700"/>
              </a:lnSpc>
              <a:buFont typeface="+mj-ea"/>
              <a:buAutoNum type="circleNumDbPlain"/>
              <a:defRPr sz="1700" b="1" spc="-150"/>
            </a:lvl1pPr>
          </a:lstStyle>
          <a:p>
            <a:r>
              <a:rPr lang="en-US" altLang="ko-KR" spc="-100" dirty="0"/>
              <a:t>[Data Sampler] </a:t>
            </a:r>
            <a:r>
              <a:rPr lang="ko-KR" altLang="en-US" spc="-100" dirty="0"/>
              <a:t>위젯 이용하기</a:t>
            </a:r>
          </a:p>
        </p:txBody>
      </p:sp>
    </p:spTree>
    <p:extLst>
      <p:ext uri="{BB962C8B-B14F-4D97-AF65-F5344CB8AC3E}">
        <p14:creationId xmlns:p14="http://schemas.microsoft.com/office/powerpoint/2010/main" val="2536561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PC\Desktop\20220214_18075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635646"/>
            <a:ext cx="5760640" cy="3024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8B4030-DD9E-4CDF-8914-A4A4145A0EF7}"/>
              </a:ext>
            </a:extLst>
          </p:cNvPr>
          <p:cNvSpPr txBox="1"/>
          <p:nvPr/>
        </p:nvSpPr>
        <p:spPr>
          <a:xfrm>
            <a:off x="905941" y="476984"/>
            <a:ext cx="7482483" cy="410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57175" indent="-257175">
              <a:lnSpc>
                <a:spcPts val="2700"/>
              </a:lnSpc>
              <a:buFont typeface="맑은 고딕" panose="020B0503020000020004" pitchFamily="50" charset="-127"/>
              <a:buChar char="①"/>
              <a:defRPr b="1" i="0" u="none" strike="noStrike" spc="-150" baseline="0">
                <a:latin typeface="+mn-ea"/>
              </a:defRPr>
            </a:lvl1pPr>
          </a:lstStyle>
          <a:p>
            <a:pPr marL="342900" indent="-342900">
              <a:buFont typeface="+mj-ea"/>
              <a:buAutoNum type="circleNumDbPlain" startAt="2"/>
            </a:pPr>
            <a:r>
              <a:rPr lang="en-US" altLang="ko-KR" dirty="0"/>
              <a:t>[Data Sampler] </a:t>
            </a:r>
            <a:r>
              <a:rPr lang="ko-KR" altLang="en-US" dirty="0"/>
              <a:t>위젯 더블 클릭하기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4F5F64-07FE-4420-9C0B-D4833F387321}"/>
              </a:ext>
            </a:extLst>
          </p:cNvPr>
          <p:cNvSpPr txBox="1"/>
          <p:nvPr/>
        </p:nvSpPr>
        <p:spPr>
          <a:xfrm>
            <a:off x="1079612" y="887674"/>
            <a:ext cx="7308812" cy="1056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44463" indent="-144463">
              <a:lnSpc>
                <a:spcPts val="2700"/>
              </a:lnSpc>
              <a:buFont typeface="Arial" panose="020B0604020202020204" pitchFamily="34" charset="0"/>
              <a:buChar char="•"/>
              <a:defRPr sz="1600" spc="-150">
                <a:latin typeface="+mn-ea"/>
              </a:defRPr>
            </a:lvl1pPr>
          </a:lstStyle>
          <a:p>
            <a:r>
              <a:rPr lang="en-US" altLang="ko-KR" dirty="0"/>
              <a:t>[Data Sampler] </a:t>
            </a:r>
            <a:r>
              <a:rPr lang="ko-KR" altLang="en-US" dirty="0"/>
              <a:t>위젯을 더블 클릭한 후 </a:t>
            </a:r>
            <a:r>
              <a:rPr lang="en-US" altLang="ko-KR" dirty="0"/>
              <a:t>Fixed proportion of data</a:t>
            </a:r>
            <a:r>
              <a:rPr lang="ko-KR" altLang="en-US" dirty="0"/>
              <a:t>를 </a:t>
            </a:r>
            <a:r>
              <a:rPr lang="en-US" altLang="ko-KR" dirty="0"/>
              <a:t>70%</a:t>
            </a:r>
            <a:r>
              <a:rPr lang="ko-KR" altLang="en-US" dirty="0"/>
              <a:t>로 설정</a:t>
            </a:r>
            <a:r>
              <a:rPr lang="en-US" altLang="ko-KR" dirty="0"/>
              <a:t>. </a:t>
            </a:r>
            <a:r>
              <a:rPr lang="ko-KR" altLang="en-US" dirty="0"/>
              <a:t>전체 데이터 중 </a:t>
            </a:r>
            <a:r>
              <a:rPr lang="en-US" altLang="ko-KR" dirty="0"/>
              <a:t>70%</a:t>
            </a:r>
            <a:r>
              <a:rPr lang="ko-KR" altLang="en-US" dirty="0"/>
              <a:t>는 훈련 데이터로</a:t>
            </a:r>
            <a:r>
              <a:rPr lang="en-US" altLang="ko-KR" dirty="0"/>
              <a:t>, 30%</a:t>
            </a:r>
            <a:r>
              <a:rPr lang="ko-KR" altLang="en-US" dirty="0"/>
              <a:t>는 테스트 데이터로 사용가능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4172C6-ED2C-44E2-AAAC-CB78885FE777}"/>
              </a:ext>
            </a:extLst>
          </p:cNvPr>
          <p:cNvSpPr txBox="1"/>
          <p:nvPr/>
        </p:nvSpPr>
        <p:spPr>
          <a:xfrm>
            <a:off x="6261653" y="3124128"/>
            <a:ext cx="2126771" cy="1254356"/>
          </a:xfrm>
          <a:prstGeom prst="wedgeRectCallout">
            <a:avLst>
              <a:gd name="adj1" fmla="val -66360"/>
              <a:gd name="adj2" fmla="val 44564"/>
            </a:avLst>
          </a:prstGeom>
          <a:solidFill>
            <a:schemeClr val="bg1"/>
          </a:solidFill>
          <a:ln>
            <a:solidFill>
              <a:srgbClr val="78B8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>
              <a:defRPr sz="1400">
                <a:solidFill>
                  <a:srgbClr val="C00000"/>
                </a:solidFill>
                <a:latin typeface="+mn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dirty="0">
                <a:solidFill>
                  <a:schemeClr val="tx1"/>
                </a:solidFill>
                <a:latin typeface="YDVYGOStd32"/>
              </a:rPr>
              <a:t>207,000</a:t>
            </a:r>
            <a:r>
              <a:rPr lang="ko-KR" altLang="en-US" dirty="0">
                <a:solidFill>
                  <a:schemeClr val="tx1"/>
                </a:solidFill>
                <a:latin typeface="YDVYGOStd32"/>
              </a:rPr>
              <a:t>여 개의 데이터 중 </a:t>
            </a:r>
            <a:r>
              <a:rPr lang="en-US" altLang="ko-KR" dirty="0">
                <a:solidFill>
                  <a:schemeClr val="tx1"/>
                </a:solidFill>
                <a:latin typeface="YDVYGOStd32"/>
              </a:rPr>
              <a:t>145,000</a:t>
            </a:r>
            <a:r>
              <a:rPr lang="ko-KR" altLang="en-US" dirty="0">
                <a:solidFill>
                  <a:schemeClr val="tx1"/>
                </a:solidFill>
                <a:latin typeface="YDVYGOStd32"/>
              </a:rPr>
              <a:t>여 개를 훈련 데이터로</a:t>
            </a:r>
            <a:r>
              <a:rPr lang="en-US" altLang="ko-KR" dirty="0">
                <a:solidFill>
                  <a:schemeClr val="tx1"/>
                </a:solidFill>
                <a:latin typeface="YDVYGOStd32"/>
              </a:rPr>
              <a:t>, 62,000</a:t>
            </a:r>
            <a:r>
              <a:rPr lang="ko-KR" altLang="en-US" dirty="0">
                <a:solidFill>
                  <a:schemeClr val="tx1"/>
                </a:solidFill>
                <a:latin typeface="YDVYGOStd32"/>
              </a:rPr>
              <a:t>여 개를 테스트 데이터로 나눈 것을 확인할 수 있다</a:t>
            </a:r>
            <a:r>
              <a:rPr lang="en-US" altLang="ko-KR" dirty="0">
                <a:solidFill>
                  <a:schemeClr val="tx1"/>
                </a:solidFill>
                <a:latin typeface="YDVYGOStd32"/>
              </a:rPr>
              <a:t>.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pic>
        <p:nvPicPr>
          <p:cNvPr id="3" name="Picture 2" descr="D:\Choihaitnim\2. 정보\!!정보단행본\오렌지\! 3쇄 작업\(220527) 오렌지_햇 수정\123p-1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50" b="6316"/>
          <a:stretch/>
        </p:blipFill>
        <p:spPr bwMode="auto">
          <a:xfrm>
            <a:off x="1605921" y="1734795"/>
            <a:ext cx="2515193" cy="28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058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 descr="C:\Users\PC\Desktop\20220607_170014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3058" y="2272633"/>
            <a:ext cx="4896544" cy="2428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모서리가 둥근 직사각형 5">
            <a:extLst>
              <a:ext uri="{FF2B5EF4-FFF2-40B4-BE49-F238E27FC236}">
                <a16:creationId xmlns:a16="http://schemas.microsoft.com/office/drawing/2014/main" id="{739E736B-22CD-421F-A27B-5E82BC8DA638}"/>
              </a:ext>
            </a:extLst>
          </p:cNvPr>
          <p:cNvSpPr/>
          <p:nvPr/>
        </p:nvSpPr>
        <p:spPr>
          <a:xfrm>
            <a:off x="1240973" y="1404606"/>
            <a:ext cx="648072" cy="256818"/>
          </a:xfrm>
          <a:prstGeom prst="roundRect">
            <a:avLst/>
          </a:prstGeom>
          <a:solidFill>
            <a:srgbClr val="EDB9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0DCE44-E4BB-40BA-8A09-1D73F3504E23}"/>
              </a:ext>
            </a:extLst>
          </p:cNvPr>
          <p:cNvSpPr txBox="1"/>
          <p:nvPr/>
        </p:nvSpPr>
        <p:spPr>
          <a:xfrm>
            <a:off x="938212" y="1347614"/>
            <a:ext cx="7666236" cy="654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600" spc="-150">
                <a:latin typeface="+mn-ea"/>
              </a:defRPr>
            </a:lvl1pPr>
          </a:lstStyle>
          <a:p>
            <a:r>
              <a:rPr lang="en-US" altLang="ko-KR" dirty="0"/>
              <a:t>Model  </a:t>
            </a:r>
            <a:r>
              <a:rPr lang="ko-KR" altLang="en-US" dirty="0"/>
              <a:t>카테고리에서 선형 회귀에 활용 가능한 모델인 </a:t>
            </a:r>
            <a:r>
              <a:rPr lang="en-US" altLang="ko-KR" dirty="0"/>
              <a:t>[Linear Regression] </a:t>
            </a:r>
            <a:r>
              <a:rPr lang="ko-KR" altLang="en-US" dirty="0"/>
              <a:t>위젯과 </a:t>
            </a:r>
            <a:r>
              <a:rPr lang="en-US" altLang="ko-KR" dirty="0"/>
              <a:t>[Random Forest] </a:t>
            </a:r>
            <a:r>
              <a:rPr lang="ko-KR" altLang="en-US" dirty="0"/>
              <a:t>위젯을 가져와 </a:t>
            </a:r>
            <a:r>
              <a:rPr lang="en-US" altLang="ko-KR" dirty="0"/>
              <a:t>[Data Sampler] </a:t>
            </a:r>
            <a:r>
              <a:rPr lang="ko-KR" altLang="en-US" dirty="0"/>
              <a:t>위젯에 연결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99592" y="531314"/>
            <a:ext cx="4166753" cy="402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b="1" spc="-150" dirty="0">
                <a:solidFill>
                  <a:srgbClr val="005957"/>
                </a:solidFill>
              </a:rPr>
              <a:t>모델 선택하고 학습시키기</a:t>
            </a:r>
          </a:p>
        </p:txBody>
      </p:sp>
      <p:sp>
        <p:nvSpPr>
          <p:cNvPr id="3" name="모서리가 둥근 직사각형 2"/>
          <p:cNvSpPr/>
          <p:nvPr/>
        </p:nvSpPr>
        <p:spPr>
          <a:xfrm>
            <a:off x="663438" y="613265"/>
            <a:ext cx="242503" cy="242503"/>
          </a:xfrm>
          <a:prstGeom prst="roundRect">
            <a:avLst>
              <a:gd name="adj" fmla="val 11376"/>
            </a:avLst>
          </a:prstGeom>
          <a:solidFill>
            <a:srgbClr val="0059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2</a:t>
            </a:r>
            <a:endParaRPr lang="ko-KR" alt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9A95B9-46A4-4C55-B5A3-161F6A8C119B}"/>
              </a:ext>
            </a:extLst>
          </p:cNvPr>
          <p:cNvSpPr txBox="1"/>
          <p:nvPr/>
        </p:nvSpPr>
        <p:spPr>
          <a:xfrm>
            <a:off x="922517" y="915566"/>
            <a:ext cx="4572000" cy="399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342900" indent="-342900">
              <a:lnSpc>
                <a:spcPts val="2700"/>
              </a:lnSpc>
              <a:buFont typeface="+mj-ea"/>
              <a:buAutoNum type="circleNumDbPlain"/>
              <a:defRPr sz="1700" b="1" spc="-150"/>
            </a:lvl1pPr>
          </a:lstStyle>
          <a:p>
            <a:r>
              <a:rPr lang="ko-KR" altLang="en-US" spc="-100" dirty="0"/>
              <a:t>학습 모델 선택하기</a:t>
            </a:r>
          </a:p>
        </p:txBody>
      </p:sp>
      <p:sp>
        <p:nvSpPr>
          <p:cNvPr id="12" name="모서리가 둥근 직사각형 4">
            <a:extLst>
              <a:ext uri="{FF2B5EF4-FFF2-40B4-BE49-F238E27FC236}">
                <a16:creationId xmlns:a16="http://schemas.microsoft.com/office/drawing/2014/main" id="{527C0C81-6B11-49BD-9D2F-38CC76DDC8BB}"/>
              </a:ext>
            </a:extLst>
          </p:cNvPr>
          <p:cNvSpPr/>
          <p:nvPr/>
        </p:nvSpPr>
        <p:spPr>
          <a:xfrm>
            <a:off x="5967666" y="2882628"/>
            <a:ext cx="1069614" cy="913257"/>
          </a:xfrm>
          <a:prstGeom prst="roundRect">
            <a:avLst>
              <a:gd name="adj" fmla="val 7199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모서리가 둥근 직사각형 4">
            <a:extLst>
              <a:ext uri="{FF2B5EF4-FFF2-40B4-BE49-F238E27FC236}">
                <a16:creationId xmlns:a16="http://schemas.microsoft.com/office/drawing/2014/main" id="{AA1BD325-D2B3-44AC-80F1-B6685340F6CC}"/>
              </a:ext>
            </a:extLst>
          </p:cNvPr>
          <p:cNvSpPr/>
          <p:nvPr/>
        </p:nvSpPr>
        <p:spPr>
          <a:xfrm>
            <a:off x="6022665" y="3867894"/>
            <a:ext cx="1069615" cy="792088"/>
          </a:xfrm>
          <a:prstGeom prst="roundRect">
            <a:avLst>
              <a:gd name="adj" fmla="val 7199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460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PC\Desktop\20220607_170149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2" t="6628" r="1343" b="4834"/>
          <a:stretch/>
        </p:blipFill>
        <p:spPr bwMode="auto">
          <a:xfrm>
            <a:off x="1259632" y="2283718"/>
            <a:ext cx="6264696" cy="2198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680DE3-2C2D-49CF-8886-F3E9EF017EDC}"/>
              </a:ext>
            </a:extLst>
          </p:cNvPr>
          <p:cNvSpPr txBox="1"/>
          <p:nvPr/>
        </p:nvSpPr>
        <p:spPr>
          <a:xfrm>
            <a:off x="905941" y="483518"/>
            <a:ext cx="5970315" cy="410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342900" indent="-342900">
              <a:lnSpc>
                <a:spcPts val="2700"/>
              </a:lnSpc>
              <a:buFont typeface="+mj-ea"/>
              <a:buAutoNum type="circleNumDbPlain"/>
              <a:defRPr sz="1700" b="1" spc="-150"/>
            </a:lvl1pPr>
          </a:lstStyle>
          <a:p>
            <a:pPr>
              <a:buFont typeface="+mj-ea"/>
              <a:buAutoNum type="circleNumDbPlain" startAt="2"/>
            </a:pPr>
            <a:r>
              <a:rPr lang="ko-KR" altLang="en-US" dirty="0"/>
              <a:t>모델 성능 비교하기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47DEA1-5B4A-4D66-9005-7ED995130328}"/>
              </a:ext>
            </a:extLst>
          </p:cNvPr>
          <p:cNvSpPr txBox="1"/>
          <p:nvPr/>
        </p:nvSpPr>
        <p:spPr>
          <a:xfrm>
            <a:off x="1043608" y="915566"/>
            <a:ext cx="74168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600" spc="-150">
                <a:latin typeface="+mn-ea"/>
              </a:defRPr>
            </a:lvl1pPr>
          </a:lstStyle>
          <a:p>
            <a:r>
              <a:rPr lang="en-US" altLang="ko-KR" dirty="0"/>
              <a:t>Linear Regression</a:t>
            </a:r>
            <a:r>
              <a:rPr lang="ko-KR" altLang="en-US" dirty="0"/>
              <a:t>과 </a:t>
            </a:r>
            <a:r>
              <a:rPr lang="en-US" altLang="ko-KR" dirty="0"/>
              <a:t>Random Forest </a:t>
            </a:r>
            <a:r>
              <a:rPr lang="ko-KR" altLang="en-US" dirty="0"/>
              <a:t>모델의 성능을 비교하기 위해 </a:t>
            </a:r>
            <a:r>
              <a:rPr lang="en-US" altLang="ko-KR" dirty="0"/>
              <a:t>Evaluate </a:t>
            </a:r>
            <a:r>
              <a:rPr lang="ko-KR" altLang="en-US" dirty="0"/>
              <a:t>카테고리의</a:t>
            </a:r>
            <a:r>
              <a:rPr lang="en-US" altLang="ko-KR" dirty="0"/>
              <a:t>[Predictions] </a:t>
            </a:r>
            <a:r>
              <a:rPr lang="ko-KR" altLang="en-US" dirty="0"/>
              <a:t>위젯을 가져와 연결</a:t>
            </a:r>
            <a:endParaRPr lang="en-US" altLang="ko-KR" dirty="0"/>
          </a:p>
          <a:p>
            <a:r>
              <a:rPr lang="en-US" altLang="ko-KR" dirty="0"/>
              <a:t>[Data Sampler] </a:t>
            </a:r>
            <a:r>
              <a:rPr lang="ko-KR" altLang="en-US" dirty="0"/>
              <a:t>위젯과 </a:t>
            </a:r>
            <a:r>
              <a:rPr lang="en-US" altLang="ko-KR" dirty="0"/>
              <a:t>[Predictions] </a:t>
            </a:r>
            <a:r>
              <a:rPr lang="ko-KR" altLang="en-US" dirty="0"/>
              <a:t>위젯의 연결선을 더블 클릭하여 링크를 아래와 같이 수정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2388FC8-536A-46FD-9F78-14DDC16D5054}"/>
              </a:ext>
            </a:extLst>
          </p:cNvPr>
          <p:cNvSpPr/>
          <p:nvPr/>
        </p:nvSpPr>
        <p:spPr>
          <a:xfrm>
            <a:off x="1115616" y="2160587"/>
            <a:ext cx="7128792" cy="2355379"/>
          </a:xfrm>
          <a:prstGeom prst="roundRect">
            <a:avLst>
              <a:gd name="adj" fmla="val 6096"/>
            </a:avLst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15393B-F3FB-4A5A-8D48-02C30A5A0AB7}"/>
              </a:ext>
            </a:extLst>
          </p:cNvPr>
          <p:cNvSpPr txBox="1"/>
          <p:nvPr/>
        </p:nvSpPr>
        <p:spPr>
          <a:xfrm>
            <a:off x="2286000" y="4532345"/>
            <a:ext cx="4572000" cy="343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lnSpc>
                <a:spcPts val="2200"/>
              </a:lnSpc>
              <a:defRPr sz="1400" b="1" spc="-150">
                <a:solidFill>
                  <a:srgbClr val="3A7DCE"/>
                </a:solidFill>
              </a:defRPr>
            </a:lvl1pPr>
          </a:lstStyle>
          <a:p>
            <a:r>
              <a:rPr lang="ko-KR" altLang="en-US" dirty="0"/>
              <a:t>그림 </a:t>
            </a:r>
            <a:r>
              <a:rPr lang="en-US" altLang="ko-KR" dirty="0"/>
              <a:t>8-5 </a:t>
            </a:r>
            <a:r>
              <a:rPr lang="ko-KR" altLang="en-US" b="0" dirty="0">
                <a:solidFill>
                  <a:schemeClr val="tx1"/>
                </a:solidFill>
              </a:rPr>
              <a:t>테스트 데이터로 모델 성능 비교하기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251FB7-9552-4423-8A3B-1DA6D36C08EC}"/>
              </a:ext>
            </a:extLst>
          </p:cNvPr>
          <p:cNvSpPr txBox="1"/>
          <p:nvPr/>
        </p:nvSpPr>
        <p:spPr>
          <a:xfrm>
            <a:off x="5489848" y="3507854"/>
            <a:ext cx="2538536" cy="792088"/>
          </a:xfrm>
          <a:prstGeom prst="wedgeRoundRectCallout">
            <a:avLst>
              <a:gd name="adj1" fmla="val -21646"/>
              <a:gd name="adj2" fmla="val -117730"/>
              <a:gd name="adj3" fmla="val 16667"/>
            </a:avLst>
          </a:prstGeom>
          <a:solidFill>
            <a:schemeClr val="bg1"/>
          </a:solidFill>
          <a:ln>
            <a:solidFill>
              <a:srgbClr val="78B8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>
              <a:defRPr sz="1400">
                <a:latin typeface="+mn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dirty="0">
                <a:solidFill>
                  <a:schemeClr val="tx1"/>
                </a:solidFill>
              </a:rPr>
              <a:t>[Predictions] </a:t>
            </a:r>
            <a:r>
              <a:rPr lang="ko-KR" altLang="en-US" dirty="0">
                <a:solidFill>
                  <a:schemeClr val="tx1"/>
                </a:solidFill>
              </a:rPr>
              <a:t>위젯은 </a:t>
            </a:r>
            <a:r>
              <a:rPr lang="en-US" altLang="ko-KR" dirty="0">
                <a:solidFill>
                  <a:schemeClr val="tx1"/>
                </a:solidFill>
              </a:rPr>
              <a:t>Remaining Data(</a:t>
            </a:r>
            <a:r>
              <a:rPr lang="ko-KR" altLang="en-US" dirty="0">
                <a:solidFill>
                  <a:schemeClr val="tx1"/>
                </a:solidFill>
              </a:rPr>
              <a:t>테스트 데이터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r>
              <a:rPr lang="ko-KR" altLang="en-US" dirty="0">
                <a:solidFill>
                  <a:schemeClr val="tx1"/>
                </a:solidFill>
              </a:rPr>
              <a:t>와 연결해 주어야 한다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2463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D:\Choihaitnim\2. 정보\!!정보단행본\오렌지\! 3쇄 작업\(220527) 오렌지_햇 수정\124p-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707" y="1156642"/>
            <a:ext cx="4240688" cy="3431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C0A0A37-BFBB-4058-8937-25DFD3152674}"/>
              </a:ext>
            </a:extLst>
          </p:cNvPr>
          <p:cNvSpPr txBox="1"/>
          <p:nvPr/>
        </p:nvSpPr>
        <p:spPr>
          <a:xfrm>
            <a:off x="3449404" y="4587974"/>
            <a:ext cx="4572000" cy="343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lnSpc>
                <a:spcPts val="2200"/>
              </a:lnSpc>
              <a:defRPr sz="1400" b="1" spc="-150">
                <a:solidFill>
                  <a:srgbClr val="3A7DCE"/>
                </a:solidFill>
              </a:defRPr>
            </a:lvl1pPr>
          </a:lstStyle>
          <a:p>
            <a:r>
              <a:rPr lang="ko-KR" altLang="en-US" dirty="0"/>
              <a:t>그림 </a:t>
            </a:r>
            <a:r>
              <a:rPr lang="en-US" altLang="ko-KR" dirty="0"/>
              <a:t>8-6 </a:t>
            </a:r>
            <a:r>
              <a:rPr lang="ko-KR" altLang="en-US" b="0" dirty="0">
                <a:solidFill>
                  <a:schemeClr val="tx1"/>
                </a:solidFill>
              </a:rPr>
              <a:t>모델 성능 비교 결과 확인하기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4C1FDC3-D2A1-488E-B36B-DC70E0A49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075" y="1190143"/>
            <a:ext cx="1371600" cy="1352550"/>
          </a:xfrm>
          <a:prstGeom prst="rect">
            <a:avLst/>
          </a:prstGeom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3AD36F7A-D26D-41F2-925C-B0FDC12D221F}"/>
              </a:ext>
            </a:extLst>
          </p:cNvPr>
          <p:cNvSpPr/>
          <p:nvPr/>
        </p:nvSpPr>
        <p:spPr>
          <a:xfrm>
            <a:off x="2961363" y="1563638"/>
            <a:ext cx="291722" cy="218453"/>
          </a:xfrm>
          <a:prstGeom prst="rightArrow">
            <a:avLst/>
          </a:prstGeom>
          <a:solidFill>
            <a:srgbClr val="DC5F0D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F6B9F6-DEF0-4CA8-8566-CE67B323AFD5}"/>
              </a:ext>
            </a:extLst>
          </p:cNvPr>
          <p:cNvSpPr txBox="1"/>
          <p:nvPr/>
        </p:nvSpPr>
        <p:spPr>
          <a:xfrm>
            <a:off x="2732762" y="1795022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solidFill>
                  <a:srgbClr val="C00000"/>
                </a:solidFill>
              </a:rPr>
              <a:t>더블클릭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630D30-0513-438E-8EEC-33539A366E2D}"/>
              </a:ext>
            </a:extLst>
          </p:cNvPr>
          <p:cNvSpPr txBox="1"/>
          <p:nvPr/>
        </p:nvSpPr>
        <p:spPr>
          <a:xfrm>
            <a:off x="827584" y="423487"/>
            <a:ext cx="7686600" cy="654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600" spc="-150">
                <a:latin typeface="+mn-ea"/>
              </a:defRPr>
            </a:lvl1pPr>
          </a:lstStyle>
          <a:p>
            <a:r>
              <a:rPr lang="ko-KR" altLang="en-US" dirty="0"/>
              <a:t>실제 측정한 값에 대해 회귀 분석을 하는 경우 </a:t>
            </a:r>
            <a:r>
              <a:rPr lang="ko-KR" altLang="en-US" dirty="0" err="1"/>
              <a:t>결괏값이</a:t>
            </a:r>
            <a:r>
              <a:rPr lang="ko-KR" altLang="en-US" dirty="0"/>
              <a:t> 완벽하게 일치하기는 쉽지 않음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Random Forest </a:t>
            </a:r>
            <a:r>
              <a:rPr lang="ko-KR" altLang="en-US" dirty="0"/>
              <a:t>모델보다 </a:t>
            </a:r>
            <a:r>
              <a:rPr lang="en-US" altLang="ko-KR" dirty="0"/>
              <a:t>Linear Regression </a:t>
            </a:r>
            <a:r>
              <a:rPr lang="ko-KR" altLang="en-US" dirty="0"/>
              <a:t>모델의 성능이 더 우수한 것 확인</a:t>
            </a:r>
          </a:p>
        </p:txBody>
      </p:sp>
      <p:sp>
        <p:nvSpPr>
          <p:cNvPr id="12" name="모서리가 둥근 직사각형 4">
            <a:extLst>
              <a:ext uri="{FF2B5EF4-FFF2-40B4-BE49-F238E27FC236}">
                <a16:creationId xmlns:a16="http://schemas.microsoft.com/office/drawing/2014/main" id="{C94BE6F6-BA78-4B1B-B7C8-89C1DF753379}"/>
              </a:ext>
            </a:extLst>
          </p:cNvPr>
          <p:cNvSpPr/>
          <p:nvPr/>
        </p:nvSpPr>
        <p:spPr>
          <a:xfrm>
            <a:off x="3556909" y="4131266"/>
            <a:ext cx="1361172" cy="352364"/>
          </a:xfrm>
          <a:prstGeom prst="roundRect">
            <a:avLst>
              <a:gd name="adj" fmla="val 7199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A96DB0-A8F5-41BF-82B1-BB55CE12A700}"/>
              </a:ext>
            </a:extLst>
          </p:cNvPr>
          <p:cNvSpPr txBox="1"/>
          <p:nvPr/>
        </p:nvSpPr>
        <p:spPr>
          <a:xfrm>
            <a:off x="536194" y="2643758"/>
            <a:ext cx="2736304" cy="1800200"/>
          </a:xfrm>
          <a:prstGeom prst="wedgeRoundRectCallout">
            <a:avLst>
              <a:gd name="adj1" fmla="val 59531"/>
              <a:gd name="adj2" fmla="val 34296"/>
              <a:gd name="adj3" fmla="val 16667"/>
            </a:avLst>
          </a:prstGeom>
          <a:solidFill>
            <a:schemeClr val="bg1"/>
          </a:solidFill>
          <a:ln>
            <a:solidFill>
              <a:srgbClr val="78B8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>
              <a:defRPr sz="1400">
                <a:latin typeface="+mn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100" dirty="0">
                <a:solidFill>
                  <a:schemeClr val="tx1"/>
                </a:solidFill>
              </a:rPr>
              <a:t>이처럼 실제 데이터를 사용하여 인공지능 회귀 분석을 하는 경우에는 성능이 좋지 않을 수도 있다</a:t>
            </a:r>
            <a:r>
              <a:rPr lang="en-US" altLang="ko-KR" spc="-100" dirty="0">
                <a:solidFill>
                  <a:schemeClr val="tx1"/>
                </a:solidFill>
              </a:rPr>
              <a:t>. </a:t>
            </a:r>
            <a:r>
              <a:rPr lang="ko-KR" altLang="en-US" spc="-100" dirty="0">
                <a:solidFill>
                  <a:schemeClr val="tx1"/>
                </a:solidFill>
              </a:rPr>
              <a:t>또한 </a:t>
            </a:r>
            <a:r>
              <a:rPr lang="en-US" altLang="ko-KR" spc="-100" dirty="0">
                <a:solidFill>
                  <a:schemeClr val="tx1"/>
                </a:solidFill>
              </a:rPr>
              <a:t>[Data Sampler] </a:t>
            </a:r>
            <a:r>
              <a:rPr lang="ko-KR" altLang="en-US" spc="-100" dirty="0" err="1">
                <a:solidFill>
                  <a:schemeClr val="tx1"/>
                </a:solidFill>
              </a:rPr>
              <a:t>위젯이</a:t>
            </a:r>
            <a:r>
              <a:rPr lang="ko-KR" altLang="en-US" spc="-100" dirty="0">
                <a:solidFill>
                  <a:schemeClr val="tx1"/>
                </a:solidFill>
              </a:rPr>
              <a:t> 훈련 데이터와 테스트 데이터를 </a:t>
            </a:r>
            <a:r>
              <a:rPr lang="ko-KR" altLang="en-US" spc="-100" dirty="0" err="1">
                <a:solidFill>
                  <a:schemeClr val="tx1"/>
                </a:solidFill>
              </a:rPr>
              <a:t>랜덤하게</a:t>
            </a:r>
            <a:r>
              <a:rPr lang="ko-KR" altLang="en-US" spc="-100" dirty="0">
                <a:solidFill>
                  <a:schemeClr val="tx1"/>
                </a:solidFill>
              </a:rPr>
              <a:t> 나누기 때문에 교재와 </a:t>
            </a:r>
            <a:r>
              <a:rPr lang="ko-KR" altLang="en-US" spc="-100" dirty="0" err="1">
                <a:solidFill>
                  <a:schemeClr val="tx1"/>
                </a:solidFill>
              </a:rPr>
              <a:t>결괏값이</a:t>
            </a:r>
            <a:r>
              <a:rPr lang="ko-KR" altLang="en-US" spc="-100" dirty="0">
                <a:solidFill>
                  <a:schemeClr val="tx1"/>
                </a:solidFill>
              </a:rPr>
              <a:t> 다를 수 있다</a:t>
            </a:r>
            <a:r>
              <a:rPr lang="en-US" altLang="ko-KR" spc="-100" dirty="0">
                <a:solidFill>
                  <a:schemeClr val="tx1"/>
                </a:solidFill>
              </a:rPr>
              <a:t>.</a:t>
            </a:r>
            <a:endParaRPr lang="ko-KR" altLang="en-US" spc="-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9778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70E2FF-D2E3-4576-AADE-48C735DBE9F7}"/>
              </a:ext>
            </a:extLst>
          </p:cNvPr>
          <p:cNvSpPr txBox="1"/>
          <p:nvPr/>
        </p:nvSpPr>
        <p:spPr>
          <a:xfrm>
            <a:off x="899592" y="531314"/>
            <a:ext cx="4166753" cy="402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b="1" spc="-150" dirty="0">
                <a:solidFill>
                  <a:srgbClr val="005957"/>
                </a:solidFill>
              </a:rPr>
              <a:t>데이터 속성을 추가하여 다시 학습시키기</a:t>
            </a: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61F6CF89-9C13-484A-8E9C-461211A35B29}"/>
              </a:ext>
            </a:extLst>
          </p:cNvPr>
          <p:cNvSpPr/>
          <p:nvPr/>
        </p:nvSpPr>
        <p:spPr>
          <a:xfrm>
            <a:off x="663438" y="613265"/>
            <a:ext cx="242503" cy="242503"/>
          </a:xfrm>
          <a:prstGeom prst="roundRect">
            <a:avLst>
              <a:gd name="adj" fmla="val 11376"/>
            </a:avLst>
          </a:prstGeom>
          <a:solidFill>
            <a:srgbClr val="0059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3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253457-49C9-4ED4-9B47-A99649A8E39B}"/>
              </a:ext>
            </a:extLst>
          </p:cNvPr>
          <p:cNvSpPr txBox="1"/>
          <p:nvPr/>
        </p:nvSpPr>
        <p:spPr>
          <a:xfrm>
            <a:off x="863588" y="1013540"/>
            <a:ext cx="7416824" cy="1245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600" spc="-150">
                <a:latin typeface="+mn-ea"/>
              </a:defRPr>
            </a:lvl1pPr>
          </a:lstStyle>
          <a:p>
            <a:r>
              <a:rPr lang="ko-KR" altLang="en-US" dirty="0"/>
              <a:t>대기 오염에 대한 정보는 초미세먼지의 수치가 아닌 좋음</a:t>
            </a:r>
            <a:r>
              <a:rPr lang="en-US" altLang="ko-KR" dirty="0"/>
              <a:t>,</a:t>
            </a:r>
            <a:r>
              <a:rPr lang="ko-KR" altLang="en-US" dirty="0"/>
              <a:t>보통</a:t>
            </a:r>
            <a:r>
              <a:rPr lang="en-US" altLang="ko-KR" dirty="0"/>
              <a:t>, </a:t>
            </a:r>
            <a:r>
              <a:rPr lang="ko-KR" altLang="en-US" dirty="0"/>
              <a:t>나쁨</a:t>
            </a:r>
            <a:r>
              <a:rPr lang="en-US" altLang="ko-KR" dirty="0"/>
              <a:t>, </a:t>
            </a:r>
            <a:r>
              <a:rPr lang="ko-KR" altLang="en-US" dirty="0"/>
              <a:t>매우 나쁨 등과 같은 범주</a:t>
            </a:r>
            <a:endParaRPr lang="en-US" altLang="ko-KR" dirty="0"/>
          </a:p>
          <a:p>
            <a:r>
              <a:rPr lang="ko-KR" altLang="en-US" dirty="0"/>
              <a:t>데이터에 있는 초미세먼지 측정값을 이용하여 초미세먼지의 좋음</a:t>
            </a:r>
            <a:r>
              <a:rPr lang="en-US" altLang="ko-KR" dirty="0"/>
              <a:t>, </a:t>
            </a:r>
            <a:r>
              <a:rPr lang="ko-KR" altLang="en-US" dirty="0"/>
              <a:t>보통</a:t>
            </a:r>
            <a:r>
              <a:rPr lang="en-US" altLang="ko-KR" dirty="0"/>
              <a:t>, </a:t>
            </a:r>
            <a:r>
              <a:rPr lang="ko-KR" altLang="en-US" dirty="0"/>
              <a:t>나쁨</a:t>
            </a:r>
            <a:r>
              <a:rPr lang="en-US" altLang="ko-KR" dirty="0"/>
              <a:t>, </a:t>
            </a:r>
            <a:r>
              <a:rPr lang="ko-KR" altLang="en-US" dirty="0"/>
              <a:t>매우 나쁨을 예측하는 인공지능 모델로 수정 가능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6EB7DA6-2F40-4ACF-B277-3C2E37E2A93B}"/>
              </a:ext>
            </a:extLst>
          </p:cNvPr>
          <p:cNvGrpSpPr/>
          <p:nvPr/>
        </p:nvGrpSpPr>
        <p:grpSpPr>
          <a:xfrm>
            <a:off x="1259632" y="2382205"/>
            <a:ext cx="3456384" cy="942282"/>
            <a:chOff x="1187624" y="2421556"/>
            <a:chExt cx="3240360" cy="942282"/>
          </a:xfrm>
        </p:grpSpPr>
        <p:sp>
          <p:nvSpPr>
            <p:cNvPr id="11" name="사각형: 둥근 위쪽 모서리 10">
              <a:extLst>
                <a:ext uri="{FF2B5EF4-FFF2-40B4-BE49-F238E27FC236}">
                  <a16:creationId xmlns:a16="http://schemas.microsoft.com/office/drawing/2014/main" id="{455D9503-A378-4E88-9F68-A0F1D04C07AB}"/>
                </a:ext>
              </a:extLst>
            </p:cNvPr>
            <p:cNvSpPr/>
            <p:nvPr/>
          </p:nvSpPr>
          <p:spPr>
            <a:xfrm flipV="1">
              <a:off x="1187624" y="2734746"/>
              <a:ext cx="3240360" cy="629092"/>
            </a:xfrm>
            <a:prstGeom prst="round2Same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사각형: 둥근 위쪽 모서리 9">
              <a:extLst>
                <a:ext uri="{FF2B5EF4-FFF2-40B4-BE49-F238E27FC236}">
                  <a16:creationId xmlns:a16="http://schemas.microsoft.com/office/drawing/2014/main" id="{01BC2E45-2FE2-46E6-BE4B-7C9E81D445FE}"/>
                </a:ext>
              </a:extLst>
            </p:cNvPr>
            <p:cNvSpPr/>
            <p:nvPr/>
          </p:nvSpPr>
          <p:spPr>
            <a:xfrm>
              <a:off x="1187624" y="2421556"/>
              <a:ext cx="3240360" cy="313190"/>
            </a:xfrm>
            <a:prstGeom prst="round2SameRect">
              <a:avLst/>
            </a:prstGeom>
            <a:solidFill>
              <a:srgbClr val="6492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D8F6153B-6EE0-41BC-8B88-445153B20444}"/>
              </a:ext>
            </a:extLst>
          </p:cNvPr>
          <p:cNvSpPr txBox="1"/>
          <p:nvPr/>
        </p:nvSpPr>
        <p:spPr>
          <a:xfrm>
            <a:off x="1331640" y="2384911"/>
            <a:ext cx="33843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0" i="0" u="none" strike="noStrike" baseline="0" dirty="0">
                <a:solidFill>
                  <a:srgbClr val="FFFFFF"/>
                </a:solidFill>
                <a:latin typeface="+mn-ea"/>
              </a:rPr>
              <a:t>좋음 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+mn-ea"/>
              </a:rPr>
              <a:t>PM</a:t>
            </a:r>
            <a:r>
              <a:rPr lang="en-US" altLang="ko-KR" sz="400" b="0" i="0" u="none" strike="noStrike" baseline="0" dirty="0">
                <a:solidFill>
                  <a:srgbClr val="000000"/>
                </a:solidFill>
                <a:latin typeface="+mn-ea"/>
              </a:rPr>
              <a:t>10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+mn-ea"/>
              </a:rPr>
              <a:t>: 0~30(㎍/㎥) PM</a:t>
            </a:r>
            <a:r>
              <a:rPr lang="en-US" altLang="ko-KR" sz="400" b="0" i="0" u="none" strike="noStrike" baseline="0" dirty="0">
                <a:solidFill>
                  <a:srgbClr val="000000"/>
                </a:solidFill>
                <a:latin typeface="+mn-ea"/>
              </a:rPr>
              <a:t>2.5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+mn-ea"/>
              </a:rPr>
              <a:t>: 0~15(㎍/㎥)</a:t>
            </a:r>
            <a:endParaRPr lang="ko-KR" altLang="en-US" sz="1200" dirty="0">
              <a:latin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9FB4EB-DD36-4932-B24D-45E53EA1B53D}"/>
              </a:ext>
            </a:extLst>
          </p:cNvPr>
          <p:cNvSpPr txBox="1"/>
          <p:nvPr/>
        </p:nvSpPr>
        <p:spPr>
          <a:xfrm>
            <a:off x="1268962" y="2808010"/>
            <a:ext cx="34563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200" b="0" i="0" u="none" strike="noStrike" baseline="0" dirty="0">
                <a:latin typeface="YDVYGOStd32"/>
              </a:rPr>
              <a:t>대기 오염 관련 질환자군에서도 영향이 유발되지 않을 수준</a:t>
            </a:r>
            <a:endParaRPr lang="ko-KR" altLang="en-US" sz="1200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5FDBF65-5F7E-4543-A05D-BD9665B7C7E9}"/>
              </a:ext>
            </a:extLst>
          </p:cNvPr>
          <p:cNvGrpSpPr/>
          <p:nvPr/>
        </p:nvGrpSpPr>
        <p:grpSpPr>
          <a:xfrm>
            <a:off x="4792994" y="2384911"/>
            <a:ext cx="3456384" cy="942282"/>
            <a:chOff x="1187624" y="2421556"/>
            <a:chExt cx="3240360" cy="942282"/>
          </a:xfrm>
        </p:grpSpPr>
        <p:sp>
          <p:nvSpPr>
            <p:cNvPr id="21" name="사각형: 둥근 위쪽 모서리 20">
              <a:extLst>
                <a:ext uri="{FF2B5EF4-FFF2-40B4-BE49-F238E27FC236}">
                  <a16:creationId xmlns:a16="http://schemas.microsoft.com/office/drawing/2014/main" id="{007C4160-24B7-4F86-9148-905D3E0832D8}"/>
                </a:ext>
              </a:extLst>
            </p:cNvPr>
            <p:cNvSpPr/>
            <p:nvPr/>
          </p:nvSpPr>
          <p:spPr>
            <a:xfrm flipV="1">
              <a:off x="1187624" y="2734746"/>
              <a:ext cx="3240360" cy="629092"/>
            </a:xfrm>
            <a:prstGeom prst="round2Same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사각형: 둥근 위쪽 모서리 21">
              <a:extLst>
                <a:ext uri="{FF2B5EF4-FFF2-40B4-BE49-F238E27FC236}">
                  <a16:creationId xmlns:a16="http://schemas.microsoft.com/office/drawing/2014/main" id="{C7ACBBC1-FB97-47F1-8D75-4F269B319519}"/>
                </a:ext>
              </a:extLst>
            </p:cNvPr>
            <p:cNvSpPr/>
            <p:nvPr/>
          </p:nvSpPr>
          <p:spPr>
            <a:xfrm>
              <a:off x="1187624" y="2421556"/>
              <a:ext cx="3240360" cy="313190"/>
            </a:xfrm>
            <a:prstGeom prst="round2SameRect">
              <a:avLst/>
            </a:prstGeom>
            <a:solidFill>
              <a:srgbClr val="81B5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937CD575-B9C3-4776-9C48-7F9CA506AFFC}"/>
              </a:ext>
            </a:extLst>
          </p:cNvPr>
          <p:cNvSpPr txBox="1"/>
          <p:nvPr/>
        </p:nvSpPr>
        <p:spPr>
          <a:xfrm>
            <a:off x="4833358" y="2393504"/>
            <a:ext cx="34470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0" i="0" u="none" strike="noStrike" baseline="0" dirty="0">
                <a:solidFill>
                  <a:srgbClr val="FFFFFF"/>
                </a:solidFill>
                <a:latin typeface="+mn-ea"/>
              </a:rPr>
              <a:t>보통</a:t>
            </a:r>
            <a:r>
              <a:rPr lang="ko-KR" altLang="en-US" sz="1200" b="0" i="0" u="none" strike="noStrike" baseline="0" dirty="0">
                <a:solidFill>
                  <a:srgbClr val="FFFFFF"/>
                </a:solidFill>
                <a:latin typeface="+mn-ea"/>
              </a:rPr>
              <a:t> 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+mn-ea"/>
              </a:rPr>
              <a:t>PM</a:t>
            </a:r>
            <a:r>
              <a:rPr lang="en-US" altLang="ko-KR" sz="400" b="0" i="0" u="none" strike="noStrike" baseline="0" dirty="0">
                <a:solidFill>
                  <a:srgbClr val="000000"/>
                </a:solidFill>
                <a:latin typeface="+mn-ea"/>
              </a:rPr>
              <a:t>10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+mn-ea"/>
              </a:rPr>
              <a:t>: 31~80(㎍/㎥) PM</a:t>
            </a:r>
            <a:r>
              <a:rPr lang="en-US" altLang="ko-KR" sz="400" b="0" i="0" u="none" strike="noStrike" baseline="0" dirty="0">
                <a:solidFill>
                  <a:srgbClr val="000000"/>
                </a:solidFill>
                <a:latin typeface="+mn-ea"/>
              </a:rPr>
              <a:t>2.5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+mn-ea"/>
              </a:rPr>
              <a:t>: 16~35(㎍/㎥)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04B114-D156-4B40-9F85-5DE5407C4F3A}"/>
              </a:ext>
            </a:extLst>
          </p:cNvPr>
          <p:cNvSpPr txBox="1"/>
          <p:nvPr/>
        </p:nvSpPr>
        <p:spPr>
          <a:xfrm>
            <a:off x="4802324" y="2810716"/>
            <a:ext cx="3456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1200" b="0" i="0" u="none" strike="noStrike" baseline="0">
                <a:latin typeface="YDVYGOStd32"/>
              </a:defRPr>
            </a:lvl1pPr>
          </a:lstStyle>
          <a:p>
            <a:r>
              <a:rPr lang="ko-KR" altLang="en-US" dirty="0"/>
              <a:t>환자군에게 만성 </a:t>
            </a:r>
            <a:r>
              <a:rPr lang="ko-KR" altLang="en-US" dirty="0" err="1"/>
              <a:t>노출시</a:t>
            </a:r>
            <a:r>
              <a:rPr lang="ko-KR" altLang="en-US" dirty="0"/>
              <a:t> 경미한 영향이 유발될 수 있는 수준</a:t>
            </a: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0D47B6C5-6628-47D0-848C-4E0E5FB21DAD}"/>
              </a:ext>
            </a:extLst>
          </p:cNvPr>
          <p:cNvGrpSpPr/>
          <p:nvPr/>
        </p:nvGrpSpPr>
        <p:grpSpPr>
          <a:xfrm>
            <a:off x="4792994" y="3401445"/>
            <a:ext cx="3465714" cy="1114520"/>
            <a:chOff x="4792994" y="3401445"/>
            <a:chExt cx="3465714" cy="1114520"/>
          </a:xfrm>
        </p:grpSpPr>
        <p:sp>
          <p:nvSpPr>
            <p:cNvPr id="31" name="사각형: 둥근 위쪽 모서리 30">
              <a:extLst>
                <a:ext uri="{FF2B5EF4-FFF2-40B4-BE49-F238E27FC236}">
                  <a16:creationId xmlns:a16="http://schemas.microsoft.com/office/drawing/2014/main" id="{B400FB06-1766-472A-B2BE-1CD861A3B477}"/>
                </a:ext>
              </a:extLst>
            </p:cNvPr>
            <p:cNvSpPr/>
            <p:nvPr/>
          </p:nvSpPr>
          <p:spPr>
            <a:xfrm flipV="1">
              <a:off x="4792994" y="3714634"/>
              <a:ext cx="3456384" cy="801331"/>
            </a:xfrm>
            <a:prstGeom prst="round2Same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사각형: 둥근 위쪽 모서리 31">
              <a:extLst>
                <a:ext uri="{FF2B5EF4-FFF2-40B4-BE49-F238E27FC236}">
                  <a16:creationId xmlns:a16="http://schemas.microsoft.com/office/drawing/2014/main" id="{E1AC0457-B4E6-4299-A6E1-CFCC6CACD46E}"/>
                </a:ext>
              </a:extLst>
            </p:cNvPr>
            <p:cNvSpPr/>
            <p:nvPr/>
          </p:nvSpPr>
          <p:spPr>
            <a:xfrm>
              <a:off x="4792994" y="3401445"/>
              <a:ext cx="3456384" cy="313190"/>
            </a:xfrm>
            <a:prstGeom prst="round2SameRect">
              <a:avLst/>
            </a:prstGeom>
            <a:solidFill>
              <a:srgbClr val="ED724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A29BBB9-0F1B-40EE-91D6-78F8B54E3D92}"/>
                </a:ext>
              </a:extLst>
            </p:cNvPr>
            <p:cNvSpPr txBox="1"/>
            <p:nvPr/>
          </p:nvSpPr>
          <p:spPr>
            <a:xfrm>
              <a:off x="4802324" y="3827250"/>
              <a:ext cx="345638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1200" b="0" i="0" u="none" strike="noStrike" baseline="0">
                  <a:latin typeface="YDVYGOStd32"/>
                </a:defRPr>
              </a:lvl1pPr>
            </a:lstStyle>
            <a:p>
              <a:r>
                <a:rPr lang="ko-KR" altLang="en-US" dirty="0"/>
                <a:t>환자군 및 민감군에게 급성 </a:t>
              </a:r>
              <a:r>
                <a:rPr lang="ko-KR" altLang="en-US" dirty="0" err="1"/>
                <a:t>노출시</a:t>
              </a:r>
              <a:r>
                <a:rPr lang="ko-KR" altLang="en-US" dirty="0"/>
                <a:t> 심각한 영향 유발</a:t>
              </a:r>
              <a:r>
                <a:rPr lang="en-US" altLang="ko-KR" dirty="0"/>
                <a:t>, </a:t>
              </a:r>
              <a:r>
                <a:rPr lang="ko-KR" altLang="en-US" dirty="0"/>
                <a:t>일반인도 약한 영향이 유발될 수 있는 수준</a:t>
              </a: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1E4E5752-4B94-475A-B334-3F00C5D51E58}"/>
              </a:ext>
            </a:extLst>
          </p:cNvPr>
          <p:cNvGrpSpPr/>
          <p:nvPr/>
        </p:nvGrpSpPr>
        <p:grpSpPr>
          <a:xfrm>
            <a:off x="1259632" y="3398738"/>
            <a:ext cx="3465714" cy="1117228"/>
            <a:chOff x="1259632" y="3398738"/>
            <a:chExt cx="3465714" cy="1117228"/>
          </a:xfrm>
        </p:grpSpPr>
        <p:sp>
          <p:nvSpPr>
            <p:cNvPr id="26" name="사각형: 둥근 위쪽 모서리 25">
              <a:extLst>
                <a:ext uri="{FF2B5EF4-FFF2-40B4-BE49-F238E27FC236}">
                  <a16:creationId xmlns:a16="http://schemas.microsoft.com/office/drawing/2014/main" id="{D9160CB4-E774-4AE0-9036-E4D1B8FBC87E}"/>
                </a:ext>
              </a:extLst>
            </p:cNvPr>
            <p:cNvSpPr/>
            <p:nvPr/>
          </p:nvSpPr>
          <p:spPr>
            <a:xfrm flipV="1">
              <a:off x="1259632" y="3722207"/>
              <a:ext cx="3456384" cy="793759"/>
            </a:xfrm>
            <a:prstGeom prst="round2Same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사각형: 둥근 위쪽 모서리 26">
              <a:extLst>
                <a:ext uri="{FF2B5EF4-FFF2-40B4-BE49-F238E27FC236}">
                  <a16:creationId xmlns:a16="http://schemas.microsoft.com/office/drawing/2014/main" id="{684D72BA-0590-4AC0-9758-C4CF6C06A5F8}"/>
                </a:ext>
              </a:extLst>
            </p:cNvPr>
            <p:cNvSpPr/>
            <p:nvPr/>
          </p:nvSpPr>
          <p:spPr>
            <a:xfrm>
              <a:off x="1259632" y="3398738"/>
              <a:ext cx="3456384" cy="323470"/>
            </a:xfrm>
            <a:prstGeom prst="round2SameRect">
              <a:avLst/>
            </a:prstGeom>
            <a:solidFill>
              <a:srgbClr val="FBCA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9B7657C-6468-4B12-80D9-52525F28FB99}"/>
                </a:ext>
              </a:extLst>
            </p:cNvPr>
            <p:cNvSpPr txBox="1"/>
            <p:nvPr/>
          </p:nvSpPr>
          <p:spPr>
            <a:xfrm>
              <a:off x="1259632" y="3839366"/>
              <a:ext cx="345638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1200" b="0" i="0" u="none" strike="noStrike" baseline="0">
                  <a:latin typeface="YDVYGOStd32"/>
                </a:defRPr>
              </a:lvl1pPr>
            </a:lstStyle>
            <a:p>
              <a:r>
                <a:rPr lang="ko-KR" altLang="en-US" dirty="0"/>
                <a:t>환자군 및 </a:t>
              </a:r>
              <a:r>
                <a:rPr lang="ko-KR" altLang="en-US" dirty="0" err="1"/>
                <a:t>민감군</a:t>
              </a:r>
              <a:r>
                <a:rPr lang="en-US" altLang="ko-KR" dirty="0"/>
                <a:t>(</a:t>
              </a:r>
              <a:r>
                <a:rPr lang="ko-KR" altLang="en-US" dirty="0"/>
                <a:t>어린이</a:t>
              </a:r>
              <a:r>
                <a:rPr lang="en-US" altLang="ko-KR" dirty="0"/>
                <a:t>, </a:t>
              </a:r>
              <a:r>
                <a:rPr lang="ko-KR" altLang="en-US" dirty="0"/>
                <a:t>노약자 등</a:t>
              </a:r>
              <a:r>
                <a:rPr lang="en-US" altLang="ko-KR" dirty="0"/>
                <a:t>)</a:t>
              </a:r>
              <a:r>
                <a:rPr lang="ko-KR" altLang="en-US" dirty="0"/>
                <a:t>에게 유해한 영향 유발</a:t>
              </a:r>
              <a:r>
                <a:rPr lang="en-US" altLang="ko-KR" dirty="0"/>
                <a:t>, </a:t>
              </a:r>
              <a:r>
                <a:rPr lang="ko-KR" altLang="en-US" dirty="0"/>
                <a:t>일반인도 건강상 불쾌감을 경험할 수 있는 수준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61A48E1-2282-4648-84C2-F68824F6C180}"/>
                </a:ext>
              </a:extLst>
            </p:cNvPr>
            <p:cNvSpPr txBox="1"/>
            <p:nvPr/>
          </p:nvSpPr>
          <p:spPr>
            <a:xfrm>
              <a:off x="1331640" y="3405239"/>
              <a:ext cx="339370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400" b="0" i="0" u="none" strike="noStrike" baseline="0" dirty="0">
                  <a:solidFill>
                    <a:srgbClr val="FFFFFF"/>
                  </a:solidFill>
                  <a:latin typeface="+mn-ea"/>
                </a:rPr>
                <a:t>나쁨 </a:t>
              </a:r>
              <a:r>
                <a:rPr lang="en-US" altLang="ko-KR" sz="1100" b="0" i="0" u="none" strike="noStrike" baseline="0" dirty="0">
                  <a:solidFill>
                    <a:srgbClr val="000000"/>
                  </a:solidFill>
                  <a:latin typeface="+mn-ea"/>
                </a:rPr>
                <a:t>PM</a:t>
              </a:r>
              <a:r>
                <a:rPr lang="en-US" altLang="ko-KR" sz="400" b="0" i="0" u="none" strike="noStrike" baseline="0" dirty="0">
                  <a:solidFill>
                    <a:srgbClr val="000000"/>
                  </a:solidFill>
                  <a:latin typeface="+mn-ea"/>
                </a:rPr>
                <a:t>10</a:t>
              </a:r>
              <a:r>
                <a:rPr lang="en-US" altLang="ko-KR" sz="1100" b="0" i="0" u="none" strike="noStrike" baseline="0" dirty="0">
                  <a:solidFill>
                    <a:srgbClr val="000000"/>
                  </a:solidFill>
                  <a:latin typeface="+mn-ea"/>
                </a:rPr>
                <a:t>: 81~150(㎍/㎥) PM</a:t>
              </a:r>
              <a:r>
                <a:rPr lang="en-US" altLang="ko-KR" sz="400" b="0" i="0" u="none" strike="noStrike" baseline="0" dirty="0">
                  <a:solidFill>
                    <a:srgbClr val="000000"/>
                  </a:solidFill>
                  <a:latin typeface="+mn-ea"/>
                </a:rPr>
                <a:t>2.5</a:t>
              </a:r>
              <a:r>
                <a:rPr lang="en-US" altLang="ko-KR" sz="1100" b="0" i="0" u="none" strike="noStrike" baseline="0" dirty="0">
                  <a:solidFill>
                    <a:srgbClr val="000000"/>
                  </a:solidFill>
                  <a:latin typeface="+mn-ea"/>
                </a:rPr>
                <a:t>: 36~75(㎍/㎥)</a:t>
              </a:r>
              <a:endParaRPr lang="ko-KR" altLang="en-US" sz="1200" dirty="0">
                <a:latin typeface="+mn-ea"/>
              </a:endParaRP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1AEDCCCF-9D85-4824-9964-5D59692836C1}"/>
              </a:ext>
            </a:extLst>
          </p:cNvPr>
          <p:cNvSpPr txBox="1"/>
          <p:nvPr/>
        </p:nvSpPr>
        <p:spPr>
          <a:xfrm>
            <a:off x="4792994" y="3423089"/>
            <a:ext cx="4104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0" i="0" u="none" strike="noStrike" baseline="0" dirty="0">
                <a:solidFill>
                  <a:srgbClr val="FFFFFF"/>
                </a:solidFill>
                <a:latin typeface="+mn-ea"/>
              </a:rPr>
              <a:t>매우 나쁨 </a:t>
            </a:r>
            <a:r>
              <a:rPr lang="en-US" altLang="ko-KR" sz="1050" b="0" i="0" u="none" strike="noStrike" baseline="0" dirty="0">
                <a:solidFill>
                  <a:srgbClr val="000000"/>
                </a:solidFill>
                <a:latin typeface="+mn-ea"/>
              </a:rPr>
              <a:t>PM</a:t>
            </a:r>
            <a:r>
              <a:rPr lang="en-US" altLang="ko-KR" sz="300" b="0" i="0" u="none" strike="noStrike" baseline="0" dirty="0">
                <a:solidFill>
                  <a:srgbClr val="000000"/>
                </a:solidFill>
                <a:latin typeface="+mn-ea"/>
              </a:rPr>
              <a:t>10</a:t>
            </a:r>
            <a:r>
              <a:rPr lang="en-US" altLang="ko-KR" sz="1050" b="0" i="0" u="none" strike="noStrike" baseline="0" dirty="0">
                <a:solidFill>
                  <a:srgbClr val="000000"/>
                </a:solidFill>
                <a:latin typeface="+mn-ea"/>
              </a:rPr>
              <a:t>: 151(㎍/㎥) </a:t>
            </a:r>
            <a:r>
              <a:rPr lang="ko-KR" altLang="en-US" sz="1050" b="0" i="0" u="none" strike="noStrike" baseline="0" dirty="0">
                <a:solidFill>
                  <a:srgbClr val="000000"/>
                </a:solidFill>
                <a:latin typeface="+mn-ea"/>
              </a:rPr>
              <a:t>이상 </a:t>
            </a:r>
            <a:r>
              <a:rPr lang="en-US" altLang="ko-KR" sz="1050" b="0" i="0" u="none" strike="noStrike" baseline="0" dirty="0">
                <a:solidFill>
                  <a:srgbClr val="000000"/>
                </a:solidFill>
                <a:latin typeface="+mn-ea"/>
              </a:rPr>
              <a:t>PM</a:t>
            </a:r>
            <a:r>
              <a:rPr lang="en-US" altLang="ko-KR" sz="300" b="0" i="0" u="none" strike="noStrike" baseline="0" dirty="0">
                <a:solidFill>
                  <a:srgbClr val="000000"/>
                </a:solidFill>
                <a:latin typeface="+mn-ea"/>
              </a:rPr>
              <a:t>2.5</a:t>
            </a:r>
            <a:r>
              <a:rPr lang="en-US" altLang="ko-KR" sz="1050" b="0" i="0" u="none" strike="noStrike" baseline="0" dirty="0">
                <a:solidFill>
                  <a:srgbClr val="000000"/>
                </a:solidFill>
                <a:latin typeface="+mn-ea"/>
              </a:rPr>
              <a:t>: 76(㎍/㎥) </a:t>
            </a:r>
            <a:r>
              <a:rPr lang="ko-KR" altLang="en-US" sz="1050" b="0" i="0" u="none" strike="noStrike" baseline="0" dirty="0">
                <a:solidFill>
                  <a:srgbClr val="000000"/>
                </a:solidFill>
                <a:latin typeface="+mn-ea"/>
              </a:rPr>
              <a:t>이상</a:t>
            </a:r>
            <a:endParaRPr lang="ko-KR" altLang="en-US" sz="1200" dirty="0"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4410C24-C7D8-4A77-AB0F-C9C3E4AEDC3B}"/>
              </a:ext>
            </a:extLst>
          </p:cNvPr>
          <p:cNvSpPr txBox="1"/>
          <p:nvPr/>
        </p:nvSpPr>
        <p:spPr>
          <a:xfrm>
            <a:off x="2439346" y="4525779"/>
            <a:ext cx="4572000" cy="343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lnSpc>
                <a:spcPts val="2200"/>
              </a:lnSpc>
              <a:defRPr sz="1400" b="1" spc="-150">
                <a:solidFill>
                  <a:srgbClr val="3A7DCE"/>
                </a:solidFill>
              </a:defRPr>
            </a:lvl1pPr>
          </a:lstStyle>
          <a:p>
            <a:r>
              <a:rPr lang="ko-KR" altLang="en-US" dirty="0"/>
              <a:t>그림 </a:t>
            </a:r>
            <a:r>
              <a:rPr lang="en-US" altLang="ko-KR" dirty="0"/>
              <a:t>8-7 </a:t>
            </a:r>
            <a:r>
              <a:rPr lang="ko-KR" altLang="en-US" b="0" dirty="0">
                <a:solidFill>
                  <a:schemeClr val="tx1"/>
                </a:solidFill>
              </a:rPr>
              <a:t>미세먼지 </a:t>
            </a:r>
            <a:r>
              <a:rPr lang="ko-KR" altLang="en-US" b="0" dirty="0" err="1">
                <a:solidFill>
                  <a:schemeClr val="tx1"/>
                </a:solidFill>
              </a:rPr>
              <a:t>농도별</a:t>
            </a:r>
            <a:r>
              <a:rPr lang="ko-KR" altLang="en-US" b="0" dirty="0">
                <a:solidFill>
                  <a:schemeClr val="tx1"/>
                </a:solidFill>
              </a:rPr>
              <a:t> 예보 등급</a:t>
            </a:r>
          </a:p>
        </p:txBody>
      </p:sp>
    </p:spTree>
    <p:extLst>
      <p:ext uri="{BB962C8B-B14F-4D97-AF65-F5344CB8AC3E}">
        <p14:creationId xmlns:p14="http://schemas.microsoft.com/office/powerpoint/2010/main" val="28992576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PC\Desktop\20220607_170413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1556" y="2004319"/>
            <a:ext cx="3363324" cy="221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B661579-E7DA-4AF2-AFBA-F9BE1F96F100}"/>
              </a:ext>
            </a:extLst>
          </p:cNvPr>
          <p:cNvSpPr txBox="1"/>
          <p:nvPr/>
        </p:nvSpPr>
        <p:spPr>
          <a:xfrm>
            <a:off x="922516" y="483518"/>
            <a:ext cx="5233659" cy="399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342900" indent="-342900">
              <a:lnSpc>
                <a:spcPts val="2700"/>
              </a:lnSpc>
              <a:buFont typeface="+mj-ea"/>
              <a:buAutoNum type="circleNumDbPlain"/>
              <a:defRPr sz="1700" b="1" spc="-150"/>
            </a:lvl1pPr>
          </a:lstStyle>
          <a:p>
            <a:r>
              <a:rPr lang="en-US" altLang="ko-KR" spc="-100" dirty="0"/>
              <a:t>[Feature Constructor] </a:t>
            </a:r>
            <a:r>
              <a:rPr lang="ko-KR" altLang="en-US" spc="-100" dirty="0"/>
              <a:t>위젯 추가하기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BBF246-0D93-4BD1-A623-6A5C62815195}"/>
              </a:ext>
            </a:extLst>
          </p:cNvPr>
          <p:cNvSpPr txBox="1"/>
          <p:nvPr/>
        </p:nvSpPr>
        <p:spPr>
          <a:xfrm>
            <a:off x="1253344" y="883115"/>
            <a:ext cx="7063072" cy="949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600" spc="-150">
                <a:latin typeface="+mn-ea"/>
              </a:defRPr>
            </a:lvl1pPr>
          </a:lstStyle>
          <a:p>
            <a:pPr algn="l"/>
            <a:r>
              <a:rPr lang="en-US" altLang="ko-KR" dirty="0"/>
              <a:t>[File] </a:t>
            </a:r>
            <a:r>
              <a:rPr lang="ko-KR" altLang="en-US" dirty="0"/>
              <a:t>위젯과 </a:t>
            </a:r>
            <a:r>
              <a:rPr lang="en-US" altLang="ko-KR" dirty="0"/>
              <a:t>[Data Sampler] </a:t>
            </a:r>
            <a:r>
              <a:rPr lang="ko-KR" altLang="en-US" dirty="0"/>
              <a:t>위젯의 연결선을 오른쪽 마우스로 클릭한 후</a:t>
            </a:r>
            <a:r>
              <a:rPr lang="en-US" altLang="ko-KR" dirty="0"/>
              <a:t>, ‘Insert Widget’</a:t>
            </a:r>
            <a:r>
              <a:rPr lang="ko-KR" altLang="en-US" dirty="0"/>
              <a:t>을 클릭</a:t>
            </a:r>
            <a:endParaRPr lang="en-US" altLang="ko-KR" dirty="0"/>
          </a:p>
          <a:p>
            <a:r>
              <a:rPr lang="ko-KR" altLang="en-US" dirty="0"/>
              <a:t>검색창에 새로운 속성을 만들 수 있는 </a:t>
            </a:r>
            <a:r>
              <a:rPr lang="en-US" altLang="ko-KR" dirty="0"/>
              <a:t>[Feature Constructor] </a:t>
            </a:r>
            <a:r>
              <a:rPr lang="ko-KR" altLang="en-US" dirty="0"/>
              <a:t>위젯을 검색하여 선택</a:t>
            </a:r>
            <a:endParaRPr lang="en-US" altLang="ko-KR" dirty="0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72BBB49F-A95E-4C34-B5C7-68B06E3F5925}"/>
              </a:ext>
            </a:extLst>
          </p:cNvPr>
          <p:cNvSpPr/>
          <p:nvPr/>
        </p:nvSpPr>
        <p:spPr>
          <a:xfrm>
            <a:off x="4964627" y="2915698"/>
            <a:ext cx="291722" cy="218453"/>
          </a:xfrm>
          <a:prstGeom prst="rightArrow">
            <a:avLst/>
          </a:prstGeom>
          <a:solidFill>
            <a:srgbClr val="DC5F0D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148" name="Picture 4" descr="C:\Users\PC\Desktop\20220607_170501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758"/>
          <a:stretch/>
        </p:blipFill>
        <p:spPr bwMode="auto">
          <a:xfrm>
            <a:off x="5401545" y="2004320"/>
            <a:ext cx="2719776" cy="221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56003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4FD1A2-51A0-44C2-86F9-F51E8F464D52}"/>
              </a:ext>
            </a:extLst>
          </p:cNvPr>
          <p:cNvSpPr txBox="1"/>
          <p:nvPr/>
        </p:nvSpPr>
        <p:spPr>
          <a:xfrm>
            <a:off x="922516" y="483518"/>
            <a:ext cx="5233659" cy="399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342900" indent="-342900">
              <a:lnSpc>
                <a:spcPts val="2700"/>
              </a:lnSpc>
              <a:buFont typeface="+mj-ea"/>
              <a:buAutoNum type="circleNumDbPlain"/>
              <a:defRPr sz="1700" b="1" spc="-150"/>
            </a:lvl1pPr>
          </a:lstStyle>
          <a:p>
            <a:pPr>
              <a:buFont typeface="+mj-ea"/>
              <a:buAutoNum type="circleNumDbPlain" startAt="2"/>
            </a:pPr>
            <a:r>
              <a:rPr lang="ko-KR" altLang="en-US" spc="-100" dirty="0"/>
              <a:t>새로운 범주형 </a:t>
            </a:r>
            <a:r>
              <a:rPr lang="en-US" altLang="ko-KR" spc="-100" dirty="0"/>
              <a:t>feature </a:t>
            </a:r>
            <a:r>
              <a:rPr lang="ko-KR" altLang="en-US" spc="-100" dirty="0"/>
              <a:t>만들기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ED467-5828-42D0-9E53-80989E4A6694}"/>
              </a:ext>
            </a:extLst>
          </p:cNvPr>
          <p:cNvSpPr txBox="1"/>
          <p:nvPr/>
        </p:nvSpPr>
        <p:spPr>
          <a:xfrm>
            <a:off x="5436096" y="1075304"/>
            <a:ext cx="3096344" cy="1389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600" spc="-150">
                <a:latin typeface="+mn-ea"/>
              </a:defRPr>
            </a:lvl1pPr>
          </a:lstStyle>
          <a:p>
            <a:r>
              <a:rPr lang="en-US" altLang="ko-KR" sz="1800" dirty="0"/>
              <a:t>[Feature Constructor] </a:t>
            </a:r>
            <a:r>
              <a:rPr lang="ko-KR" altLang="en-US" sz="1800" dirty="0"/>
              <a:t>위젯을 더블 클릭한 후</a:t>
            </a:r>
            <a:r>
              <a:rPr lang="en-US" altLang="ko-KR" sz="1800" dirty="0"/>
              <a:t>, </a:t>
            </a:r>
            <a:r>
              <a:rPr lang="ko-KR" altLang="en-US" sz="1800" dirty="0"/>
              <a:t>범주형 속성을 만들기 위해 ‘</a:t>
            </a:r>
            <a:r>
              <a:rPr lang="en-US" altLang="ko-KR" sz="1800" dirty="0"/>
              <a:t>New</a:t>
            </a:r>
            <a:r>
              <a:rPr lang="ko-KR" altLang="en-US" sz="1800" dirty="0"/>
              <a:t>’에서 </a:t>
            </a:r>
            <a:r>
              <a:rPr lang="en-US" altLang="ko-KR" sz="1800" dirty="0"/>
              <a:t>Categorical</a:t>
            </a:r>
            <a:r>
              <a:rPr lang="ko-KR" altLang="en-US" sz="1800" dirty="0"/>
              <a:t>을 선택</a:t>
            </a:r>
          </a:p>
        </p:txBody>
      </p:sp>
      <p:pic>
        <p:nvPicPr>
          <p:cNvPr id="4099" name="Picture 3" descr="C:\Users\PC\Desktop\20220214_181155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890" y="1155548"/>
            <a:ext cx="4030476" cy="2445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83403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PC\Desktop\20220214_18123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780222"/>
            <a:ext cx="4968552" cy="3021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7A7939-5549-465D-A8C0-32A108F24A35}"/>
              </a:ext>
            </a:extLst>
          </p:cNvPr>
          <p:cNvSpPr txBox="1"/>
          <p:nvPr/>
        </p:nvSpPr>
        <p:spPr>
          <a:xfrm>
            <a:off x="5580112" y="780222"/>
            <a:ext cx="3018250" cy="1056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600" spc="-150">
                <a:latin typeface="+mn-ea"/>
              </a:defRPr>
            </a:lvl1pPr>
          </a:lstStyle>
          <a:p>
            <a:r>
              <a:rPr lang="en-US" altLang="ko-KR" sz="1800" dirty="0"/>
              <a:t>feature</a:t>
            </a:r>
            <a:r>
              <a:rPr lang="ko-KR" altLang="en-US" sz="1800" dirty="0"/>
              <a:t>의 이름을 ‘</a:t>
            </a:r>
            <a:r>
              <a:rPr lang="en-US" altLang="ko-KR" sz="1800" dirty="0"/>
              <a:t>PM25_C</a:t>
            </a:r>
            <a:r>
              <a:rPr lang="ko-KR" altLang="en-US" sz="1800" dirty="0"/>
              <a:t>’로 변경한 후</a:t>
            </a:r>
            <a:r>
              <a:rPr lang="en-US" altLang="ko-KR" sz="1800" dirty="0"/>
              <a:t>, ‘Select feature</a:t>
            </a:r>
            <a:r>
              <a:rPr lang="ko-KR" altLang="en-US" sz="1800" dirty="0"/>
              <a:t>’에서 ‘</a:t>
            </a:r>
            <a:r>
              <a:rPr lang="en-US" altLang="ko-KR" sz="1800" dirty="0"/>
              <a:t>PM2.5</a:t>
            </a:r>
            <a:r>
              <a:rPr lang="ko-KR" altLang="en-US" sz="1800" dirty="0"/>
              <a:t>’ 선택</a:t>
            </a:r>
          </a:p>
        </p:txBody>
      </p:sp>
    </p:spTree>
    <p:extLst>
      <p:ext uri="{BB962C8B-B14F-4D97-AF65-F5344CB8AC3E}">
        <p14:creationId xmlns:p14="http://schemas.microsoft.com/office/powerpoint/2010/main" val="40502980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PC\Desktop\20220214_181258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043" y="915567"/>
            <a:ext cx="4014965" cy="2433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72CDC7-C694-484D-A1D9-08F5BACC7599}"/>
              </a:ext>
            </a:extLst>
          </p:cNvPr>
          <p:cNvSpPr txBox="1"/>
          <p:nvPr/>
        </p:nvSpPr>
        <p:spPr>
          <a:xfrm>
            <a:off x="4716016" y="843558"/>
            <a:ext cx="4032448" cy="724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pc="-150">
                <a:latin typeface="+mn-ea"/>
              </a:defRPr>
            </a:lvl1pPr>
          </a:lstStyle>
          <a:p>
            <a:r>
              <a:rPr lang="ko-KR" altLang="en-US" dirty="0"/>
              <a:t>수식과 </a:t>
            </a:r>
            <a:r>
              <a:rPr lang="en-US" altLang="ko-KR" dirty="0"/>
              <a:t>Value(optional)</a:t>
            </a:r>
            <a:r>
              <a:rPr lang="ko-KR" altLang="en-US" dirty="0"/>
              <a:t>를 아래 표를 참고하여 채운 후</a:t>
            </a:r>
            <a:r>
              <a:rPr lang="en-US" altLang="ko-KR" dirty="0"/>
              <a:t>, Send</a:t>
            </a:r>
            <a:r>
              <a:rPr lang="ko-KR" altLang="en-US" dirty="0"/>
              <a:t>를 클릭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C2FD3AE-066F-4FF4-A3CC-2057987837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132816"/>
              </p:ext>
            </p:extLst>
          </p:nvPr>
        </p:nvGraphicFramePr>
        <p:xfrm>
          <a:off x="4788024" y="1635646"/>
          <a:ext cx="3756632" cy="12873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336">
                  <a:extLst>
                    <a:ext uri="{9D8B030D-6E8A-4147-A177-3AD203B41FA5}">
                      <a16:colId xmlns:a16="http://schemas.microsoft.com/office/drawing/2014/main" val="779639149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704338570"/>
                    </a:ext>
                  </a:extLst>
                </a:gridCol>
              </a:tblGrid>
              <a:tr h="4644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수식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 if PM2_5&lt;=15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else 1 if PM2_5&lt;= 35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else 2 if PM2_5&lt;= 75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else 3</a:t>
                      </a:r>
                      <a:endParaRPr lang="ko-KR" altLang="en-US" sz="9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794866"/>
                  </a:ext>
                </a:extLst>
              </a:tr>
              <a:tr h="4644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Value(optional)</a:t>
                      </a:r>
                      <a:endParaRPr lang="ko-KR" altLang="en-US" sz="12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좋음</a:t>
                      </a:r>
                      <a:r>
                        <a:rPr lang="en-US" altLang="ko-KR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보통</a:t>
                      </a:r>
                      <a:r>
                        <a:rPr lang="en-US" altLang="ko-KR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나쁨</a:t>
                      </a:r>
                      <a:r>
                        <a:rPr lang="en-US" altLang="ko-KR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매우 나쁨</a:t>
                      </a:r>
                      <a:endParaRPr lang="ko-KR" altLang="en-US" sz="900" b="0" i="0" u="none" strike="noStrike" kern="12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515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14696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PC\Desktop\20220607_170553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275607"/>
            <a:ext cx="2604288" cy="1829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D:\Choihaitnim\2. 정보\!!정보단행본\오렌지\! 2쇄 작업\이전\0앞부속_3_5_8_햇\126p-pm25c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1301519"/>
            <a:ext cx="5023757" cy="3312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F01AE1-E759-4311-8273-1D6E25C20CBD}"/>
              </a:ext>
            </a:extLst>
          </p:cNvPr>
          <p:cNvSpPr txBox="1"/>
          <p:nvPr/>
        </p:nvSpPr>
        <p:spPr>
          <a:xfrm>
            <a:off x="683568" y="483518"/>
            <a:ext cx="7992888" cy="724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pc="-150">
                <a:latin typeface="+mn-ea"/>
              </a:defRPr>
            </a:lvl1pPr>
          </a:lstStyle>
          <a:p>
            <a:r>
              <a:rPr lang="en-US" altLang="ko-KR" dirty="0"/>
              <a:t>[Data Table] </a:t>
            </a:r>
            <a:r>
              <a:rPr lang="ko-KR" altLang="en-US" dirty="0"/>
              <a:t>위젯을 새로 끌어와 </a:t>
            </a:r>
            <a:r>
              <a:rPr lang="en-US" altLang="ko-KR" dirty="0"/>
              <a:t>[Feature Constructor] </a:t>
            </a:r>
            <a:r>
              <a:rPr lang="ko-KR" altLang="en-US" dirty="0"/>
              <a:t>위젯에 연결한 후 더블 클릭하여 속성 ‘</a:t>
            </a:r>
            <a:r>
              <a:rPr lang="en-US" altLang="ko-KR" dirty="0"/>
              <a:t>PM25_C</a:t>
            </a:r>
            <a:r>
              <a:rPr lang="ko-KR" altLang="en-US" dirty="0"/>
              <a:t>’가 생성된 것을 확인</a:t>
            </a:r>
          </a:p>
        </p:txBody>
      </p:sp>
      <p:sp>
        <p:nvSpPr>
          <p:cNvPr id="8" name="모서리가 둥근 직사각형 4">
            <a:extLst>
              <a:ext uri="{FF2B5EF4-FFF2-40B4-BE49-F238E27FC236}">
                <a16:creationId xmlns:a16="http://schemas.microsoft.com/office/drawing/2014/main" id="{F1F60258-E973-4632-A572-4E889A316935}"/>
              </a:ext>
            </a:extLst>
          </p:cNvPr>
          <p:cNvSpPr/>
          <p:nvPr/>
        </p:nvSpPr>
        <p:spPr>
          <a:xfrm>
            <a:off x="7927589" y="1528652"/>
            <a:ext cx="630078" cy="2854883"/>
          </a:xfrm>
          <a:prstGeom prst="roundRect">
            <a:avLst>
              <a:gd name="adj" fmla="val 7199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BA7DD895-992F-49CB-A360-39A8B1F7FB93}"/>
              </a:ext>
            </a:extLst>
          </p:cNvPr>
          <p:cNvSpPr/>
          <p:nvPr/>
        </p:nvSpPr>
        <p:spPr>
          <a:xfrm>
            <a:off x="3450682" y="1851670"/>
            <a:ext cx="217869" cy="218453"/>
          </a:xfrm>
          <a:prstGeom prst="rightArrow">
            <a:avLst/>
          </a:prstGeom>
          <a:solidFill>
            <a:srgbClr val="DC5F0D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805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 descr="C:\Users\PC\Desktop\20220607_170655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2200928"/>
            <a:ext cx="3427463" cy="1282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C:\Users\PC\Desktop\20220607_170643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220191"/>
            <a:ext cx="3384376" cy="1267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AE2BA8E-5B74-4272-AA74-71F26DD53557}"/>
              </a:ext>
            </a:extLst>
          </p:cNvPr>
          <p:cNvSpPr txBox="1"/>
          <p:nvPr/>
        </p:nvSpPr>
        <p:spPr>
          <a:xfrm>
            <a:off x="922516" y="483518"/>
            <a:ext cx="5233659" cy="410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342900" indent="-342900">
              <a:lnSpc>
                <a:spcPts val="2700"/>
              </a:lnSpc>
              <a:buFont typeface="+mj-ea"/>
              <a:buAutoNum type="circleNumDbPlain"/>
              <a:defRPr sz="1700" b="1" spc="-150"/>
            </a:lvl1pPr>
          </a:lstStyle>
          <a:p>
            <a:pPr>
              <a:buFont typeface="+mj-ea"/>
              <a:buAutoNum type="circleNumDbPlain" startAt="3"/>
            </a:pPr>
            <a:r>
              <a:rPr lang="ko-KR" altLang="en-US" sz="1800" i="0" u="none" strike="noStrike" baseline="0" dirty="0">
                <a:latin typeface="+mn-ea"/>
              </a:rPr>
              <a:t>속성 ‘</a:t>
            </a:r>
            <a:r>
              <a:rPr lang="en-US" altLang="ko-KR" sz="1800" i="0" u="none" strike="noStrike" baseline="0" dirty="0">
                <a:latin typeface="+mn-ea"/>
              </a:rPr>
              <a:t>PM25_C’</a:t>
            </a:r>
            <a:r>
              <a:rPr lang="ko-KR" altLang="en-US" sz="1800" i="0" u="none" strike="noStrike" baseline="0" dirty="0">
                <a:latin typeface="+mn-ea"/>
              </a:rPr>
              <a:t>의 역할 변경하기</a:t>
            </a:r>
            <a:endParaRPr lang="ko-KR" altLang="en-US" spc="0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BEC3BA-8F5D-45C7-A4B7-AC9EB42EAF9F}"/>
              </a:ext>
            </a:extLst>
          </p:cNvPr>
          <p:cNvSpPr txBox="1"/>
          <p:nvPr/>
        </p:nvSpPr>
        <p:spPr>
          <a:xfrm>
            <a:off x="1043608" y="894208"/>
            <a:ext cx="7704856" cy="1056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pc="-150">
                <a:latin typeface="+mn-ea"/>
              </a:defRPr>
            </a:lvl1pPr>
          </a:lstStyle>
          <a:p>
            <a:r>
              <a:rPr lang="en-US" altLang="ko-KR" dirty="0"/>
              <a:t>[Feature Constructor] </a:t>
            </a:r>
            <a:r>
              <a:rPr lang="ko-KR" altLang="en-US" dirty="0"/>
              <a:t>위젯과 </a:t>
            </a:r>
            <a:r>
              <a:rPr lang="en-US" altLang="ko-KR" dirty="0"/>
              <a:t>[Data Sampler] </a:t>
            </a:r>
            <a:r>
              <a:rPr lang="ko-KR" altLang="en-US" dirty="0"/>
              <a:t>위젯의 연결선을 오른쪽 마우스로 클릭한 후</a:t>
            </a:r>
            <a:r>
              <a:rPr lang="en-US" altLang="ko-KR" dirty="0"/>
              <a:t>, Insert Widget</a:t>
            </a:r>
            <a:r>
              <a:rPr lang="ko-KR" altLang="en-US" dirty="0"/>
              <a:t>을 선택하고 ‘</a:t>
            </a:r>
            <a:r>
              <a:rPr lang="en-US" altLang="ko-KR" dirty="0"/>
              <a:t>Select Columns’</a:t>
            </a:r>
            <a:r>
              <a:rPr lang="ko-KR" altLang="en-US" dirty="0"/>
              <a:t>을 검색하여 </a:t>
            </a:r>
            <a:r>
              <a:rPr lang="en-US" altLang="ko-KR" dirty="0"/>
              <a:t>[Select Columns] </a:t>
            </a:r>
            <a:r>
              <a:rPr lang="ko-KR" altLang="en-US" dirty="0"/>
              <a:t>위젯을 사이에 연결</a:t>
            </a: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2E80DE99-70F5-4D4D-B503-FBECED900A87}"/>
              </a:ext>
            </a:extLst>
          </p:cNvPr>
          <p:cNvSpPr/>
          <p:nvPr/>
        </p:nvSpPr>
        <p:spPr>
          <a:xfrm>
            <a:off x="4711340" y="2732944"/>
            <a:ext cx="217869" cy="218453"/>
          </a:xfrm>
          <a:prstGeom prst="rightArrow">
            <a:avLst/>
          </a:prstGeom>
          <a:solidFill>
            <a:srgbClr val="DC5F0D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59540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D:\Choihaitnim\2. 정보\!!정보단행본\오렌지\! 2쇄 작업\이전\0앞부속_3_5_8_햇\127p-3-w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5204" y="1409655"/>
            <a:ext cx="3273590" cy="3273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C93899-54C4-4F0F-A654-CD5F6717DDCC}"/>
              </a:ext>
            </a:extLst>
          </p:cNvPr>
          <p:cNvSpPr txBox="1"/>
          <p:nvPr/>
        </p:nvSpPr>
        <p:spPr>
          <a:xfrm>
            <a:off x="827584" y="555526"/>
            <a:ext cx="7704856" cy="724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pc="-150">
                <a:latin typeface="+mn-ea"/>
              </a:defRPr>
            </a:lvl1pPr>
          </a:lstStyle>
          <a:p>
            <a:r>
              <a:rPr lang="en-US" altLang="ko-KR" dirty="0"/>
              <a:t>[Select Columns] </a:t>
            </a:r>
            <a:r>
              <a:rPr lang="ko-KR" altLang="en-US" dirty="0"/>
              <a:t>위젯을 더블 클릭하여 속성 ‘</a:t>
            </a:r>
            <a:r>
              <a:rPr lang="en-US" altLang="ko-KR" dirty="0"/>
              <a:t>PM25_C</a:t>
            </a:r>
            <a:r>
              <a:rPr lang="ko-KR" altLang="en-US" dirty="0"/>
              <a:t>’의 역할을 </a:t>
            </a:r>
            <a:r>
              <a:rPr lang="en-US" altLang="ko-KR" dirty="0"/>
              <a:t>target</a:t>
            </a:r>
            <a:r>
              <a:rPr lang="ko-KR" altLang="en-US" dirty="0"/>
              <a:t>으로 변경하고</a:t>
            </a:r>
            <a:r>
              <a:rPr lang="en-US" altLang="ko-KR" dirty="0"/>
              <a:t>, </a:t>
            </a:r>
            <a:r>
              <a:rPr lang="ko-KR" altLang="en-US" dirty="0"/>
              <a:t>원래 </a:t>
            </a:r>
            <a:r>
              <a:rPr lang="en-US" altLang="ko-KR" dirty="0"/>
              <a:t>target</a:t>
            </a:r>
            <a:r>
              <a:rPr lang="ko-KR" altLang="en-US" dirty="0"/>
              <a:t>이었던 속성 ‘</a:t>
            </a:r>
            <a:r>
              <a:rPr lang="en-US" altLang="ko-KR" dirty="0"/>
              <a:t>PM2.5</a:t>
            </a:r>
            <a:r>
              <a:rPr lang="ko-KR" altLang="en-US" dirty="0"/>
              <a:t>’의 역할은 제외시키기</a:t>
            </a:r>
          </a:p>
        </p:txBody>
      </p:sp>
      <p:sp>
        <p:nvSpPr>
          <p:cNvPr id="10" name="모서리가 둥근 직사각형 4">
            <a:extLst>
              <a:ext uri="{FF2B5EF4-FFF2-40B4-BE49-F238E27FC236}">
                <a16:creationId xmlns:a16="http://schemas.microsoft.com/office/drawing/2014/main" id="{98C9ED55-5EB0-471D-B35B-C91642C7F35F}"/>
              </a:ext>
            </a:extLst>
          </p:cNvPr>
          <p:cNvSpPr/>
          <p:nvPr/>
        </p:nvSpPr>
        <p:spPr>
          <a:xfrm>
            <a:off x="2970105" y="1918943"/>
            <a:ext cx="1348764" cy="216024"/>
          </a:xfrm>
          <a:prstGeom prst="roundRect">
            <a:avLst>
              <a:gd name="adj" fmla="val 25164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모서리가 둥근 직사각형 4">
            <a:extLst>
              <a:ext uri="{FF2B5EF4-FFF2-40B4-BE49-F238E27FC236}">
                <a16:creationId xmlns:a16="http://schemas.microsoft.com/office/drawing/2014/main" id="{38F0F08B-8613-49E2-844B-2CFEF437DC34}"/>
              </a:ext>
            </a:extLst>
          </p:cNvPr>
          <p:cNvSpPr/>
          <p:nvPr/>
        </p:nvSpPr>
        <p:spPr>
          <a:xfrm>
            <a:off x="4788023" y="3259317"/>
            <a:ext cx="1420771" cy="216024"/>
          </a:xfrm>
          <a:prstGeom prst="roundRect">
            <a:avLst>
              <a:gd name="adj" fmla="val 2843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519183-1CC2-44F7-ADD7-28950B6006FA}"/>
              </a:ext>
            </a:extLst>
          </p:cNvPr>
          <p:cNvSpPr txBox="1"/>
          <p:nvPr/>
        </p:nvSpPr>
        <p:spPr>
          <a:xfrm>
            <a:off x="1115616" y="2027803"/>
            <a:ext cx="1387540" cy="1075836"/>
          </a:xfrm>
          <a:prstGeom prst="wedgeRoundRectCallout">
            <a:avLst>
              <a:gd name="adj1" fmla="val 78757"/>
              <a:gd name="adj2" fmla="val -44389"/>
              <a:gd name="adj3" fmla="val 16667"/>
            </a:avLst>
          </a:prstGeom>
          <a:solidFill>
            <a:schemeClr val="bg1"/>
          </a:solidFill>
          <a:ln>
            <a:solidFill>
              <a:srgbClr val="78B8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>
              <a:defRPr sz="1400">
                <a:latin typeface="+mn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100" dirty="0">
                <a:solidFill>
                  <a:schemeClr val="tx1"/>
                </a:solidFill>
              </a:rPr>
              <a:t>원래 </a:t>
            </a:r>
            <a:r>
              <a:rPr lang="en-US" altLang="ko-KR" spc="-100" dirty="0">
                <a:solidFill>
                  <a:schemeClr val="tx1"/>
                </a:solidFill>
              </a:rPr>
              <a:t>target</a:t>
            </a:r>
            <a:r>
              <a:rPr lang="ko-KR" altLang="en-US" spc="-100" dirty="0">
                <a:solidFill>
                  <a:schemeClr val="tx1"/>
                </a:solidFill>
              </a:rPr>
              <a:t>이었던 속성 ‘</a:t>
            </a:r>
            <a:r>
              <a:rPr lang="en-US" altLang="ko-KR" spc="-100" dirty="0">
                <a:solidFill>
                  <a:schemeClr val="tx1"/>
                </a:solidFill>
              </a:rPr>
              <a:t>PM2.5’</a:t>
            </a:r>
            <a:r>
              <a:rPr lang="ko-KR" altLang="en-US" spc="-100" dirty="0">
                <a:solidFill>
                  <a:schemeClr val="tx1"/>
                </a:solidFill>
              </a:rPr>
              <a:t>의 역할을 제외시킨다</a:t>
            </a:r>
            <a:r>
              <a:rPr lang="en-US" altLang="ko-KR" spc="-100" dirty="0">
                <a:solidFill>
                  <a:schemeClr val="tx1"/>
                </a:solidFill>
              </a:rPr>
              <a:t>.</a:t>
            </a:r>
            <a:endParaRPr lang="ko-KR" altLang="en-US" spc="-1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D74BF4-355C-40CC-BB89-767A5BDC1AC2}"/>
              </a:ext>
            </a:extLst>
          </p:cNvPr>
          <p:cNvSpPr txBox="1"/>
          <p:nvPr/>
        </p:nvSpPr>
        <p:spPr>
          <a:xfrm>
            <a:off x="6444208" y="3237604"/>
            <a:ext cx="1584176" cy="846314"/>
          </a:xfrm>
          <a:prstGeom prst="wedgeRoundRectCallout">
            <a:avLst>
              <a:gd name="adj1" fmla="val -61520"/>
              <a:gd name="adj2" fmla="val -33603"/>
              <a:gd name="adj3" fmla="val 16667"/>
            </a:avLst>
          </a:prstGeom>
          <a:solidFill>
            <a:schemeClr val="bg1"/>
          </a:solidFill>
          <a:ln>
            <a:solidFill>
              <a:srgbClr val="78B8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>
              <a:defRPr sz="1400">
                <a:latin typeface="+mn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100" dirty="0">
                <a:solidFill>
                  <a:schemeClr val="tx1"/>
                </a:solidFill>
              </a:rPr>
              <a:t>속성 ‘</a:t>
            </a:r>
            <a:r>
              <a:rPr lang="en-US" altLang="ko-KR" spc="-100" dirty="0">
                <a:solidFill>
                  <a:schemeClr val="tx1"/>
                </a:solidFill>
              </a:rPr>
              <a:t>PM25_C’</a:t>
            </a:r>
            <a:r>
              <a:rPr lang="ko-KR" altLang="en-US" spc="-100" dirty="0">
                <a:solidFill>
                  <a:schemeClr val="tx1"/>
                </a:solidFill>
              </a:rPr>
              <a:t>의</a:t>
            </a:r>
          </a:p>
          <a:p>
            <a:r>
              <a:rPr lang="ko-KR" altLang="en-US" spc="-100" dirty="0">
                <a:solidFill>
                  <a:schemeClr val="tx1"/>
                </a:solidFill>
              </a:rPr>
              <a:t>역할을 </a:t>
            </a:r>
            <a:r>
              <a:rPr lang="en-US" altLang="ko-KR" spc="-100" dirty="0">
                <a:solidFill>
                  <a:schemeClr val="tx1"/>
                </a:solidFill>
              </a:rPr>
              <a:t>target</a:t>
            </a:r>
            <a:r>
              <a:rPr lang="ko-KR" altLang="en-US" spc="-100" dirty="0">
                <a:solidFill>
                  <a:schemeClr val="tx1"/>
                </a:solidFill>
              </a:rPr>
              <a:t>으로</a:t>
            </a:r>
          </a:p>
          <a:p>
            <a:r>
              <a:rPr lang="ko-KR" altLang="en-US" spc="-100" dirty="0">
                <a:solidFill>
                  <a:schemeClr val="tx1"/>
                </a:solidFill>
              </a:rPr>
              <a:t>변경한다</a:t>
            </a:r>
            <a:r>
              <a:rPr lang="en-US" altLang="ko-KR" spc="-100" dirty="0">
                <a:solidFill>
                  <a:schemeClr val="tx1"/>
                </a:solidFill>
              </a:rPr>
              <a:t>.</a:t>
            </a:r>
            <a:endParaRPr lang="ko-KR" altLang="en-US" spc="-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4496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7" grpId="0" animBg="1"/>
      <p:bldP spid="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Picture 3" descr="C:\Users\PC\Desktop\20220607_17080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505" y="2369129"/>
            <a:ext cx="2952504" cy="2219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98A4C68-4A31-43CD-9AFD-11665E22C068}"/>
              </a:ext>
            </a:extLst>
          </p:cNvPr>
          <p:cNvSpPr txBox="1"/>
          <p:nvPr/>
        </p:nvSpPr>
        <p:spPr>
          <a:xfrm>
            <a:off x="922516" y="483518"/>
            <a:ext cx="5233659" cy="410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342900" indent="-342900">
              <a:lnSpc>
                <a:spcPts val="2700"/>
              </a:lnSpc>
              <a:buFont typeface="+mj-ea"/>
              <a:buAutoNum type="circleNumDbPlain"/>
              <a:defRPr sz="1700" b="1" spc="-150"/>
            </a:lvl1pPr>
          </a:lstStyle>
          <a:p>
            <a:pPr>
              <a:buFont typeface="+mj-ea"/>
              <a:buAutoNum type="circleNumDbPlain" startAt="4"/>
            </a:pPr>
            <a:r>
              <a:rPr lang="ko-KR" altLang="en-US" sz="1800" i="0" u="none" strike="noStrike" baseline="0" dirty="0">
                <a:latin typeface="SDDoksuri-bMd"/>
              </a:rPr>
              <a:t>모델 연결하여 학습시키기</a:t>
            </a:r>
            <a:endParaRPr lang="ko-KR" altLang="en-US" spc="0" dirty="0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07F023-7117-4F52-9E70-D6E6D4430686}"/>
              </a:ext>
            </a:extLst>
          </p:cNvPr>
          <p:cNvSpPr txBox="1"/>
          <p:nvPr/>
        </p:nvSpPr>
        <p:spPr>
          <a:xfrm>
            <a:off x="4067944" y="1012846"/>
            <a:ext cx="4572000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pc="-150">
                <a:latin typeface="+mn-ea"/>
              </a:defRPr>
            </a:lvl1pPr>
          </a:lstStyle>
          <a:p>
            <a:r>
              <a:rPr lang="en-US" altLang="ko-KR" dirty="0"/>
              <a:t>123~124</a:t>
            </a:r>
            <a:r>
              <a:rPr lang="ko-KR" altLang="en-US" dirty="0"/>
              <a:t>쪽에서 숫자형 데이터를 예측할 때 사용한 </a:t>
            </a:r>
            <a:r>
              <a:rPr lang="en-US" altLang="ko-KR" dirty="0"/>
              <a:t>Linear Regression </a:t>
            </a:r>
            <a:r>
              <a:rPr lang="ko-KR" altLang="en-US" dirty="0"/>
              <a:t>모델은 </a:t>
            </a:r>
            <a:r>
              <a:rPr lang="en-US" altLang="ko-KR" dirty="0"/>
              <a:t>target</a:t>
            </a:r>
            <a:r>
              <a:rPr lang="ko-KR" altLang="en-US" dirty="0"/>
              <a:t>이 범주형으로 바뀌게 됨에 따라 사용 불가능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38CC11-86C5-43EC-89B0-3DE38E916A28}"/>
              </a:ext>
            </a:extLst>
          </p:cNvPr>
          <p:cNvSpPr txBox="1"/>
          <p:nvPr/>
        </p:nvSpPr>
        <p:spPr>
          <a:xfrm>
            <a:off x="4067944" y="2357501"/>
            <a:ext cx="4572000" cy="1389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pc="-150">
                <a:latin typeface="+mn-ea"/>
              </a:defRPr>
            </a:lvl1pPr>
          </a:lstStyle>
          <a:p>
            <a:r>
              <a:rPr lang="en-US" altLang="ko-KR" dirty="0"/>
              <a:t>[Linear Regression] </a:t>
            </a:r>
            <a:r>
              <a:rPr lang="ko-KR" altLang="en-US" dirty="0"/>
              <a:t>위젯 삭제</a:t>
            </a:r>
            <a:endParaRPr lang="en-US" altLang="ko-KR" dirty="0"/>
          </a:p>
          <a:p>
            <a:r>
              <a:rPr lang="en-US" altLang="ko-KR" dirty="0"/>
              <a:t>[Logistic Regression]</a:t>
            </a:r>
            <a:r>
              <a:rPr lang="ko-KR" altLang="en-US" dirty="0"/>
              <a:t>과 </a:t>
            </a:r>
            <a:r>
              <a:rPr lang="en-US" altLang="ko-KR" dirty="0"/>
              <a:t>[</a:t>
            </a:r>
            <a:r>
              <a:rPr lang="en-US" altLang="ko-KR" dirty="0" err="1"/>
              <a:t>kNN</a:t>
            </a:r>
            <a:r>
              <a:rPr lang="en-US" altLang="ko-KR" dirty="0"/>
              <a:t>] </a:t>
            </a:r>
            <a:r>
              <a:rPr lang="ko-KR" altLang="en-US" dirty="0"/>
              <a:t>위젯 추가</a:t>
            </a:r>
          </a:p>
          <a:p>
            <a:r>
              <a:rPr lang="ko-KR" altLang="en-US" dirty="0"/>
              <a:t>각각 </a:t>
            </a:r>
            <a:r>
              <a:rPr lang="en-US" altLang="ko-KR" dirty="0"/>
              <a:t>[Data Sampler] </a:t>
            </a:r>
            <a:r>
              <a:rPr lang="ko-KR" altLang="en-US" dirty="0"/>
              <a:t>위젯에 연결하여 학습시키기</a:t>
            </a:r>
          </a:p>
        </p:txBody>
      </p:sp>
      <p:sp>
        <p:nvSpPr>
          <p:cNvPr id="11" name="모서리가 둥근 직사각형 4">
            <a:extLst>
              <a:ext uri="{FF2B5EF4-FFF2-40B4-BE49-F238E27FC236}">
                <a16:creationId xmlns:a16="http://schemas.microsoft.com/office/drawing/2014/main" id="{4DB9A786-5B93-434B-AB1B-B111E8DACF03}"/>
              </a:ext>
            </a:extLst>
          </p:cNvPr>
          <p:cNvSpPr/>
          <p:nvPr/>
        </p:nvSpPr>
        <p:spPr>
          <a:xfrm>
            <a:off x="2586534" y="2401224"/>
            <a:ext cx="1035612" cy="1466669"/>
          </a:xfrm>
          <a:prstGeom prst="roundRect">
            <a:avLst>
              <a:gd name="adj" fmla="val 7199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218" name="Picture 2" descr="C:\Users\PC\Desktop\20220214_181507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505" y="976396"/>
            <a:ext cx="2945432" cy="1290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380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D:\Choihaitnim\2. 정보\!!정보단행본\오렌지\! 3쇄 작업\(220527) 오렌지_햇 수정\128p-1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59" b="6024"/>
          <a:stretch/>
        </p:blipFill>
        <p:spPr bwMode="auto">
          <a:xfrm>
            <a:off x="1475656" y="2801946"/>
            <a:ext cx="4346609" cy="2081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모서리가 둥근 직사각형 6">
            <a:extLst>
              <a:ext uri="{FF2B5EF4-FFF2-40B4-BE49-F238E27FC236}">
                <a16:creationId xmlns:a16="http://schemas.microsoft.com/office/drawing/2014/main" id="{0A35CEF0-43E3-426A-93BC-EF5CF25ECF0E}"/>
              </a:ext>
            </a:extLst>
          </p:cNvPr>
          <p:cNvSpPr/>
          <p:nvPr/>
        </p:nvSpPr>
        <p:spPr>
          <a:xfrm>
            <a:off x="1547664" y="2099950"/>
            <a:ext cx="996363" cy="256818"/>
          </a:xfrm>
          <a:prstGeom prst="roundRect">
            <a:avLst/>
          </a:prstGeom>
          <a:solidFill>
            <a:srgbClr val="C1E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C6E423-C387-47B4-97AC-1456407DF40F}"/>
              </a:ext>
            </a:extLst>
          </p:cNvPr>
          <p:cNvSpPr txBox="1"/>
          <p:nvPr/>
        </p:nvSpPr>
        <p:spPr>
          <a:xfrm>
            <a:off x="1259632" y="2030582"/>
            <a:ext cx="7416824" cy="7243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b="0" i="0" u="none" strike="noStrike" baseline="0">
                <a:latin typeface="+mn-ea"/>
              </a:defRPr>
            </a:lvl1pPr>
          </a:lstStyle>
          <a:p>
            <a:pPr algn="l"/>
            <a:r>
              <a:rPr lang="en-US" altLang="ko-KR" dirty="0"/>
              <a:t>Evaluate </a:t>
            </a:r>
            <a:r>
              <a:rPr lang="ko-KR" altLang="en-US" dirty="0"/>
              <a:t>카테고리의 </a:t>
            </a:r>
            <a:r>
              <a:rPr lang="en-US" altLang="ko-KR" sz="1800" b="0" i="0" u="none" strike="noStrike" baseline="0" dirty="0"/>
              <a:t>[Predictions] </a:t>
            </a:r>
            <a:r>
              <a:rPr lang="ko-KR" altLang="en-US" sz="1800" b="0" i="0" u="none" strike="noStrike" baseline="0" dirty="0"/>
              <a:t>위젯을 가져온 후</a:t>
            </a:r>
            <a:r>
              <a:rPr lang="en-US" altLang="ko-KR" sz="1800" b="0" i="0" u="none" strike="noStrike" baseline="0" dirty="0"/>
              <a:t>, </a:t>
            </a:r>
            <a:r>
              <a:rPr lang="ko-KR" altLang="en-US" sz="1800" b="0" i="0" u="none" strike="noStrike" baseline="0" dirty="0"/>
              <a:t>각 모델 위젯과 </a:t>
            </a:r>
            <a:r>
              <a:rPr lang="en-US" altLang="ko-KR" sz="1800" b="0" i="0" u="none" strike="noStrike" baseline="0" dirty="0"/>
              <a:t>[Data Sampler] </a:t>
            </a:r>
            <a:r>
              <a:rPr lang="ko-KR" altLang="en-US" sz="1800" b="0" i="0" u="none" strike="noStrike" baseline="0" dirty="0"/>
              <a:t>위젯에 연결</a:t>
            </a:r>
            <a:endParaRPr lang="ko-KR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634673" y="384676"/>
            <a:ext cx="4523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sz="3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lang="ko-KR" altLang="en-US" sz="36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5141" y="537104"/>
            <a:ext cx="4166753" cy="413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sz="2200" b="1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모델의 성능을 확인해 보자</a:t>
            </a:r>
            <a:r>
              <a:rPr lang="en-US" altLang="ko-KR" sz="2200" b="1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!</a:t>
            </a:r>
            <a:endParaRPr lang="ko-KR" altLang="en-US" sz="2200" b="1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56963E-37E8-4F4D-903B-EA27BBA2D52D}"/>
              </a:ext>
            </a:extLst>
          </p:cNvPr>
          <p:cNvSpPr txBox="1"/>
          <p:nvPr/>
        </p:nvSpPr>
        <p:spPr>
          <a:xfrm>
            <a:off x="883903" y="1178580"/>
            <a:ext cx="4166753" cy="399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b="1" spc="-150" dirty="0">
                <a:solidFill>
                  <a:srgbClr val="249088"/>
                </a:solidFill>
                <a:latin typeface="+mn-ea"/>
              </a:rPr>
              <a:t>학습 결과 확인하기</a:t>
            </a:r>
          </a:p>
        </p:txBody>
      </p:sp>
      <p:sp>
        <p:nvSpPr>
          <p:cNvPr id="7" name="모서리가 둥근 직사각형 5">
            <a:extLst>
              <a:ext uri="{FF2B5EF4-FFF2-40B4-BE49-F238E27FC236}">
                <a16:creationId xmlns:a16="http://schemas.microsoft.com/office/drawing/2014/main" id="{E795C6F5-6488-4859-914D-1D99D9FD4C6C}"/>
              </a:ext>
            </a:extLst>
          </p:cNvPr>
          <p:cNvSpPr/>
          <p:nvPr/>
        </p:nvSpPr>
        <p:spPr>
          <a:xfrm>
            <a:off x="663438" y="1285467"/>
            <a:ext cx="242503" cy="242503"/>
          </a:xfrm>
          <a:prstGeom prst="roundRect">
            <a:avLst>
              <a:gd name="adj" fmla="val 11376"/>
            </a:avLst>
          </a:prstGeom>
          <a:solidFill>
            <a:srgbClr val="2AA7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55749E-196A-42F4-93DC-AE3D0B2C4C84}"/>
              </a:ext>
            </a:extLst>
          </p:cNvPr>
          <p:cNvSpPr txBox="1"/>
          <p:nvPr/>
        </p:nvSpPr>
        <p:spPr>
          <a:xfrm>
            <a:off x="922517" y="1600797"/>
            <a:ext cx="4572000" cy="410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342900" indent="-342900">
              <a:lnSpc>
                <a:spcPts val="2700"/>
              </a:lnSpc>
              <a:buFont typeface="+mj-ea"/>
              <a:buAutoNum type="circleNumDbPlain"/>
              <a:defRPr sz="1700" b="1" spc="-150"/>
            </a:lvl1pPr>
          </a:lstStyle>
          <a:p>
            <a:r>
              <a:rPr lang="ko-KR" altLang="en-US" spc="-100" dirty="0"/>
              <a:t>성능 확인하기</a:t>
            </a:r>
          </a:p>
        </p:txBody>
      </p:sp>
      <p:sp>
        <p:nvSpPr>
          <p:cNvPr id="14" name="모서리가 둥근 직사각형 4">
            <a:extLst>
              <a:ext uri="{FF2B5EF4-FFF2-40B4-BE49-F238E27FC236}">
                <a16:creationId xmlns:a16="http://schemas.microsoft.com/office/drawing/2014/main" id="{FE3A572B-D6CD-421D-81C4-4FEE201F9053}"/>
              </a:ext>
            </a:extLst>
          </p:cNvPr>
          <p:cNvSpPr/>
          <p:nvPr/>
        </p:nvSpPr>
        <p:spPr>
          <a:xfrm>
            <a:off x="4939305" y="3326877"/>
            <a:ext cx="705940" cy="792088"/>
          </a:xfrm>
          <a:prstGeom prst="roundRect">
            <a:avLst>
              <a:gd name="adj" fmla="val 3632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44E7CA-8962-4B82-BABC-6D31F69E39D7}"/>
              </a:ext>
            </a:extLst>
          </p:cNvPr>
          <p:cNvSpPr txBox="1"/>
          <p:nvPr/>
        </p:nvSpPr>
        <p:spPr>
          <a:xfrm>
            <a:off x="6221330" y="3299377"/>
            <a:ext cx="2448272" cy="1080120"/>
          </a:xfrm>
          <a:prstGeom prst="wedgeRoundRectCallout">
            <a:avLst>
              <a:gd name="adj1" fmla="val -69663"/>
              <a:gd name="adj2" fmla="val -27509"/>
              <a:gd name="adj3" fmla="val 16667"/>
            </a:avLst>
          </a:prstGeom>
          <a:solidFill>
            <a:schemeClr val="bg1"/>
          </a:solidFill>
          <a:ln>
            <a:solidFill>
              <a:srgbClr val="78B8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>
              <a:defRPr sz="1400">
                <a:latin typeface="+mn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spc="-100" dirty="0">
                <a:solidFill>
                  <a:schemeClr val="tx1"/>
                </a:solidFill>
              </a:rPr>
              <a:t>124</a:t>
            </a:r>
            <a:r>
              <a:rPr lang="ko-KR" altLang="en-US" spc="-100" dirty="0">
                <a:solidFill>
                  <a:schemeClr val="tx1"/>
                </a:solidFill>
              </a:rPr>
              <a:t>쪽에서 설정했던 것과 마찬가지로 </a:t>
            </a:r>
            <a:r>
              <a:rPr lang="en-US" altLang="ko-KR" spc="-100" dirty="0">
                <a:solidFill>
                  <a:schemeClr val="tx1"/>
                </a:solidFill>
              </a:rPr>
              <a:t>[Predictions] </a:t>
            </a:r>
            <a:r>
              <a:rPr lang="ko-KR" altLang="en-US" spc="-100" dirty="0">
                <a:solidFill>
                  <a:schemeClr val="tx1"/>
                </a:solidFill>
              </a:rPr>
              <a:t>위젯은 </a:t>
            </a:r>
            <a:r>
              <a:rPr lang="en-US" altLang="ko-KR" spc="-100" dirty="0">
                <a:solidFill>
                  <a:schemeClr val="tx1"/>
                </a:solidFill>
              </a:rPr>
              <a:t>Remaining Data(</a:t>
            </a:r>
            <a:r>
              <a:rPr lang="ko-KR" altLang="en-US" spc="-100" dirty="0">
                <a:solidFill>
                  <a:schemeClr val="tx1"/>
                </a:solidFill>
              </a:rPr>
              <a:t>테스트 데이터</a:t>
            </a:r>
            <a:r>
              <a:rPr lang="en-US" altLang="ko-KR" spc="-100" dirty="0">
                <a:solidFill>
                  <a:schemeClr val="tx1"/>
                </a:solidFill>
              </a:rPr>
              <a:t>)</a:t>
            </a:r>
            <a:r>
              <a:rPr lang="ko-KR" altLang="en-US" spc="-100" dirty="0">
                <a:solidFill>
                  <a:schemeClr val="tx1"/>
                </a:solidFill>
              </a:rPr>
              <a:t>를 연결해 주어야 한다</a:t>
            </a:r>
            <a:r>
              <a:rPr lang="en-US" altLang="ko-KR" spc="-100" dirty="0">
                <a:solidFill>
                  <a:schemeClr val="tx1"/>
                </a:solidFill>
              </a:rPr>
              <a:t>.</a:t>
            </a:r>
            <a:endParaRPr lang="ko-KR" altLang="en-US" spc="-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7691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3" descr="C:\Users\PC\Desktop\20220607_171040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1535807"/>
            <a:ext cx="5165574" cy="3216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B3B8CD1-AF6A-4F03-B066-32D9784E1A81}"/>
              </a:ext>
            </a:extLst>
          </p:cNvPr>
          <p:cNvSpPr txBox="1"/>
          <p:nvPr/>
        </p:nvSpPr>
        <p:spPr>
          <a:xfrm>
            <a:off x="827584" y="627534"/>
            <a:ext cx="7416824" cy="10567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b="0" i="0" u="none" strike="noStrike" baseline="0">
                <a:latin typeface="+mn-ea"/>
              </a:defRPr>
            </a:lvl1pPr>
          </a:lstStyle>
          <a:p>
            <a:r>
              <a:rPr lang="en-US" altLang="ko-KR" dirty="0"/>
              <a:t>[Predictions] </a:t>
            </a:r>
            <a:r>
              <a:rPr lang="ko-KR" altLang="en-US" dirty="0"/>
              <a:t>위젯을 더블 클릭하여 모델 성능 </a:t>
            </a:r>
            <a:r>
              <a:rPr lang="ko-KR" altLang="en-US" dirty="0" err="1"/>
              <a:t>평가값을</a:t>
            </a:r>
            <a:r>
              <a:rPr lang="ko-KR" altLang="en-US" dirty="0"/>
              <a:t> 확인하면 세 가지 모델의 성능이 비슷하기 때문에 구체적인 성능을 확인할 필요가 있음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D2E154A-2FF4-42EF-B989-CDED518C9A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1925449"/>
            <a:ext cx="991121" cy="112700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548FB688-C3AE-4231-9D01-0C0961DD95A3}"/>
              </a:ext>
            </a:extLst>
          </p:cNvPr>
          <p:cNvSpPr/>
          <p:nvPr/>
        </p:nvSpPr>
        <p:spPr>
          <a:xfrm>
            <a:off x="2282569" y="2270496"/>
            <a:ext cx="217869" cy="218453"/>
          </a:xfrm>
          <a:prstGeom prst="rightArrow">
            <a:avLst/>
          </a:prstGeom>
          <a:solidFill>
            <a:srgbClr val="DC5F0D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772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모서리가 둥근 직사각형 6">
            <a:extLst>
              <a:ext uri="{FF2B5EF4-FFF2-40B4-BE49-F238E27FC236}">
                <a16:creationId xmlns:a16="http://schemas.microsoft.com/office/drawing/2014/main" id="{18670562-5114-412D-A2BA-0EDA09C79DCB}"/>
              </a:ext>
            </a:extLst>
          </p:cNvPr>
          <p:cNvSpPr/>
          <p:nvPr/>
        </p:nvSpPr>
        <p:spPr>
          <a:xfrm>
            <a:off x="1475656" y="1049890"/>
            <a:ext cx="792088" cy="256818"/>
          </a:xfrm>
          <a:prstGeom prst="roundRect">
            <a:avLst/>
          </a:prstGeom>
          <a:solidFill>
            <a:srgbClr val="C1E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A2367F-AA47-4183-A19E-D262964BA1C7}"/>
              </a:ext>
            </a:extLst>
          </p:cNvPr>
          <p:cNvSpPr txBox="1"/>
          <p:nvPr/>
        </p:nvSpPr>
        <p:spPr>
          <a:xfrm>
            <a:off x="905941" y="476984"/>
            <a:ext cx="7482483" cy="410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57175" indent="-257175">
              <a:lnSpc>
                <a:spcPts val="2700"/>
              </a:lnSpc>
              <a:buFont typeface="맑은 고딕" panose="020B0503020000020004" pitchFamily="50" charset="-127"/>
              <a:buChar char="①"/>
              <a:defRPr b="1" i="0" u="none" strike="noStrike" spc="-150" baseline="0">
                <a:latin typeface="+mn-ea"/>
              </a:defRPr>
            </a:lvl1pPr>
          </a:lstStyle>
          <a:p>
            <a:pPr marL="342900" indent="-342900">
              <a:buFont typeface="+mj-ea"/>
              <a:buAutoNum type="circleNumDbPlain" startAt="2"/>
            </a:pPr>
            <a:r>
              <a:rPr lang="ko-KR" altLang="en-US" dirty="0"/>
              <a:t>혼동 행렬과 결과 분석하기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9A15ECD-EF3A-4845-A90E-A7A3C5548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142" y="2139702"/>
            <a:ext cx="3667715" cy="170254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bg1">
                <a:lumMod val="75000"/>
              </a:schemeClr>
            </a:solidFill>
          </a:ln>
          <a:effectLst/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4E3CF89-765D-471E-BFB2-8A5D5F1D4E68}"/>
              </a:ext>
            </a:extLst>
          </p:cNvPr>
          <p:cNvSpPr txBox="1"/>
          <p:nvPr/>
        </p:nvSpPr>
        <p:spPr>
          <a:xfrm>
            <a:off x="1115616" y="986350"/>
            <a:ext cx="7200800" cy="7243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600" b="0" i="0" u="none" strike="noStrike" spc="-150" baseline="0">
                <a:latin typeface="+mn-ea"/>
              </a:defRPr>
            </a:lvl1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ko-KR" sz="1800" dirty="0"/>
              <a:t>Evaluate </a:t>
            </a:r>
            <a:r>
              <a:rPr lang="ko-KR" altLang="en-US" sz="1800" dirty="0"/>
              <a:t>카테고리의 </a:t>
            </a:r>
            <a:r>
              <a:rPr lang="en-US" altLang="ko-KR" sz="1800" b="0" i="0" u="none" strike="noStrike" baseline="0" dirty="0"/>
              <a:t>[Confusion Matrix] </a:t>
            </a:r>
            <a:r>
              <a:rPr lang="ko-KR" altLang="en-US" sz="1800" b="0" i="0" u="none" strike="noStrike" baseline="0" dirty="0"/>
              <a:t>위젯을 가져와 </a:t>
            </a:r>
            <a:r>
              <a:rPr lang="en-US" altLang="ko-KR" sz="1800" b="0" i="0" u="none" strike="noStrike" baseline="0" dirty="0"/>
              <a:t>[Predictions] </a:t>
            </a:r>
            <a:r>
              <a:rPr lang="ko-KR" altLang="en-US" sz="1800" b="0" i="0" u="none" strike="noStrike" baseline="0" dirty="0"/>
              <a:t>위젯에 연결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4183696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2" name="Picture 4" descr="D:\Choihaitnim\2. 정보\!!정보단행본\오렌지\! 3쇄 작업\(220527) 오렌지_햇 수정\128p-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8100" y="2658663"/>
            <a:ext cx="3011360" cy="2000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1" name="Picture 3" descr="D:\Choihaitnim\2. 정보\!!정보단행본\오렌지\! 3쇄 작업\(220527) 오렌지_햇 수정\128p-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659704"/>
            <a:ext cx="3011358" cy="2000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0" name="Picture 2" descr="D:\Choihaitnim\2. 정보\!!정보단행본\오렌지\! 3쇄 작업\(220527) 오렌지_햇 수정\128p-4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8102" y="569938"/>
            <a:ext cx="3011358" cy="2000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C1E9619-C8C0-471E-8FBA-111BE343CAC0}"/>
              </a:ext>
            </a:extLst>
          </p:cNvPr>
          <p:cNvSpPr txBox="1"/>
          <p:nvPr/>
        </p:nvSpPr>
        <p:spPr>
          <a:xfrm>
            <a:off x="1090776" y="569938"/>
            <a:ext cx="3456385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ko-KR" altLang="en-US" sz="1600" b="0" i="0" u="none" strike="noStrike" spc="-100" dirty="0">
                <a:latin typeface="+mn-ea"/>
              </a:rPr>
              <a:t>우리가 사용한 데이터와 같이 많은 양의 실제 데이터를 활용하면 확률적으로 계산되는 값으로 성능의 차이를 정확히 알기 어려운 경우가 많다</a:t>
            </a:r>
            <a:r>
              <a:rPr lang="en-US" altLang="ko-KR" sz="1600" b="0" i="0" u="none" strike="noStrike" spc="-100" dirty="0">
                <a:latin typeface="+mn-ea"/>
              </a:rPr>
              <a:t>. </a:t>
            </a:r>
            <a:r>
              <a:rPr lang="ko-KR" altLang="en-US" sz="1600" b="0" i="0" u="none" strike="noStrike" spc="-100" dirty="0">
                <a:latin typeface="+mn-ea"/>
              </a:rPr>
              <a:t>이러한 경우 </a:t>
            </a:r>
            <a:r>
              <a:rPr lang="ko-KR" altLang="en-US" sz="1600" b="0" i="0" u="none" strike="noStrike" spc="-100" dirty="0">
                <a:solidFill>
                  <a:srgbClr val="0070C0"/>
                </a:solidFill>
                <a:latin typeface="+mn-ea"/>
              </a:rPr>
              <a:t>혼동 행렬을 이용하여 각 </a:t>
            </a:r>
            <a:r>
              <a:rPr lang="ko-KR" altLang="en-US" sz="1600" b="0" i="0" u="none" strike="noStrike" spc="-100" dirty="0" err="1">
                <a:solidFill>
                  <a:srgbClr val="0070C0"/>
                </a:solidFill>
                <a:latin typeface="+mn-ea"/>
              </a:rPr>
              <a:t>모델별</a:t>
            </a:r>
            <a:r>
              <a:rPr lang="ko-KR" altLang="en-US" sz="1600" b="0" i="0" u="none" strike="noStrike" spc="-100" dirty="0">
                <a:solidFill>
                  <a:srgbClr val="0070C0"/>
                </a:solidFill>
                <a:latin typeface="+mn-ea"/>
              </a:rPr>
              <a:t> 성능을 확인</a:t>
            </a:r>
            <a:r>
              <a:rPr lang="ko-KR" altLang="en-US" sz="1600" b="0" i="0" u="none" strike="noStrike" spc="-100" dirty="0">
                <a:latin typeface="+mn-ea"/>
              </a:rPr>
              <a:t>한다</a:t>
            </a:r>
            <a:r>
              <a:rPr lang="en-US" altLang="ko-KR" sz="1600" b="0" i="0" u="none" strike="noStrike" spc="-100" dirty="0">
                <a:latin typeface="+mn-ea"/>
              </a:rPr>
              <a:t>.</a:t>
            </a:r>
            <a:endParaRPr lang="ko-KR" altLang="en-US" sz="1600" spc="-100" dirty="0">
              <a:latin typeface="+mn-ea"/>
            </a:endParaRPr>
          </a:p>
        </p:txBody>
      </p:sp>
      <p:sp>
        <p:nvSpPr>
          <p:cNvPr id="10" name="모서리가 둥근 직사각형 4">
            <a:extLst>
              <a:ext uri="{FF2B5EF4-FFF2-40B4-BE49-F238E27FC236}">
                <a16:creationId xmlns:a16="http://schemas.microsoft.com/office/drawing/2014/main" id="{98B2874F-0AD7-415F-8E99-6E18A66DA819}"/>
              </a:ext>
            </a:extLst>
          </p:cNvPr>
          <p:cNvSpPr/>
          <p:nvPr/>
        </p:nvSpPr>
        <p:spPr>
          <a:xfrm>
            <a:off x="4766334" y="3030579"/>
            <a:ext cx="936104" cy="129237"/>
          </a:xfrm>
          <a:prstGeom prst="roundRect">
            <a:avLst>
              <a:gd name="adj" fmla="val 3632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4">
            <a:extLst>
              <a:ext uri="{FF2B5EF4-FFF2-40B4-BE49-F238E27FC236}">
                <a16:creationId xmlns:a16="http://schemas.microsoft.com/office/drawing/2014/main" id="{30F9C9C4-8D17-4BEA-8CBD-75C7428D439C}"/>
              </a:ext>
            </a:extLst>
          </p:cNvPr>
          <p:cNvSpPr/>
          <p:nvPr/>
        </p:nvSpPr>
        <p:spPr>
          <a:xfrm>
            <a:off x="4778102" y="800495"/>
            <a:ext cx="936104" cy="97886"/>
          </a:xfrm>
          <a:prstGeom prst="roundRect">
            <a:avLst>
              <a:gd name="adj" fmla="val 3632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4">
            <a:extLst>
              <a:ext uri="{FF2B5EF4-FFF2-40B4-BE49-F238E27FC236}">
                <a16:creationId xmlns:a16="http://schemas.microsoft.com/office/drawing/2014/main" id="{30F9C9C4-8D17-4BEA-8CBD-75C7428D439C}"/>
              </a:ext>
            </a:extLst>
          </p:cNvPr>
          <p:cNvSpPr/>
          <p:nvPr/>
        </p:nvSpPr>
        <p:spPr>
          <a:xfrm>
            <a:off x="1475656" y="2981636"/>
            <a:ext cx="936104" cy="97886"/>
          </a:xfrm>
          <a:prstGeom prst="roundRect">
            <a:avLst>
              <a:gd name="adj" fmla="val 3632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1539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모서리가 둥근 직사각형 9">
            <a:extLst>
              <a:ext uri="{FF2B5EF4-FFF2-40B4-BE49-F238E27FC236}">
                <a16:creationId xmlns:a16="http://schemas.microsoft.com/office/drawing/2014/main" id="{7D1AA588-AE11-440D-8A25-B0E6BF0F95E8}"/>
              </a:ext>
            </a:extLst>
          </p:cNvPr>
          <p:cNvSpPr/>
          <p:nvPr/>
        </p:nvSpPr>
        <p:spPr>
          <a:xfrm>
            <a:off x="1323014" y="1830105"/>
            <a:ext cx="936104" cy="256818"/>
          </a:xfrm>
          <a:prstGeom prst="roundRect">
            <a:avLst/>
          </a:prstGeom>
          <a:solidFill>
            <a:srgbClr val="65A9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8">
            <a:extLst>
              <a:ext uri="{FF2B5EF4-FFF2-40B4-BE49-F238E27FC236}">
                <a16:creationId xmlns:a16="http://schemas.microsoft.com/office/drawing/2014/main" id="{0DD4FE81-1B4C-4EC0-82AC-40ADF1F5E06A}"/>
              </a:ext>
            </a:extLst>
          </p:cNvPr>
          <p:cNvSpPr/>
          <p:nvPr/>
        </p:nvSpPr>
        <p:spPr>
          <a:xfrm>
            <a:off x="1331640" y="1507592"/>
            <a:ext cx="401548" cy="256818"/>
          </a:xfrm>
          <a:prstGeom prst="roundRect">
            <a:avLst/>
          </a:prstGeom>
          <a:solidFill>
            <a:srgbClr val="A5D3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216523-55E1-4CE8-9CAC-E29284A78DD3}"/>
              </a:ext>
            </a:extLst>
          </p:cNvPr>
          <p:cNvSpPr txBox="1"/>
          <p:nvPr/>
        </p:nvSpPr>
        <p:spPr>
          <a:xfrm>
            <a:off x="971600" y="1438294"/>
            <a:ext cx="7560840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600" spc="-150" dirty="0">
                <a:latin typeface="+mn-ea"/>
              </a:rPr>
              <a:t>Geo  </a:t>
            </a:r>
            <a:r>
              <a:rPr lang="ko-KR" altLang="en-US" sz="1600" spc="-150" dirty="0">
                <a:latin typeface="+mn-ea"/>
              </a:rPr>
              <a:t>카테고리 추가 방법은 교재 </a:t>
            </a:r>
            <a:r>
              <a:rPr lang="en-US" altLang="ko-KR" sz="1600" spc="-150" dirty="0">
                <a:latin typeface="+mn-ea"/>
              </a:rPr>
              <a:t>77</a:t>
            </a:r>
            <a:r>
              <a:rPr lang="ko-KR" altLang="en-US" sz="1600" spc="-150" dirty="0">
                <a:latin typeface="+mn-ea"/>
              </a:rPr>
              <a:t>쪽에서 확인하세요</a:t>
            </a:r>
            <a:r>
              <a:rPr lang="en-US" altLang="ko-KR" sz="1600" spc="-150" dirty="0">
                <a:latin typeface="+mn-ea"/>
              </a:rPr>
              <a:t>.</a:t>
            </a:r>
            <a:endParaRPr lang="ko-KR" altLang="en-US" sz="1600" spc="-150" dirty="0">
              <a:latin typeface="+mn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99592" y="531314"/>
            <a:ext cx="4752528" cy="402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b="1" spc="-150">
                <a:solidFill>
                  <a:srgbClr val="249088"/>
                </a:solidFill>
              </a:rPr>
              <a:t>위치와 시간 정보를 활용하여 데이터 시각화하기</a:t>
            </a:r>
            <a:endParaRPr lang="ko-KR" altLang="en-US" b="1" spc="-150" dirty="0">
              <a:solidFill>
                <a:srgbClr val="249088"/>
              </a:solidFill>
            </a:endParaRPr>
          </a:p>
        </p:txBody>
      </p:sp>
      <p:sp>
        <p:nvSpPr>
          <p:cNvPr id="3" name="모서리가 둥근 직사각형 2"/>
          <p:cNvSpPr/>
          <p:nvPr/>
        </p:nvSpPr>
        <p:spPr>
          <a:xfrm>
            <a:off x="663438" y="613265"/>
            <a:ext cx="242503" cy="242503"/>
          </a:xfrm>
          <a:prstGeom prst="roundRect">
            <a:avLst>
              <a:gd name="adj" fmla="val 11376"/>
            </a:avLst>
          </a:prstGeom>
          <a:solidFill>
            <a:srgbClr val="2AA7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2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5E1BAB-CAAC-48D8-8899-68A2F34579E7}"/>
              </a:ext>
            </a:extLst>
          </p:cNvPr>
          <p:cNvSpPr txBox="1"/>
          <p:nvPr/>
        </p:nvSpPr>
        <p:spPr>
          <a:xfrm>
            <a:off x="905941" y="930837"/>
            <a:ext cx="6618387" cy="410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342900" indent="-342900">
              <a:lnSpc>
                <a:spcPts val="2700"/>
              </a:lnSpc>
              <a:buFont typeface="+mj-ea"/>
              <a:buAutoNum type="circleNumDbPlain" startAt="2"/>
              <a:defRPr b="1" i="0" u="none" strike="noStrike" spc="-150" baseline="0">
                <a:latin typeface="+mn-ea"/>
              </a:defRPr>
            </a:lvl1pPr>
          </a:lstStyle>
          <a:p>
            <a:pPr>
              <a:buFont typeface="+mj-ea"/>
              <a:buAutoNum type="circleNumDbPlain"/>
            </a:pPr>
            <a:r>
              <a:rPr lang="en-US" altLang="ko-KR" dirty="0"/>
              <a:t>Geo, Time Series </a:t>
            </a:r>
            <a:r>
              <a:rPr lang="ko-KR" altLang="en-US" dirty="0"/>
              <a:t>카테고리 추가하기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7ADCFE-C853-4188-A8A7-245AEF235C4B}"/>
              </a:ext>
            </a:extLst>
          </p:cNvPr>
          <p:cNvSpPr txBox="1"/>
          <p:nvPr/>
        </p:nvSpPr>
        <p:spPr>
          <a:xfrm>
            <a:off x="971600" y="1763717"/>
            <a:ext cx="4968552" cy="2160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600" spc="-150">
                <a:latin typeface="+mn-ea"/>
              </a:defRPr>
            </a:lvl1pPr>
          </a:lstStyle>
          <a:p>
            <a:r>
              <a:rPr lang="en-US" altLang="ko-KR" dirty="0"/>
              <a:t>Time Series  </a:t>
            </a:r>
            <a:r>
              <a:rPr lang="ko-KR" altLang="en-US" dirty="0"/>
              <a:t>카테고리는 시계열 데이터를 활용하여 데이터를 분석하는 기능을 제공한다</a:t>
            </a:r>
            <a:r>
              <a:rPr lang="en-US" altLang="ko-KR" dirty="0"/>
              <a:t>. </a:t>
            </a:r>
            <a:r>
              <a:rPr lang="ko-KR" altLang="en-US" dirty="0"/>
              <a:t>대기 오염 데이터는 매일 대기 오염 정보를 한 시간마다 기록한 시계열 데이터이다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시간에 따른 초미세먼지 예측 결과를 시각화하기 위해 </a:t>
            </a:r>
            <a:r>
              <a:rPr lang="en-US" altLang="ko-KR" dirty="0"/>
              <a:t>[Options] - [Add-ons]</a:t>
            </a:r>
            <a:r>
              <a:rPr lang="ko-KR" altLang="en-US" dirty="0"/>
              <a:t>를 선택하여 </a:t>
            </a:r>
            <a:r>
              <a:rPr lang="en-US" altLang="ko-KR" dirty="0"/>
              <a:t>Time Series </a:t>
            </a:r>
            <a:r>
              <a:rPr lang="ko-KR" altLang="en-US" dirty="0"/>
              <a:t>카테고리를 설치한다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0D06ED4-3C89-4F4D-9F7E-0D2E21C5C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6154" y="3632423"/>
            <a:ext cx="1879476" cy="101662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B73C1D3-4E23-4656-B5D8-DD836F4E6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4168" y="1507592"/>
            <a:ext cx="2304256" cy="3143430"/>
          </a:xfrm>
          <a:prstGeom prst="rect">
            <a:avLst/>
          </a:prstGeom>
        </p:spPr>
      </p:pic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618AB4DD-7E8B-4798-B575-3E17C8D52805}"/>
              </a:ext>
            </a:extLst>
          </p:cNvPr>
          <p:cNvSpPr/>
          <p:nvPr/>
        </p:nvSpPr>
        <p:spPr>
          <a:xfrm>
            <a:off x="5636696" y="4140736"/>
            <a:ext cx="217869" cy="218453"/>
          </a:xfrm>
          <a:prstGeom prst="rightArrow">
            <a:avLst/>
          </a:prstGeom>
          <a:solidFill>
            <a:srgbClr val="DC5F0D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08361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7584" y="977518"/>
            <a:ext cx="2664296" cy="396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sz="1600" b="1" spc="-150" dirty="0">
                <a:solidFill>
                  <a:srgbClr val="993300"/>
                </a:solidFill>
              </a:rPr>
              <a:t>시계열 데이터</a:t>
            </a:r>
            <a:r>
              <a:rPr lang="en-US" altLang="ko-KR" sz="1600" b="1" spc="-150" dirty="0">
                <a:solidFill>
                  <a:srgbClr val="993300"/>
                </a:solidFill>
              </a:rPr>
              <a:t>(time series data)</a:t>
            </a:r>
            <a:endParaRPr lang="ko-KR" altLang="en-US" sz="1600" b="1" spc="-150" dirty="0">
              <a:solidFill>
                <a:srgbClr val="9933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191F1B-A4E5-4737-A22A-E6B2CFA4530F}"/>
              </a:ext>
            </a:extLst>
          </p:cNvPr>
          <p:cNvSpPr txBox="1"/>
          <p:nvPr/>
        </p:nvSpPr>
        <p:spPr>
          <a:xfrm>
            <a:off x="504863" y="1491630"/>
            <a:ext cx="8243601" cy="317997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193675" indent="-193675">
              <a:lnSpc>
                <a:spcPts val="2600"/>
              </a:lnSpc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500" spc="-1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defRPr>
            </a:lvl1pPr>
          </a:lstStyle>
          <a:p>
            <a:r>
              <a:rPr lang="ko-KR" altLang="en-US" dirty="0"/>
              <a:t>시계열 데이터란 </a:t>
            </a:r>
            <a:r>
              <a:rPr lang="ko-KR" altLang="en-US" dirty="0">
                <a:solidFill>
                  <a:srgbClr val="0070C0"/>
                </a:solidFill>
              </a:rPr>
              <a:t>시간의 흐름에 따라 순차적으로 기록된 데이터</a:t>
            </a:r>
            <a:r>
              <a:rPr lang="ko-KR" altLang="en-US" dirty="0"/>
              <a:t>를 말한다</a:t>
            </a:r>
            <a:r>
              <a:rPr lang="en-US" altLang="ko-KR" dirty="0"/>
              <a:t>. </a:t>
            </a:r>
            <a:r>
              <a:rPr lang="ko-KR" altLang="en-US" dirty="0"/>
              <a:t>관찰된 시계열 데이터를 분석하여 미래를 예측하는 문제가 바로 시계열 예측 문제이다</a:t>
            </a:r>
            <a:r>
              <a:rPr lang="en-US" altLang="ko-KR" dirty="0"/>
              <a:t>. </a:t>
            </a:r>
            <a:r>
              <a:rPr lang="ko-KR" altLang="en-US" dirty="0"/>
              <a:t>시계열 예측 문제는 우리가 흔히 접하는 문제로써 주요 경제지표나 어떤 상품의 수요를 예측하는 문제에 이르기까지 다양하다</a:t>
            </a:r>
            <a:r>
              <a:rPr lang="en-US" altLang="ko-KR" dirty="0"/>
              <a:t>.</a:t>
            </a:r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r>
              <a:rPr lang="ko-KR" altLang="en-US" dirty="0"/>
              <a:t>시계열 데이터는 </a:t>
            </a:r>
            <a:r>
              <a:rPr lang="ko-KR" altLang="en-US" dirty="0">
                <a:solidFill>
                  <a:srgbClr val="0070C0"/>
                </a:solidFill>
              </a:rPr>
              <a:t>시간 간격이 반드시 고정되어 있어야 한다는 조건</a:t>
            </a:r>
            <a:r>
              <a:rPr lang="ko-KR" altLang="en-US" dirty="0"/>
              <a:t>이 있다</a:t>
            </a:r>
            <a:r>
              <a:rPr lang="en-US" altLang="ko-KR" dirty="0"/>
              <a:t>. </a:t>
            </a:r>
            <a:r>
              <a:rPr lang="ko-KR" altLang="en-US" dirty="0"/>
              <a:t>어떤 구간은 일별 구간이었다가</a:t>
            </a:r>
            <a:r>
              <a:rPr lang="en-US" altLang="ko-KR" dirty="0"/>
              <a:t>, </a:t>
            </a:r>
            <a:r>
              <a:rPr lang="ko-KR" altLang="en-US" dirty="0"/>
              <a:t>어떤 구간은 주간</a:t>
            </a:r>
            <a:r>
              <a:rPr lang="en-US" altLang="ko-KR" dirty="0"/>
              <a:t>, </a:t>
            </a:r>
            <a:r>
              <a:rPr lang="ko-KR" altLang="en-US" dirty="0"/>
              <a:t>또 어떤 구간은 연간이어서 다양한 구간이 동시에 존재하면 데이터 분석에 사용하기 어렵다</a:t>
            </a:r>
            <a:r>
              <a:rPr lang="en-US" altLang="ko-KR" dirty="0"/>
              <a:t>.</a:t>
            </a:r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r>
              <a:rPr lang="ko-KR" altLang="en-US" dirty="0"/>
              <a:t>시계열이 갖고 있는 법칙성을 발견해 이를 모형화하고</a:t>
            </a:r>
            <a:r>
              <a:rPr lang="en-US" altLang="ko-KR" dirty="0"/>
              <a:t>, </a:t>
            </a:r>
            <a:r>
              <a:rPr lang="ko-KR" altLang="en-US" dirty="0"/>
              <a:t>이 추정된 모형을 통해서 </a:t>
            </a:r>
            <a:r>
              <a:rPr lang="ko-KR" altLang="en-US" dirty="0" err="1"/>
              <a:t>미래값을</a:t>
            </a:r>
            <a:r>
              <a:rPr lang="ko-KR" altLang="en-US" dirty="0"/>
              <a:t> 예측하기 위해 시계열데이터를 분석하여 활용한다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59141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C:\Users\PC\Desktop\20220607_17132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02" y="2571875"/>
            <a:ext cx="2450727" cy="1112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1" name="Picture 3" descr="C:\Users\PC\Desktop\20220214_182043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9265" y="2311085"/>
            <a:ext cx="3267072" cy="2525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3A3E3BB-FE8E-45DB-B1C5-0DB29B81105E}"/>
              </a:ext>
            </a:extLst>
          </p:cNvPr>
          <p:cNvSpPr txBox="1"/>
          <p:nvPr/>
        </p:nvSpPr>
        <p:spPr>
          <a:xfrm>
            <a:off x="903492" y="339502"/>
            <a:ext cx="6618387" cy="399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342900" indent="-342900">
              <a:lnSpc>
                <a:spcPts val="2700"/>
              </a:lnSpc>
              <a:buFont typeface="+mj-ea"/>
              <a:buAutoNum type="circleNumDbPlain" startAt="2"/>
              <a:defRPr b="1" i="0" u="none" strike="noStrike" spc="-150" baseline="0">
                <a:latin typeface="+mn-ea"/>
              </a:defRPr>
            </a:lvl1pPr>
          </a:lstStyle>
          <a:p>
            <a:r>
              <a:rPr lang="ko-KR" altLang="en-US" dirty="0"/>
              <a:t>데이터 형식 바꾸기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05463B-EC43-4497-8642-BEE3091EE26C}"/>
              </a:ext>
            </a:extLst>
          </p:cNvPr>
          <p:cNvSpPr txBox="1"/>
          <p:nvPr/>
        </p:nvSpPr>
        <p:spPr>
          <a:xfrm>
            <a:off x="4004281" y="358923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C00000"/>
                </a:solidFill>
              </a:rPr>
              <a:t>ⓐ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77C62D-0DF1-4121-9487-8FDC04DCE334}"/>
              </a:ext>
            </a:extLst>
          </p:cNvPr>
          <p:cNvSpPr txBox="1"/>
          <p:nvPr/>
        </p:nvSpPr>
        <p:spPr>
          <a:xfrm>
            <a:off x="5621017" y="2533775"/>
            <a:ext cx="341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C00000"/>
                </a:solidFill>
              </a:rPr>
              <a:t>ⓑ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12B3A3-D398-464F-A2DA-C98C01F9B76B}"/>
              </a:ext>
            </a:extLst>
          </p:cNvPr>
          <p:cNvSpPr txBox="1"/>
          <p:nvPr/>
        </p:nvSpPr>
        <p:spPr>
          <a:xfrm>
            <a:off x="6777960" y="4405858"/>
            <a:ext cx="341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C00000"/>
                </a:solidFill>
              </a:rPr>
              <a:t>ⓒ</a:t>
            </a:r>
          </a:p>
        </p:txBody>
      </p:sp>
      <p:sp>
        <p:nvSpPr>
          <p:cNvPr id="10" name="모서리가 둥근 직사각형 9"/>
          <p:cNvSpPr/>
          <p:nvPr/>
        </p:nvSpPr>
        <p:spPr>
          <a:xfrm>
            <a:off x="2871728" y="1190724"/>
            <a:ext cx="390567" cy="256818"/>
          </a:xfrm>
          <a:prstGeom prst="roundRect">
            <a:avLst/>
          </a:prstGeom>
          <a:solidFill>
            <a:srgbClr val="F7CC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CD7C61-89F1-4AA4-9226-F9645C59C722}"/>
              </a:ext>
            </a:extLst>
          </p:cNvPr>
          <p:cNvSpPr txBox="1"/>
          <p:nvPr/>
        </p:nvSpPr>
        <p:spPr>
          <a:xfrm>
            <a:off x="1043608" y="843558"/>
            <a:ext cx="7560840" cy="1540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600" spc="-150">
                <a:latin typeface="+mn-ea"/>
              </a:defRPr>
            </a:lvl1pPr>
          </a:lstStyle>
          <a:p>
            <a:r>
              <a:rPr lang="en-US" altLang="ko-KR" dirty="0"/>
              <a:t>Orange3</a:t>
            </a:r>
            <a:r>
              <a:rPr lang="ko-KR" altLang="en-US" dirty="0"/>
              <a:t>에서는 특정한 형식의 데이터만 시계열 데이터로 자동 인식하므로</a:t>
            </a:r>
            <a:r>
              <a:rPr lang="en-US" altLang="ko-KR" dirty="0"/>
              <a:t>, </a:t>
            </a:r>
            <a:r>
              <a:rPr lang="ko-KR" altLang="en-US" dirty="0"/>
              <a:t>데이터 형식을 변경하기 위해 </a:t>
            </a:r>
            <a:r>
              <a:rPr lang="en-US" altLang="ko-KR" dirty="0"/>
              <a:t>Data </a:t>
            </a:r>
            <a:r>
              <a:rPr lang="ko-KR" altLang="en-US" dirty="0"/>
              <a:t>카테고리의 </a:t>
            </a:r>
            <a:r>
              <a:rPr lang="en-US" altLang="ko-KR" dirty="0"/>
              <a:t>[Edit Domain] </a:t>
            </a:r>
            <a:r>
              <a:rPr lang="ko-KR" altLang="en-US" dirty="0"/>
              <a:t>위젯을 가져와 </a:t>
            </a:r>
            <a:r>
              <a:rPr lang="en-US" altLang="ko-KR" dirty="0"/>
              <a:t>[Feature Constructor] </a:t>
            </a:r>
            <a:r>
              <a:rPr lang="ko-KR" altLang="en-US" dirty="0"/>
              <a:t>위젯에 연결</a:t>
            </a:r>
            <a:endParaRPr lang="en-US" altLang="ko-KR" dirty="0"/>
          </a:p>
          <a:p>
            <a:r>
              <a:rPr lang="ko-KR" altLang="en-US" dirty="0"/>
              <a:t>속성 중 ‘</a:t>
            </a:r>
            <a:r>
              <a:rPr lang="en-US" altLang="ko-KR" dirty="0"/>
              <a:t>Measurement date</a:t>
            </a:r>
            <a:r>
              <a:rPr lang="ko-KR" altLang="en-US" dirty="0"/>
              <a:t>’를 선택하고</a:t>
            </a:r>
            <a:r>
              <a:rPr lang="en-US" altLang="ko-KR" dirty="0"/>
              <a:t>, Name</a:t>
            </a:r>
            <a:r>
              <a:rPr lang="ko-KR" altLang="en-US" dirty="0"/>
              <a:t>을 ‘</a:t>
            </a:r>
            <a:r>
              <a:rPr lang="en-US" altLang="ko-KR" dirty="0" err="1"/>
              <a:t>Ddate</a:t>
            </a:r>
            <a:r>
              <a:rPr lang="ko-KR" altLang="en-US" dirty="0"/>
              <a:t>’로</a:t>
            </a:r>
            <a:r>
              <a:rPr lang="en-US" altLang="ko-KR" dirty="0"/>
              <a:t>, Type</a:t>
            </a:r>
            <a:r>
              <a:rPr lang="ko-KR" altLang="en-US" dirty="0"/>
              <a:t>을 ‘</a:t>
            </a:r>
            <a:r>
              <a:rPr lang="en-US" altLang="ko-KR" dirty="0"/>
              <a:t>Time</a:t>
            </a:r>
            <a:r>
              <a:rPr lang="ko-KR" altLang="en-US" dirty="0"/>
              <a:t>’으로 설정한 후 적용</a:t>
            </a:r>
          </a:p>
        </p:txBody>
      </p:sp>
    </p:spTree>
    <p:extLst>
      <p:ext uri="{BB962C8B-B14F-4D97-AF65-F5344CB8AC3E}">
        <p14:creationId xmlns:p14="http://schemas.microsoft.com/office/powerpoint/2010/main" val="7887936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모서리가 둥근 직사각형 2">
            <a:extLst>
              <a:ext uri="{FF2B5EF4-FFF2-40B4-BE49-F238E27FC236}">
                <a16:creationId xmlns:a16="http://schemas.microsoft.com/office/drawing/2014/main" id="{DB75F19F-B0F7-4042-80C5-EB75DA3E6F6C}"/>
              </a:ext>
            </a:extLst>
          </p:cNvPr>
          <p:cNvSpPr/>
          <p:nvPr/>
        </p:nvSpPr>
        <p:spPr>
          <a:xfrm>
            <a:off x="1366666" y="850109"/>
            <a:ext cx="850830" cy="256818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9046F5-2E99-4273-B3BC-5F74DD6F2C5A}"/>
              </a:ext>
            </a:extLst>
          </p:cNvPr>
          <p:cNvSpPr txBox="1"/>
          <p:nvPr/>
        </p:nvSpPr>
        <p:spPr>
          <a:xfrm>
            <a:off x="1043608" y="801194"/>
            <a:ext cx="3528392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600" spc="-150">
                <a:latin typeface="+mn-ea"/>
              </a:defRPr>
            </a:lvl1pPr>
          </a:lstStyle>
          <a:p>
            <a:r>
              <a:rPr lang="en-US" altLang="ko-KR" dirty="0"/>
              <a:t>Transform  </a:t>
            </a:r>
            <a:r>
              <a:rPr lang="ko-KR" altLang="en-US" dirty="0"/>
              <a:t>카테고리의 </a:t>
            </a:r>
            <a:r>
              <a:rPr lang="en-US" altLang="ko-KR" dirty="0"/>
              <a:t>[Select Columns] </a:t>
            </a:r>
            <a:r>
              <a:rPr lang="ko-KR" altLang="en-US" dirty="0"/>
              <a:t>위젯을 새로 가져와 </a:t>
            </a:r>
            <a:r>
              <a:rPr lang="en-US" altLang="ko-KR" dirty="0"/>
              <a:t>[Edit Domain] </a:t>
            </a:r>
            <a:r>
              <a:rPr lang="ko-KR" altLang="en-US" dirty="0"/>
              <a:t>위젯에 연결</a:t>
            </a:r>
          </a:p>
        </p:txBody>
      </p:sp>
      <p:pic>
        <p:nvPicPr>
          <p:cNvPr id="13315" name="Picture 3" descr="C:\Users\PC\Desktop\20220214_182302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484" y="2109373"/>
            <a:ext cx="2204385" cy="2732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6AD6648-722D-44D5-9DFD-C4632D39713B}"/>
              </a:ext>
            </a:extLst>
          </p:cNvPr>
          <p:cNvSpPr txBox="1"/>
          <p:nvPr/>
        </p:nvSpPr>
        <p:spPr>
          <a:xfrm>
            <a:off x="903492" y="339502"/>
            <a:ext cx="6618387" cy="399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342900" indent="-342900">
              <a:lnSpc>
                <a:spcPts val="2700"/>
              </a:lnSpc>
              <a:buFont typeface="+mj-ea"/>
              <a:buAutoNum type="circleNumDbPlain" startAt="2"/>
              <a:defRPr b="1" i="0" u="none" strike="noStrike" spc="-150" baseline="0">
                <a:latin typeface="+mn-ea"/>
              </a:defRPr>
            </a:lvl1pPr>
          </a:lstStyle>
          <a:p>
            <a:pPr>
              <a:buFont typeface="+mj-ea"/>
              <a:buAutoNum type="circleNumDbPlain" startAt="3"/>
            </a:pPr>
            <a:r>
              <a:rPr lang="ko-KR" altLang="en-US" dirty="0"/>
              <a:t>속성 설정하기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C62A53-C54B-4F04-9C1F-B6A7C769EAAC}"/>
              </a:ext>
            </a:extLst>
          </p:cNvPr>
          <p:cNvSpPr txBox="1"/>
          <p:nvPr/>
        </p:nvSpPr>
        <p:spPr>
          <a:xfrm>
            <a:off x="1043608" y="1750749"/>
            <a:ext cx="3816424" cy="358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600" spc="-150">
                <a:latin typeface="+mn-ea"/>
              </a:defRPr>
            </a:lvl1pPr>
          </a:lstStyle>
          <a:p>
            <a:r>
              <a:rPr lang="en-US" altLang="ko-KR" dirty="0"/>
              <a:t>[Select Columns] </a:t>
            </a:r>
            <a:r>
              <a:rPr lang="ko-KR" altLang="en-US" dirty="0"/>
              <a:t>위젯을 열어 속성 변경</a:t>
            </a: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A64C27DB-AB1D-4040-97AB-549DB503E066}"/>
              </a:ext>
            </a:extLst>
          </p:cNvPr>
          <p:cNvSpPr/>
          <p:nvPr/>
        </p:nvSpPr>
        <p:spPr>
          <a:xfrm>
            <a:off x="4516368" y="3369630"/>
            <a:ext cx="217869" cy="218453"/>
          </a:xfrm>
          <a:prstGeom prst="rightArrow">
            <a:avLst/>
          </a:prstGeom>
          <a:solidFill>
            <a:srgbClr val="DC5F0D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CC029F-BD00-48EC-A2B5-42841F247825}"/>
              </a:ext>
            </a:extLst>
          </p:cNvPr>
          <p:cNvSpPr txBox="1"/>
          <p:nvPr/>
        </p:nvSpPr>
        <p:spPr>
          <a:xfrm>
            <a:off x="4427984" y="3667697"/>
            <a:ext cx="1728192" cy="510778"/>
          </a:xfrm>
          <a:prstGeom prst="roundRect">
            <a:avLst/>
          </a:prstGeom>
          <a:solidFill>
            <a:schemeClr val="accent2">
              <a:lumMod val="40000"/>
              <a:lumOff val="60000"/>
              <a:alpha val="69804"/>
            </a:schemeClr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b="1">
                <a:solidFill>
                  <a:srgbClr val="C00000"/>
                </a:solidFill>
                <a:latin typeface="+mn-ea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altLang="ko-KR" spc="-100" dirty="0"/>
              <a:t>PM25_C</a:t>
            </a:r>
            <a:r>
              <a:rPr lang="ko-KR" altLang="en-US" spc="-100" dirty="0"/>
              <a:t>와 </a:t>
            </a:r>
            <a:r>
              <a:rPr lang="en-US" altLang="ko-KR" spc="-100" dirty="0" err="1"/>
              <a:t>Ddate</a:t>
            </a:r>
            <a:r>
              <a:rPr lang="ko-KR" altLang="en-US" spc="-100" dirty="0"/>
              <a:t>가 </a:t>
            </a:r>
            <a:r>
              <a:rPr lang="en-US" altLang="ko-KR" spc="-100" dirty="0"/>
              <a:t>Features</a:t>
            </a:r>
            <a:r>
              <a:rPr lang="ko-KR" altLang="en-US" spc="-100" dirty="0"/>
              <a:t>로 이동합니다</a:t>
            </a:r>
            <a:r>
              <a:rPr lang="en-US" altLang="ko-KR" spc="-100" dirty="0"/>
              <a:t>.</a:t>
            </a:r>
            <a:endParaRPr lang="ko-KR" altLang="en-US" spc="-100" dirty="0"/>
          </a:p>
        </p:txBody>
      </p:sp>
      <p:pic>
        <p:nvPicPr>
          <p:cNvPr id="13314" name="Picture 2" descr="C:\Users\PC\Desktop\20220214_182255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121" y="2163851"/>
            <a:ext cx="2168551" cy="2677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39" name="Picture 3" descr="C:\Users\PC\Desktop\20220607_171410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7521" y="829484"/>
            <a:ext cx="3214880" cy="110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4361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C:\Users\PC\Desktop\20220607_17155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034" y="2557248"/>
            <a:ext cx="7070374" cy="1310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모서리가 둥근 직사각형 9">
            <a:extLst>
              <a:ext uri="{FF2B5EF4-FFF2-40B4-BE49-F238E27FC236}">
                <a16:creationId xmlns:a16="http://schemas.microsoft.com/office/drawing/2014/main" id="{60B5015B-F7BA-4CC1-8563-4B41D9B26E6E}"/>
              </a:ext>
            </a:extLst>
          </p:cNvPr>
          <p:cNvSpPr/>
          <p:nvPr/>
        </p:nvSpPr>
        <p:spPr>
          <a:xfrm>
            <a:off x="1691680" y="898522"/>
            <a:ext cx="936104" cy="256818"/>
          </a:xfrm>
          <a:prstGeom prst="roundRect">
            <a:avLst/>
          </a:prstGeom>
          <a:solidFill>
            <a:srgbClr val="65A9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D7E931-8BB1-4216-B828-83795E32AAFC}"/>
              </a:ext>
            </a:extLst>
          </p:cNvPr>
          <p:cNvSpPr txBox="1"/>
          <p:nvPr/>
        </p:nvSpPr>
        <p:spPr>
          <a:xfrm>
            <a:off x="903492" y="339502"/>
            <a:ext cx="6618387" cy="399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342900" indent="-342900">
              <a:lnSpc>
                <a:spcPts val="2700"/>
              </a:lnSpc>
              <a:buFont typeface="+mj-ea"/>
              <a:buAutoNum type="circleNumDbPlain" startAt="2"/>
              <a:defRPr b="1" i="0" u="none" strike="noStrike" spc="-150" baseline="0">
                <a:latin typeface="+mn-ea"/>
              </a:defRPr>
            </a:lvl1pPr>
          </a:lstStyle>
          <a:p>
            <a:pPr>
              <a:buFont typeface="+mj-ea"/>
              <a:buAutoNum type="circleNumDbPlain" startAt="4"/>
            </a:pPr>
            <a:r>
              <a:rPr lang="ko-KR" altLang="en-US" dirty="0"/>
              <a:t>시간에 따른 데이터 변화 확인하기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2D2915-AE93-473A-9867-6D03F5A95A41}"/>
              </a:ext>
            </a:extLst>
          </p:cNvPr>
          <p:cNvSpPr txBox="1"/>
          <p:nvPr/>
        </p:nvSpPr>
        <p:spPr>
          <a:xfrm>
            <a:off x="1331640" y="843558"/>
            <a:ext cx="7200800" cy="12866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600" spc="-150">
                <a:latin typeface="+mn-ea"/>
              </a:defRPr>
            </a:lvl1pPr>
          </a:lstStyle>
          <a:p>
            <a:r>
              <a:rPr lang="en-US" altLang="ko-KR" dirty="0"/>
              <a:t>Time Series  </a:t>
            </a:r>
            <a:r>
              <a:rPr lang="ko-KR" altLang="en-US" dirty="0"/>
              <a:t>카테고리의 </a:t>
            </a:r>
            <a:r>
              <a:rPr lang="en-US" altLang="ko-KR" dirty="0"/>
              <a:t>[Time Slice] </a:t>
            </a:r>
            <a:r>
              <a:rPr lang="ko-KR" altLang="en-US" dirty="0"/>
              <a:t>위젯을 가져와 </a:t>
            </a:r>
            <a:r>
              <a:rPr lang="en-US" altLang="ko-KR" dirty="0"/>
              <a:t>[Select Columns] </a:t>
            </a:r>
            <a:r>
              <a:rPr lang="ko-KR" altLang="en-US" dirty="0"/>
              <a:t>위젯에 연결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[Time Slice] </a:t>
            </a:r>
            <a:r>
              <a:rPr lang="ko-KR" altLang="en-US" dirty="0"/>
              <a:t>위젯은 시간 간격으로 데이터를 잘라서 볼 수 있도록 도와준다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[Time Slice] </a:t>
            </a:r>
            <a:r>
              <a:rPr lang="ko-KR" altLang="en-US" dirty="0"/>
              <a:t>위젯에는 </a:t>
            </a:r>
            <a:r>
              <a:rPr lang="en-US" altLang="ko-KR" dirty="0"/>
              <a:t>[Data Table] </a:t>
            </a:r>
            <a:r>
              <a:rPr lang="ko-KR" altLang="en-US" dirty="0"/>
              <a:t>위젯을 새로 끌어와 연결</a:t>
            </a:r>
          </a:p>
        </p:txBody>
      </p:sp>
      <p:sp>
        <p:nvSpPr>
          <p:cNvPr id="8" name="모서리가 둥근 직사각형 4">
            <a:extLst>
              <a:ext uri="{FF2B5EF4-FFF2-40B4-BE49-F238E27FC236}">
                <a16:creationId xmlns:a16="http://schemas.microsoft.com/office/drawing/2014/main" id="{75A59640-F749-4FFA-95B3-4F34FDB1B125}"/>
              </a:ext>
            </a:extLst>
          </p:cNvPr>
          <p:cNvSpPr/>
          <p:nvPr/>
        </p:nvSpPr>
        <p:spPr>
          <a:xfrm>
            <a:off x="5679620" y="2657508"/>
            <a:ext cx="1080120" cy="1080120"/>
          </a:xfrm>
          <a:prstGeom prst="roundRect">
            <a:avLst>
              <a:gd name="adj" fmla="val 3632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9724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C:\Users\PC\Desktop\20220214_18235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5" y="411510"/>
            <a:ext cx="7536049" cy="4104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52415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8">
            <a:extLst>
              <a:ext uri="{FF2B5EF4-FFF2-40B4-BE49-F238E27FC236}">
                <a16:creationId xmlns:a16="http://schemas.microsoft.com/office/drawing/2014/main" id="{34BAFFBE-5543-4FC5-881F-6B158562930B}"/>
              </a:ext>
            </a:extLst>
          </p:cNvPr>
          <p:cNvSpPr/>
          <p:nvPr/>
        </p:nvSpPr>
        <p:spPr>
          <a:xfrm>
            <a:off x="1475656" y="892173"/>
            <a:ext cx="401548" cy="256818"/>
          </a:xfrm>
          <a:prstGeom prst="roundRect">
            <a:avLst/>
          </a:prstGeom>
          <a:solidFill>
            <a:srgbClr val="A5D3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8B6F61-4F0C-4B50-8246-2BC7036AFA5C}"/>
              </a:ext>
            </a:extLst>
          </p:cNvPr>
          <p:cNvSpPr txBox="1"/>
          <p:nvPr/>
        </p:nvSpPr>
        <p:spPr>
          <a:xfrm>
            <a:off x="903492" y="339502"/>
            <a:ext cx="6618387" cy="399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342900" indent="-342900">
              <a:lnSpc>
                <a:spcPts val="2700"/>
              </a:lnSpc>
              <a:buFont typeface="+mj-ea"/>
              <a:buAutoNum type="circleNumDbPlain" startAt="2"/>
              <a:defRPr b="1" i="0" u="none" strike="noStrike" spc="-150" baseline="0">
                <a:latin typeface="+mn-ea"/>
              </a:defRPr>
            </a:lvl1pPr>
          </a:lstStyle>
          <a:p>
            <a:pPr>
              <a:buFont typeface="+mj-ea"/>
              <a:buAutoNum type="circleNumDbPlain" startAt="5"/>
            </a:pPr>
            <a:r>
              <a:rPr lang="ko-KR" altLang="en-US" dirty="0"/>
              <a:t>시간에 따른 초미세먼지 예보를 지도에 표시하기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FFF146-D2AE-4C60-9FB0-C52999352E53}"/>
              </a:ext>
            </a:extLst>
          </p:cNvPr>
          <p:cNvSpPr txBox="1"/>
          <p:nvPr/>
        </p:nvSpPr>
        <p:spPr>
          <a:xfrm>
            <a:off x="1115616" y="843558"/>
            <a:ext cx="7416824" cy="127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600" spc="-150">
                <a:latin typeface="+mn-ea"/>
              </a:defRPr>
            </a:lvl1pPr>
          </a:lstStyle>
          <a:p>
            <a:r>
              <a:rPr lang="en-US" altLang="ko-KR" dirty="0"/>
              <a:t>Geo  </a:t>
            </a:r>
            <a:r>
              <a:rPr lang="ko-KR" altLang="en-US" dirty="0"/>
              <a:t>카테고리의 </a:t>
            </a:r>
            <a:r>
              <a:rPr lang="en-US" altLang="ko-KR" dirty="0"/>
              <a:t>[Geo Map] </a:t>
            </a:r>
            <a:r>
              <a:rPr lang="ko-KR" altLang="en-US" dirty="0"/>
              <a:t>위젯을 가져와 </a:t>
            </a:r>
            <a:r>
              <a:rPr lang="en-US" altLang="ko-KR" dirty="0"/>
              <a:t>[Time Slice] </a:t>
            </a:r>
            <a:r>
              <a:rPr lang="ko-KR" altLang="en-US" dirty="0"/>
              <a:t>위젯에 연결한 후</a:t>
            </a:r>
            <a:r>
              <a:rPr lang="en-US" altLang="ko-KR" dirty="0"/>
              <a:t>, </a:t>
            </a:r>
            <a:r>
              <a:rPr lang="ko-KR" altLang="en-US" dirty="0"/>
              <a:t>두 위젯 </a:t>
            </a:r>
            <a:r>
              <a:rPr lang="ko-KR" altLang="en-US" dirty="0" err="1"/>
              <a:t>창을나란히</a:t>
            </a:r>
            <a:r>
              <a:rPr lang="ko-KR" altLang="en-US" dirty="0"/>
              <a:t> 연다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Geo Map </a:t>
            </a:r>
            <a:r>
              <a:rPr lang="ko-KR" altLang="en-US" dirty="0"/>
              <a:t>창을 아래와 같이 설정하고</a:t>
            </a:r>
            <a:r>
              <a:rPr lang="en-US" altLang="ko-KR" dirty="0"/>
              <a:t>, Time Slice </a:t>
            </a:r>
            <a:r>
              <a:rPr lang="ko-KR" altLang="en-US" dirty="0"/>
              <a:t>창의              를 눌러 시간에 따른 각 지역의 시간별 초미세먼지 정보를 확인한다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CB5ED63-820A-466C-96DD-AD1A61DC6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136" y="1513195"/>
            <a:ext cx="639316" cy="20900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BA1F1E8-3B88-4220-A5EF-93F640C07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30" y="2105221"/>
            <a:ext cx="1653702" cy="1828800"/>
          </a:xfrm>
          <a:prstGeom prst="roundRect">
            <a:avLst>
              <a:gd name="adj" fmla="val 5725"/>
            </a:avLst>
          </a:prstGeom>
          <a:solidFill>
            <a:srgbClr val="FFFFFF">
              <a:shade val="85000"/>
            </a:srgbClr>
          </a:solidFill>
          <a:ln>
            <a:solidFill>
              <a:schemeClr val="bg1">
                <a:lumMod val="75000"/>
              </a:schemeClr>
            </a:solidFill>
          </a:ln>
          <a:effectLst/>
        </p:spPr>
      </p:pic>
      <p:sp>
        <p:nvSpPr>
          <p:cNvPr id="12" name="모서리가 둥근 직사각형 4">
            <a:extLst>
              <a:ext uri="{FF2B5EF4-FFF2-40B4-BE49-F238E27FC236}">
                <a16:creationId xmlns:a16="http://schemas.microsoft.com/office/drawing/2014/main" id="{945F9431-EFD1-4711-A7DD-2F31D826402F}"/>
              </a:ext>
            </a:extLst>
          </p:cNvPr>
          <p:cNvSpPr/>
          <p:nvPr/>
        </p:nvSpPr>
        <p:spPr>
          <a:xfrm>
            <a:off x="2503281" y="2211710"/>
            <a:ext cx="628559" cy="792088"/>
          </a:xfrm>
          <a:prstGeom prst="roundRect">
            <a:avLst>
              <a:gd name="adj" fmla="val 3632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362" name="Picture 2" descr="C:\Users\PC\Desktop\20220214_182421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2088579"/>
            <a:ext cx="4151306" cy="2787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1380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61245" y="747167"/>
            <a:ext cx="5472608" cy="402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b="1" spc="-150" dirty="0"/>
              <a:t>랜덤 포레스트</a:t>
            </a:r>
            <a:r>
              <a:rPr lang="en-US" altLang="ko-KR" b="1" spc="-150" dirty="0"/>
              <a:t>(Random Forest)</a:t>
            </a:r>
            <a:endParaRPr lang="ko-KR" altLang="en-US" b="1" spc="-1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075316-2620-4715-BF0F-945B79BC977E}"/>
              </a:ext>
            </a:extLst>
          </p:cNvPr>
          <p:cNvSpPr txBox="1"/>
          <p:nvPr/>
        </p:nvSpPr>
        <p:spPr>
          <a:xfrm>
            <a:off x="1763687" y="1384740"/>
            <a:ext cx="6648469" cy="138736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600" spc="-200">
                <a:latin typeface="+mn-ea"/>
              </a:defRPr>
            </a:lvl1pPr>
          </a:lstStyle>
          <a:p>
            <a:pPr algn="l">
              <a:lnSpc>
                <a:spcPts val="2600"/>
              </a:lnSpc>
            </a:pPr>
            <a:r>
              <a:rPr lang="ko-KR" altLang="en-US" dirty="0"/>
              <a:t>랜덤 </a:t>
            </a:r>
            <a:r>
              <a:rPr lang="ko-KR" altLang="en-US" dirty="0" err="1"/>
              <a:t>포레스트는</a:t>
            </a:r>
            <a:r>
              <a:rPr lang="ko-KR" altLang="en-US" dirty="0"/>
              <a:t> 특정 데이터에서만 잘 작동할 가능성이 큰 </a:t>
            </a:r>
            <a:r>
              <a:rPr lang="ko-KR" altLang="en-US" dirty="0" err="1"/>
              <a:t>의사결정트리의</a:t>
            </a:r>
            <a:r>
              <a:rPr lang="ko-KR" altLang="en-US" dirty="0"/>
              <a:t> 단점을 극복하기 위한 알고리즘으로</a:t>
            </a:r>
            <a:r>
              <a:rPr lang="en-US" altLang="ko-KR" dirty="0"/>
              <a:t>, </a:t>
            </a:r>
            <a:r>
              <a:rPr lang="ko-KR" altLang="en-US" dirty="0"/>
              <a:t>같은 데이터에 대해 </a:t>
            </a:r>
            <a:r>
              <a:rPr lang="ko-KR" altLang="en-US" dirty="0" err="1"/>
              <a:t>의사결정트리를</a:t>
            </a:r>
            <a:r>
              <a:rPr lang="ko-KR" altLang="en-US" dirty="0"/>
              <a:t> 여러 개 만들어 그 결과를 종합해 내는 방식의 모델이다</a:t>
            </a:r>
            <a:r>
              <a:rPr lang="en-US" altLang="ko-KR" dirty="0"/>
              <a:t>. </a:t>
            </a:r>
            <a:r>
              <a:rPr lang="ko-KR" altLang="en-US" dirty="0"/>
              <a:t>이와 같은 앙상블</a:t>
            </a:r>
            <a:r>
              <a:rPr lang="en-US" altLang="ko-KR" dirty="0"/>
              <a:t>(Ensemble)</a:t>
            </a:r>
            <a:r>
              <a:rPr lang="ko-KR" altLang="en-US" dirty="0"/>
              <a:t>을 이용하여 정확도와 안정성을 높일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C7BAF35-2915-4CB2-8D05-4130F9678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2700424"/>
            <a:ext cx="3995936" cy="213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4754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748760" y="771550"/>
            <a:ext cx="7655805" cy="2664296"/>
          </a:xfrm>
          <a:prstGeom prst="roundRect">
            <a:avLst>
              <a:gd name="adj" fmla="val 5962"/>
            </a:avLst>
          </a:prstGeom>
          <a:solidFill>
            <a:srgbClr val="F2F9ED"/>
          </a:solidFill>
          <a:ln w="34925">
            <a:solidFill>
              <a:srgbClr val="ADDB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122" name="Picture 2" descr="C:\Users\PC\Desktop\정리하기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472519"/>
            <a:ext cx="1218193" cy="537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379606-3A20-46C3-AD9C-C7B74410469A}"/>
              </a:ext>
            </a:extLst>
          </p:cNvPr>
          <p:cNvSpPr txBox="1"/>
          <p:nvPr/>
        </p:nvSpPr>
        <p:spPr>
          <a:xfrm>
            <a:off x="971600" y="1131590"/>
            <a:ext cx="7210743" cy="2039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ts val="3100"/>
              </a:lnSpc>
              <a:defRPr spc="-100"/>
            </a:lvl1pPr>
          </a:lstStyle>
          <a:p>
            <a:pPr algn="l"/>
            <a:r>
              <a:rPr lang="ko-KR" altLang="en-US" sz="1600" b="0" i="0" u="none" strike="noStrike" baseline="0" dirty="0">
                <a:latin typeface="+mn-ea"/>
              </a:rPr>
              <a:t>지금까지 대기 오염 데이터를 분석하고</a:t>
            </a:r>
            <a:r>
              <a:rPr lang="en-US" altLang="ko-KR" sz="1600" b="0" i="0" u="none" strike="noStrike" baseline="0" dirty="0">
                <a:latin typeface="+mn-ea"/>
              </a:rPr>
              <a:t>, Orange3</a:t>
            </a:r>
            <a:r>
              <a:rPr lang="ko-KR" altLang="en-US" sz="1600" b="0" i="0" u="none" strike="noStrike" baseline="0" dirty="0">
                <a:latin typeface="+mn-ea"/>
              </a:rPr>
              <a:t>의 시각화 기능을 활용하여 </a:t>
            </a:r>
            <a:r>
              <a:rPr lang="ko-KR" altLang="en-US" sz="1600" b="0" i="0" u="none" strike="noStrike" baseline="0" dirty="0" err="1">
                <a:latin typeface="+mn-ea"/>
              </a:rPr>
              <a:t>시각화하였다</a:t>
            </a:r>
            <a:r>
              <a:rPr lang="en-US" altLang="ko-KR" sz="1600" b="0" i="0" u="none" strike="noStrike" baseline="0" dirty="0">
                <a:latin typeface="+mn-ea"/>
              </a:rPr>
              <a:t>. </a:t>
            </a:r>
            <a:r>
              <a:rPr lang="ko-KR" altLang="en-US" sz="1600" b="0" i="0" u="none" strike="noStrike" baseline="0" dirty="0">
                <a:latin typeface="+mn-ea"/>
              </a:rPr>
              <a:t>대기 오염의 정도를 측정한 수치형 데이터를 기준에 따라 범주형 데이터로 변형하여 데이터 분석에 사용할 수도 있다</a:t>
            </a:r>
            <a:r>
              <a:rPr lang="en-US" altLang="ko-KR" sz="1600" b="0" i="0" u="none" strike="noStrike" baseline="0" dirty="0">
                <a:latin typeface="+mn-ea"/>
              </a:rPr>
              <a:t>. </a:t>
            </a:r>
            <a:r>
              <a:rPr lang="ko-KR" altLang="en-US" sz="1600" b="0" i="0" u="none" strike="noStrike" baseline="0" dirty="0">
                <a:latin typeface="+mn-ea"/>
              </a:rPr>
              <a:t>이 경우 종속 변수가 수치형 데이터일 때와 범주형 데이터일 때 활용 가능한 모델이 다르기 때문에 적절한 모델을 선택하는 것이 중요하다</a:t>
            </a:r>
            <a:r>
              <a:rPr lang="en-US" altLang="ko-KR" sz="1600" b="0" i="0" u="none" strike="noStrike" baseline="0" dirty="0">
                <a:latin typeface="+mn-ea"/>
              </a:rPr>
              <a:t>.</a:t>
            </a:r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87650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158152"/>
            <a:ext cx="9144000" cy="763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00"/>
              </a:lnSpc>
            </a:pPr>
            <a:r>
              <a:rPr lang="ko-KR" altLang="en-US" sz="4400" b="1" spc="-25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맑은 고딕" panose="020B0503020000020004" pitchFamily="50" charset="-127"/>
              </a:rPr>
              <a:t>감사합니다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920" y="3291830"/>
            <a:ext cx="1512167" cy="46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501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각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2502</TotalTime>
  <Words>2140</Words>
  <Application>Microsoft Office PowerPoint</Application>
  <PresentationFormat>화면 슬라이드 쇼(16:9)</PresentationFormat>
  <Paragraphs>208</Paragraphs>
  <Slides>47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47</vt:i4>
      </vt:variant>
    </vt:vector>
  </HeadingPairs>
  <TitlesOfParts>
    <vt:vector size="54" baseType="lpstr">
      <vt:lpstr>ITCGaramondStd-Lt</vt:lpstr>
      <vt:lpstr>SDDoksuri-bMd</vt:lpstr>
      <vt:lpstr>YDVYGOStd32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PC</dc:creator>
  <cp:lastModifiedBy>PC</cp:lastModifiedBy>
  <cp:revision>544</cp:revision>
  <cp:lastPrinted>2021-11-23T02:37:31Z</cp:lastPrinted>
  <dcterms:created xsi:type="dcterms:W3CDTF">2021-11-22T04:32:39Z</dcterms:created>
  <dcterms:modified xsi:type="dcterms:W3CDTF">2023-05-19T01:55:29Z</dcterms:modified>
</cp:coreProperties>
</file>
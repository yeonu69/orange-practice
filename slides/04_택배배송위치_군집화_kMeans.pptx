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4"/>
  </p:handoutMasterIdLst>
  <p:sldIdLst>
    <p:sldId id="257" r:id="rId2"/>
    <p:sldId id="256" r:id="rId3"/>
    <p:sldId id="258" r:id="rId4"/>
    <p:sldId id="290" r:id="rId5"/>
    <p:sldId id="260" r:id="rId6"/>
    <p:sldId id="261" r:id="rId7"/>
    <p:sldId id="262" r:id="rId8"/>
    <p:sldId id="264" r:id="rId9"/>
    <p:sldId id="298" r:id="rId10"/>
    <p:sldId id="263" r:id="rId11"/>
    <p:sldId id="270" r:id="rId12"/>
    <p:sldId id="316" r:id="rId13"/>
    <p:sldId id="327" r:id="rId14"/>
    <p:sldId id="317" r:id="rId15"/>
    <p:sldId id="269" r:id="rId16"/>
    <p:sldId id="318" r:id="rId17"/>
    <p:sldId id="288" r:id="rId18"/>
    <p:sldId id="319" r:id="rId19"/>
    <p:sldId id="286" r:id="rId20"/>
    <p:sldId id="289" r:id="rId21"/>
    <p:sldId id="284" r:id="rId22"/>
    <p:sldId id="320" r:id="rId23"/>
    <p:sldId id="315" r:id="rId24"/>
    <p:sldId id="321" r:id="rId25"/>
    <p:sldId id="322" r:id="rId26"/>
    <p:sldId id="323" r:id="rId27"/>
    <p:sldId id="324" r:id="rId28"/>
    <p:sldId id="325" r:id="rId29"/>
    <p:sldId id="326" r:id="rId30"/>
    <p:sldId id="271" r:id="rId31"/>
    <p:sldId id="301" r:id="rId32"/>
    <p:sldId id="276" r:id="rId3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971" userDrawn="1">
          <p15:clr>
            <a:srgbClr val="A4A3A4"/>
          </p15:clr>
        </p15:guide>
        <p15:guide id="3" pos="567" userDrawn="1">
          <p15:clr>
            <a:srgbClr val="A4A3A4"/>
          </p15:clr>
        </p15:guide>
        <p15:guide id="4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9E8F8B-492F-3667-A88A-45BDBEA5C428}" name="QP254" initials="Q" userId="QP254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E7979"/>
    <a:srgbClr val="FFFFFF"/>
    <a:srgbClr val="78B832"/>
    <a:srgbClr val="005957"/>
    <a:srgbClr val="DC5F0D"/>
    <a:srgbClr val="74A2A1"/>
    <a:srgbClr val="A6AFB4"/>
    <a:srgbClr val="2AA79F"/>
    <a:srgbClr val="F7F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 autoAdjust="0"/>
    <p:restoredTop sz="94660"/>
  </p:normalViewPr>
  <p:slideViewPr>
    <p:cSldViewPr>
      <p:cViewPr varScale="1">
        <p:scale>
          <a:sx n="203" d="100"/>
          <a:sy n="203" d="100"/>
        </p:scale>
        <p:origin x="984" y="174"/>
      </p:cViewPr>
      <p:guideLst>
        <p:guide orient="horz" pos="713"/>
        <p:guide pos="2971"/>
        <p:guide pos="5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2" d="100"/>
          <a:sy n="102" d="100"/>
        </p:scale>
        <p:origin x="-25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17AAF-FE03-4DAC-946A-F1B0D37E46A6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4DD33-6877-436E-99DE-74E15368C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47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gradFill>
          <a:gsLst>
            <a:gs pos="0">
              <a:srgbClr val="CAD900"/>
            </a:gs>
            <a:gs pos="100000">
              <a:srgbClr val="EBFDA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esktop\adheherh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66" y="2574197"/>
            <a:ext cx="2493834" cy="222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제목 없음-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25" y="372277"/>
            <a:ext cx="4248471" cy="443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PC\Desktop\aehdzbb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48" y="3391469"/>
            <a:ext cx="1983546" cy="149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PC\Desktop\20220607_164334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096526"/>
            <a:ext cx="459358" cy="50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97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6" name="Picture 4" descr="C:\Users\PC\Desktop\A9RA0F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5526"/>
            <a:ext cx="457869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72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99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218" name="Picture 2" descr="C:\Users\PC\Desktop\20211122_162623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"/>
          <a:stretch/>
        </p:blipFill>
        <p:spPr bwMode="auto">
          <a:xfrm>
            <a:off x="660710" y="489767"/>
            <a:ext cx="3818422" cy="56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 userDrawn="1"/>
        </p:nvCxnSpPr>
        <p:spPr>
          <a:xfrm>
            <a:off x="4443412" y="843558"/>
            <a:ext cx="394501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headEnd type="none"/>
            <a:tailEnd type="oval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3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242" name="Picture 2" descr="C:\Users\PC\Desktop\20211122_1640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922346"/>
            <a:ext cx="3096344" cy="258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PC\Desktop\20211122_164015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-1"/>
          <a:stretch/>
        </p:blipFill>
        <p:spPr bwMode="auto">
          <a:xfrm>
            <a:off x="611561" y="2882280"/>
            <a:ext cx="3096344" cy="18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564119" y="569814"/>
            <a:ext cx="416675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altLang="ko-KR" sz="3200" b="1" spc="-150" dirty="0">
                <a:solidFill>
                  <a:srgbClr val="0070C0"/>
                </a:solidFill>
              </a:rPr>
              <a:t>AI</a:t>
            </a:r>
            <a:r>
              <a:rPr lang="ko-KR" altLang="en-US" sz="2000" b="1" spc="-150" dirty="0">
                <a:solidFill>
                  <a:srgbClr val="0070C0"/>
                </a:solidFill>
              </a:rPr>
              <a:t>랑</a:t>
            </a:r>
            <a:r>
              <a:rPr lang="ko-KR" altLang="en-US" sz="24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spc="-150" dirty="0">
                <a:solidFill>
                  <a:srgbClr val="2AA79F"/>
                </a:solidFill>
              </a:rPr>
              <a:t>친해지기</a:t>
            </a:r>
            <a:endParaRPr lang="ko-KR" altLang="en-US" sz="2400" b="1" spc="-150" dirty="0">
              <a:solidFill>
                <a:srgbClr val="2AA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496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2" descr="C:\Users\PC\Desktop\20211122_164015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-1"/>
          <a:stretch/>
        </p:blipFill>
        <p:spPr bwMode="auto">
          <a:xfrm>
            <a:off x="611561" y="2882280"/>
            <a:ext cx="3096344" cy="18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PC\Desktop\20211122_164015.jpg">
            <a:extLst>
              <a:ext uri="{FF2B5EF4-FFF2-40B4-BE49-F238E27FC236}">
                <a16:creationId xmlns:a16="http://schemas.microsoft.com/office/drawing/2014/main" id="{BC098F33-34A5-40A1-8821-DB0FA1106E5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-1"/>
          <a:stretch/>
        </p:blipFill>
        <p:spPr bwMode="auto">
          <a:xfrm>
            <a:off x="611560" y="1025426"/>
            <a:ext cx="3096344" cy="185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C\Desktop\20211122_164015.jpg">
            <a:extLst>
              <a:ext uri="{FF2B5EF4-FFF2-40B4-BE49-F238E27FC236}">
                <a16:creationId xmlns:a16="http://schemas.microsoft.com/office/drawing/2014/main" id="{3D527E6B-D123-4761-A8D1-6B8799FED6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3" b="52482"/>
          <a:stretch/>
        </p:blipFill>
        <p:spPr bwMode="auto">
          <a:xfrm>
            <a:off x="612132" y="559682"/>
            <a:ext cx="3096344" cy="49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39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074" name="Picture 2" descr="C:\Users\PC\Desktop\20211206_15452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909" y="259675"/>
            <a:ext cx="8305965" cy="404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561323" y="626972"/>
            <a:ext cx="1044116" cy="675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2400"/>
              </a:lnSpc>
            </a:pPr>
            <a:r>
              <a:rPr lang="ko-KR" altLang="en-US" sz="1600" b="1" spc="-150" dirty="0">
                <a:solidFill>
                  <a:srgbClr val="023040"/>
                </a:solidFill>
              </a:rPr>
              <a:t>전문가</a:t>
            </a:r>
            <a:endParaRPr lang="en-US" altLang="ko-KR" sz="1600" b="1" spc="-150" dirty="0">
              <a:solidFill>
                <a:srgbClr val="023040"/>
              </a:solidFill>
            </a:endParaRPr>
          </a:p>
          <a:p>
            <a:pPr algn="r">
              <a:lnSpc>
                <a:spcPts val="2400"/>
              </a:lnSpc>
            </a:pPr>
            <a:r>
              <a:rPr lang="en-US" altLang="ko-KR" sz="1600" b="1" spc="-150" baseline="0" dirty="0">
                <a:solidFill>
                  <a:srgbClr val="023040"/>
                </a:solidFill>
              </a:rPr>
              <a:t>   </a:t>
            </a:r>
            <a:r>
              <a:rPr lang="ko-KR" altLang="en-US" sz="1600" b="1" spc="-150" dirty="0">
                <a:solidFill>
                  <a:srgbClr val="023040"/>
                </a:solidFill>
              </a:rPr>
              <a:t>되기</a:t>
            </a:r>
          </a:p>
        </p:txBody>
      </p:sp>
    </p:spTree>
    <p:extLst>
      <p:ext uri="{BB962C8B-B14F-4D97-AF65-F5344CB8AC3E}">
        <p14:creationId xmlns:p14="http://schemas.microsoft.com/office/powerpoint/2010/main" val="168120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bg>
      <p:bgPr>
        <a:solidFill>
          <a:srgbClr val="CDDF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7">
            <a:extLst>
              <a:ext uri="{FF2B5EF4-FFF2-40B4-BE49-F238E27FC236}">
                <a16:creationId xmlns:a16="http://schemas.microsoft.com/office/drawing/2014/main" id="{00195A94-F6C1-48C2-858D-13C9EDCF92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34371" y="4922870"/>
            <a:ext cx="36410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Copyrightⓒ2021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900" spc="-150" baseline="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씨마스</a:t>
            </a:r>
            <a:r>
              <a:rPr kumimoji="0" lang="en-US" altLang="ko-KR" sz="900" baseline="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9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All Rights Reserved. </a:t>
            </a:r>
            <a:endParaRPr kumimoji="0" lang="ko-KR" altLang="en-US" sz="9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292187" y="185961"/>
            <a:ext cx="8568952" cy="4752528"/>
          </a:xfrm>
          <a:prstGeom prst="roundRect">
            <a:avLst>
              <a:gd name="adj" fmla="val 52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모서리가 둥근 직사각형 3"/>
          <p:cNvSpPr/>
          <p:nvPr userDrawn="1"/>
        </p:nvSpPr>
        <p:spPr>
          <a:xfrm>
            <a:off x="748760" y="1434480"/>
            <a:ext cx="7655805" cy="3225502"/>
          </a:xfrm>
          <a:prstGeom prst="roundRect">
            <a:avLst>
              <a:gd name="adj" fmla="val 5962"/>
            </a:avLst>
          </a:prstGeom>
          <a:solidFill>
            <a:srgbClr val="E4E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6" descr="C:\Users\PC\Desktop\dahahe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07473"/>
            <a:ext cx="1152128" cy="50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42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PC\Desktop\A9RA0F1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44" b="3273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PC\Desktop\A9RA0F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54013"/>
            <a:ext cx="4435475" cy="443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2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11960" y="1203598"/>
            <a:ext cx="79208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78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3897F-199E-4F49-AA54-E877A67F5BFF}" type="datetimeFigureOut">
              <a:rPr lang="ko-KR" altLang="en-US" smtClean="0"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2706-E937-4004-98DD-DF74E81139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2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0" r:id="rId3"/>
    <p:sldLayoutId id="2147483661" r:id="rId4"/>
    <p:sldLayoutId id="2147483663" r:id="rId5"/>
    <p:sldLayoutId id="2147483664" r:id="rId6"/>
    <p:sldLayoutId id="2147483670" r:id="rId7"/>
    <p:sldLayoutId id="2147483669" r:id="rId8"/>
    <p:sldLayoutId id="2147483666" r:id="rId9"/>
    <p:sldLayoutId id="2147483667" r:id="rId10"/>
    <p:sldLayoutId id="21474836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bit.ly/3AFvAJo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02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45286" y="711567"/>
            <a:ext cx="5565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>
                <a:solidFill>
                  <a:srgbClr val="78B832"/>
                </a:solidFill>
                <a:latin typeface="+mj-lt"/>
                <a:ea typeface="맑은 고딕" panose="020B0503020000020004" pitchFamily="50" charset="-127"/>
              </a:rPr>
              <a:t>4</a:t>
            </a:r>
            <a:endParaRPr lang="ko-KR" altLang="en-US" sz="5000" b="1" dirty="0">
              <a:solidFill>
                <a:srgbClr val="78B832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612336"/>
            <a:ext cx="9144000" cy="196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택배 배송 위치</a:t>
            </a:r>
            <a:b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</a:br>
            <a:r>
              <a:rPr lang="ko-KR" altLang="en-US" sz="3800" b="1" spc="-250" dirty="0">
                <a:solidFill>
                  <a:srgbClr val="619428"/>
                </a:solidFill>
                <a:latin typeface="+mj-lt"/>
                <a:ea typeface="맑은 고딕" panose="020B0503020000020004" pitchFamily="50" charset="-127"/>
              </a:rPr>
              <a:t>군집화</a:t>
            </a: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로 세상을</a:t>
            </a:r>
            <a:b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</a:br>
            <a:r>
              <a:rPr lang="ko-KR" altLang="en-US" sz="3800" b="1" spc="-250" dirty="0">
                <a:latin typeface="+mj-lt"/>
                <a:ea typeface="맑은 고딕" panose="020B0503020000020004" pitchFamily="50" charset="-127"/>
              </a:rPr>
              <a:t>바꿔 봐</a:t>
            </a:r>
            <a:r>
              <a:rPr lang="en-US" altLang="ko-KR" sz="3800" b="1" spc="-250" dirty="0">
                <a:latin typeface="+mj-lt"/>
                <a:ea typeface="맑은 고딕" panose="020B0503020000020004" pitchFamily="50" charset="-127"/>
              </a:rPr>
              <a:t>!</a:t>
            </a:r>
            <a:endParaRPr lang="ko-KR" altLang="en-US" sz="3800" b="1" spc="-250" dirty="0"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7986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 dirty="0">
                <a:latin typeface="+mn-ea"/>
              </a:rPr>
              <a:t>k-Means</a:t>
            </a:r>
            <a:r>
              <a:rPr lang="ko-KR" altLang="en-US" sz="1600" spc="-150" dirty="0">
                <a:latin typeface="+mn-ea"/>
              </a:rPr>
              <a:t>를 사용하여 택배 배송 위치를</a:t>
            </a:r>
          </a:p>
          <a:p>
            <a:pPr algn="ctr"/>
            <a:r>
              <a:rPr lang="ko-KR" altLang="en-US" sz="1600" spc="-150" dirty="0">
                <a:latin typeface="+mn-ea"/>
              </a:rPr>
              <a:t>군집화해 보자</a:t>
            </a:r>
            <a:r>
              <a:rPr lang="en-US" altLang="ko-KR" sz="1600" spc="-150" dirty="0">
                <a:latin typeface="+mn-ea"/>
              </a:rPr>
              <a:t>.</a:t>
            </a:r>
            <a:endParaRPr lang="ko-KR" altLang="en-US" sz="1600" spc="-1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117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74373" y="371881"/>
            <a:ext cx="20297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1600" spc="-100" dirty="0"/>
              <a:t>데이터 종류</a:t>
            </a:r>
            <a:r>
              <a:rPr lang="en-US" altLang="ko-KR" sz="1600" spc="-100" dirty="0"/>
              <a:t>:</a:t>
            </a:r>
          </a:p>
          <a:p>
            <a:pPr algn="ctr">
              <a:lnSpc>
                <a:spcPts val="3600"/>
              </a:lnSpc>
            </a:pPr>
            <a:r>
              <a:rPr lang="ko-KR" altLang="en-US" sz="2800" b="1" spc="-100" dirty="0">
                <a:solidFill>
                  <a:srgbClr val="FB5D05"/>
                </a:solidFill>
              </a:rPr>
              <a:t>정형 데이터</a:t>
            </a:r>
            <a:endParaRPr lang="ko-KR" altLang="en-US" b="1" spc="-100" dirty="0">
              <a:solidFill>
                <a:srgbClr val="FB5D0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99992" y="358552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ko-KR" altLang="en-US" sz="1600" spc="-100" dirty="0"/>
              <a:t>사용하는 모델</a:t>
            </a:r>
            <a:r>
              <a:rPr lang="en-US" altLang="ko-KR" sz="1600" spc="-100" dirty="0"/>
              <a:t>:</a:t>
            </a:r>
          </a:p>
          <a:p>
            <a:pPr algn="ctr">
              <a:lnSpc>
                <a:spcPts val="3600"/>
              </a:lnSpc>
            </a:pPr>
            <a:r>
              <a:rPr lang="en-US" altLang="ko-KR" sz="2800" b="1" spc="-100" dirty="0">
                <a:solidFill>
                  <a:srgbClr val="FB5D05"/>
                </a:solidFill>
              </a:rPr>
              <a:t>K-Means</a:t>
            </a:r>
            <a:endParaRPr lang="ko-KR" altLang="en-US" sz="2800" b="1" spc="-100" dirty="0">
              <a:solidFill>
                <a:srgbClr val="FB5D05"/>
              </a:solidFill>
            </a:endParaRPr>
          </a:p>
        </p:txBody>
      </p:sp>
      <p:pic>
        <p:nvPicPr>
          <p:cNvPr id="7" name="그림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5D7EDCB8-4D22-40BA-ACDD-2CFD88CE1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779662"/>
            <a:ext cx="2027487" cy="2747075"/>
          </a:xfrm>
          <a:prstGeom prst="rect">
            <a:avLst/>
          </a:prstGeom>
        </p:spPr>
      </p:pic>
      <p:pic>
        <p:nvPicPr>
          <p:cNvPr id="5" name="그림 4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A63E2E24-7B45-402C-B4DA-90391C726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523184"/>
            <a:ext cx="2657879" cy="200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4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744097" y="1419622"/>
            <a:ext cx="7655805" cy="2952328"/>
          </a:xfrm>
          <a:prstGeom prst="roundRect">
            <a:avLst>
              <a:gd name="adj" fmla="val 5962"/>
            </a:avLst>
          </a:prstGeom>
          <a:solidFill>
            <a:srgbClr val="FEF5E3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해결해야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할 문제는 무엇일까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2" descr="C:\Users\PC\Desktop\문제 상황.png">
            <a:extLst>
              <a:ext uri="{FF2B5EF4-FFF2-40B4-BE49-F238E27FC236}">
                <a16:creationId xmlns:a16="http://schemas.microsoft.com/office/drawing/2014/main" id="{83096BF7-3BD5-49C0-B055-8702947EC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33" y="1119116"/>
            <a:ext cx="1152128" cy="48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1C81E5-DEA6-4414-AB8C-D7A67F423C11}"/>
              </a:ext>
            </a:extLst>
          </p:cNvPr>
          <p:cNvSpPr txBox="1"/>
          <p:nvPr/>
        </p:nvSpPr>
        <p:spPr>
          <a:xfrm>
            <a:off x="1053133" y="1871861"/>
            <a:ext cx="7109742" cy="203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3100"/>
              </a:lnSpc>
              <a:defRPr spc="-100"/>
            </a:lvl1pPr>
          </a:lstStyle>
          <a:p>
            <a:r>
              <a:rPr lang="ko-KR" altLang="en-US" dirty="0"/>
              <a:t>해를 거듭할수록 택배 수요는 폭발적으로 늘어나고 있으며</a:t>
            </a:r>
            <a:r>
              <a:rPr lang="en-US" altLang="ko-KR" dirty="0"/>
              <a:t>, </a:t>
            </a:r>
            <a:r>
              <a:rPr lang="ko-KR" altLang="en-US" dirty="0"/>
              <a:t>택배 비용</a:t>
            </a:r>
          </a:p>
          <a:p>
            <a:r>
              <a:rPr lang="ko-KR" altLang="en-US" dirty="0"/>
              <a:t>문제도 이슈화되고 있다</a:t>
            </a:r>
            <a:r>
              <a:rPr lang="en-US" altLang="ko-KR" dirty="0"/>
              <a:t>. </a:t>
            </a:r>
            <a:r>
              <a:rPr lang="ko-KR" altLang="en-US" dirty="0"/>
              <a:t>택배 수요는 늘고 있지만</a:t>
            </a:r>
            <a:r>
              <a:rPr lang="en-US" altLang="ko-KR" dirty="0"/>
              <a:t>, </a:t>
            </a:r>
            <a:r>
              <a:rPr lang="ko-KR" altLang="en-US" dirty="0" err="1"/>
              <a:t>택배원</a:t>
            </a:r>
            <a:r>
              <a:rPr lang="ko-KR" altLang="en-US" dirty="0"/>
              <a:t> 수급 및 택배</a:t>
            </a:r>
          </a:p>
          <a:p>
            <a:r>
              <a:rPr lang="ko-KR" altLang="en-US" dirty="0"/>
              <a:t>비용은 제자리걸음을 하고 있다</a:t>
            </a:r>
            <a:r>
              <a:rPr lang="en-US" altLang="ko-KR" dirty="0"/>
              <a:t>. </a:t>
            </a:r>
            <a:r>
              <a:rPr lang="ko-KR" altLang="en-US" dirty="0"/>
              <a:t>이러한 상황을 분석하기 위해 특정 지</a:t>
            </a:r>
          </a:p>
          <a:p>
            <a:r>
              <a:rPr lang="ko-KR" altLang="en-US" dirty="0"/>
              <a:t>역의 택배 위치 데이터로 군집화하고</a:t>
            </a:r>
            <a:r>
              <a:rPr lang="en-US" altLang="ko-KR" dirty="0"/>
              <a:t>, </a:t>
            </a:r>
            <a:r>
              <a:rPr lang="ko-KR" altLang="en-US" dirty="0"/>
              <a:t>우리가 미처 보지 못했던 경향</a:t>
            </a:r>
            <a:r>
              <a:rPr lang="en-US" altLang="ko-KR" dirty="0"/>
              <a:t>, </a:t>
            </a:r>
            <a:r>
              <a:rPr lang="ko-KR" altLang="en-US" dirty="0"/>
              <a:t>패</a:t>
            </a:r>
          </a:p>
          <a:p>
            <a:r>
              <a:rPr lang="ko-KR" altLang="en-US" dirty="0"/>
              <a:t>턴 등을 파악하여 택배 배송 문제를 해결할 방법을 찾아보면 어떨까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사각형 설명선 1"/>
          <p:cNvSpPr/>
          <p:nvPr/>
        </p:nvSpPr>
        <p:spPr>
          <a:xfrm>
            <a:off x="772720" y="492132"/>
            <a:ext cx="5095424" cy="1989321"/>
          </a:xfrm>
          <a:prstGeom prst="wedgeRoundRectCallout">
            <a:avLst>
              <a:gd name="adj1" fmla="val 38643"/>
              <a:gd name="adj2" fmla="val 77532"/>
              <a:gd name="adj3" fmla="val 16667"/>
            </a:avLst>
          </a:prstGeom>
          <a:solidFill>
            <a:srgbClr val="FCD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FF471EDA-949F-4411-8E78-F123554B1E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8" t="22000" r="23434" b="26201"/>
          <a:stretch/>
        </p:blipFill>
        <p:spPr>
          <a:xfrm>
            <a:off x="5696696" y="2266700"/>
            <a:ext cx="3024336" cy="26642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193A1A-4F75-4E8D-A541-ED3A1343E3FA}"/>
              </a:ext>
            </a:extLst>
          </p:cNvPr>
          <p:cNvSpPr txBox="1"/>
          <p:nvPr/>
        </p:nvSpPr>
        <p:spPr>
          <a:xfrm>
            <a:off x="948454" y="613953"/>
            <a:ext cx="4743956" cy="1711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just">
              <a:lnSpc>
                <a:spcPts val="4400"/>
              </a:lnSpc>
              <a:defRPr sz="2400" spc="-200"/>
            </a:lvl1pPr>
          </a:lstStyle>
          <a:p>
            <a:r>
              <a:rPr lang="ko-KR" altLang="en-US" dirty="0"/>
              <a:t>인천 연안 지역 택배 위치 데이터로 </a:t>
            </a:r>
            <a:r>
              <a:rPr lang="ko-KR" altLang="en-US" b="1" dirty="0" err="1">
                <a:solidFill>
                  <a:srgbClr val="619428"/>
                </a:solidFill>
              </a:rPr>
              <a:t>군집화하여</a:t>
            </a:r>
            <a:r>
              <a:rPr lang="ko-KR" altLang="en-US" b="1" dirty="0">
                <a:solidFill>
                  <a:srgbClr val="619428"/>
                </a:solidFill>
              </a:rPr>
              <a:t> 택배 배송 문제를 해결</a:t>
            </a:r>
            <a:r>
              <a:rPr lang="ko-KR" altLang="en-US" dirty="0"/>
              <a:t>할 인공지능 모델을 만들어 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데이터를 준비하자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외부 데이터 다운로드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6732240" y="681014"/>
            <a:ext cx="1892154" cy="342417"/>
          </a:xfrm>
          <a:prstGeom prst="roundRect">
            <a:avLst/>
          </a:prstGeom>
          <a:solidFill>
            <a:srgbClr val="84AEE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732240" y="339502"/>
            <a:ext cx="1728192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ko-KR" altLang="en-US" sz="1400" b="1" spc="-150" dirty="0">
                <a:solidFill>
                  <a:srgbClr val="3A7DCE"/>
                </a:solidFill>
              </a:rPr>
              <a:t>데이터 다운로드 링크</a:t>
            </a:r>
            <a:endParaRPr lang="en-US" altLang="ko-KR" sz="1400" b="1" spc="-150" dirty="0">
              <a:solidFill>
                <a:srgbClr val="3A7DCE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B3BD81-11F4-487C-8A45-E7DB31290CE9}"/>
              </a:ext>
            </a:extLst>
          </p:cNvPr>
          <p:cNvSpPr txBox="1"/>
          <p:nvPr/>
        </p:nvSpPr>
        <p:spPr>
          <a:xfrm>
            <a:off x="5220072" y="4545869"/>
            <a:ext cx="3575189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4-1 </a:t>
            </a:r>
            <a:r>
              <a:rPr lang="ko-KR" altLang="en-US" b="0" dirty="0">
                <a:solidFill>
                  <a:schemeClr val="tx1"/>
                </a:solidFill>
              </a:rPr>
              <a:t>인천 연안 지역 택배 배송 위치 데이터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115C73-8B2B-482B-A253-EEA9107DDC4E}"/>
              </a:ext>
            </a:extLst>
          </p:cNvPr>
          <p:cNvSpPr txBox="1"/>
          <p:nvPr/>
        </p:nvSpPr>
        <p:spPr>
          <a:xfrm>
            <a:off x="827584" y="1705064"/>
            <a:ext cx="3240360" cy="400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sz="1800" dirty="0"/>
              <a:t>Delivery.csv </a:t>
            </a:r>
            <a:r>
              <a:rPr lang="ko-KR" altLang="en-US" sz="1800" dirty="0"/>
              <a:t>파일 다운로드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21DF82-686E-4FD3-A7ED-88D9EFB1ED21}"/>
              </a:ext>
            </a:extLst>
          </p:cNvPr>
          <p:cNvSpPr txBox="1"/>
          <p:nvPr/>
        </p:nvSpPr>
        <p:spPr>
          <a:xfrm>
            <a:off x="827583" y="2425177"/>
            <a:ext cx="436668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sz="1800" dirty="0"/>
              <a:t>371</a:t>
            </a:r>
            <a:r>
              <a:rPr lang="ko-KR" altLang="en-US" sz="1800" dirty="0"/>
              <a:t>개의 인천 연안 지역 택배 배송 위치의 </a:t>
            </a:r>
            <a:br>
              <a:rPr lang="en-US" altLang="ko-KR" sz="1800" dirty="0"/>
            </a:br>
            <a:r>
              <a:rPr lang="ko-KR" altLang="en-US" sz="1800" dirty="0"/>
              <a:t>위도</a:t>
            </a:r>
            <a:r>
              <a:rPr lang="en-US" altLang="ko-KR" sz="1800" dirty="0"/>
              <a:t>(Latitude)</a:t>
            </a:r>
            <a:r>
              <a:rPr lang="ko-KR" altLang="en-US" sz="1800" dirty="0"/>
              <a:t>와 경도</a:t>
            </a:r>
            <a:r>
              <a:rPr lang="en-US" altLang="ko-KR" sz="1800" dirty="0"/>
              <a:t>(Longitude) </a:t>
            </a:r>
            <a:r>
              <a:rPr lang="ko-KR" altLang="en-US" sz="1800" dirty="0"/>
              <a:t>확인 가능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91CCF-4D0A-4AC0-8CA3-641F7EFE7B1A}"/>
              </a:ext>
            </a:extLst>
          </p:cNvPr>
          <p:cNvSpPr txBox="1"/>
          <p:nvPr/>
        </p:nvSpPr>
        <p:spPr>
          <a:xfrm>
            <a:off x="6823349" y="672991"/>
            <a:ext cx="1709936" cy="3334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ts val="2100"/>
              </a:lnSpc>
              <a:defRPr sz="1400" spc="-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ctr"/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https://bit.ly/3AFvAJo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DB3467E-B0B0-4186-8ADD-ECAFC0721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41" y="1285467"/>
            <a:ext cx="3077044" cy="329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491630"/>
            <a:ext cx="3832275" cy="2804734"/>
          </a:xfrm>
          <a:prstGeom prst="rect">
            <a:avLst/>
          </a:prstGeom>
        </p:spPr>
      </p:pic>
      <p:sp>
        <p:nvSpPr>
          <p:cNvPr id="10" name="모서리가 둥근 직사각형 2">
            <a:extLst>
              <a:ext uri="{FF2B5EF4-FFF2-40B4-BE49-F238E27FC236}">
                <a16:creationId xmlns:a16="http://schemas.microsoft.com/office/drawing/2014/main" id="{7275A038-1007-4C75-B3DE-B2EC19FA6916}"/>
              </a:ext>
            </a:extLst>
          </p:cNvPr>
          <p:cNvSpPr/>
          <p:nvPr/>
        </p:nvSpPr>
        <p:spPr>
          <a:xfrm>
            <a:off x="1043608" y="1491630"/>
            <a:ext cx="438373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불러오기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1419622"/>
            <a:ext cx="3955951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Data </a:t>
            </a:r>
            <a:r>
              <a:rPr lang="ko-KR" altLang="en-US" sz="1600" dirty="0">
                <a:latin typeface="+mn-ea"/>
              </a:rPr>
              <a:t>카테고리 </a:t>
            </a:r>
            <a:r>
              <a:rPr lang="en-US" altLang="ko-KR" sz="1600" dirty="0">
                <a:latin typeface="+mn-ea"/>
              </a:rPr>
              <a:t>– [File]</a:t>
            </a:r>
            <a:r>
              <a:rPr lang="ko-KR" altLang="en-US" sz="1600" dirty="0">
                <a:latin typeface="+mn-ea"/>
              </a:rPr>
              <a:t>위젯 가져온 후</a:t>
            </a:r>
            <a:r>
              <a:rPr lang="en-US" altLang="ko-KR" sz="1600" dirty="0">
                <a:latin typeface="+mn-ea"/>
              </a:rPr>
              <a:t>, 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더블 클릭하여 </a:t>
            </a:r>
            <a:r>
              <a:rPr lang="en-US" altLang="ko-KR" sz="1600" dirty="0">
                <a:latin typeface="+mn-ea"/>
              </a:rPr>
              <a:t>Delivery.csv </a:t>
            </a:r>
            <a:r>
              <a:rPr lang="ko-KR" altLang="en-US" sz="1600" dirty="0">
                <a:latin typeface="+mn-ea"/>
              </a:rPr>
              <a:t>파일 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불러오기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C9139-2318-464F-8C87-A7582E35DDAE}"/>
              </a:ext>
            </a:extLst>
          </p:cNvPr>
          <p:cNvSpPr txBox="1"/>
          <p:nvPr/>
        </p:nvSpPr>
        <p:spPr>
          <a:xfrm>
            <a:off x="617909" y="977072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ko-KR" altLang="en-US" sz="1700" b="1" spc="-150" dirty="0"/>
              <a:t>택배 배송 위치 데이터 불러오기</a:t>
            </a:r>
          </a:p>
        </p:txBody>
      </p:sp>
      <p:sp>
        <p:nvSpPr>
          <p:cNvPr id="11" name="모서리가 둥근 사각형 설명선 3">
            <a:extLst>
              <a:ext uri="{FF2B5EF4-FFF2-40B4-BE49-F238E27FC236}">
                <a16:creationId xmlns:a16="http://schemas.microsoft.com/office/drawing/2014/main" id="{63A7A049-9002-4E1B-94E3-7595CF137596}"/>
              </a:ext>
            </a:extLst>
          </p:cNvPr>
          <p:cNvSpPr/>
          <p:nvPr/>
        </p:nvSpPr>
        <p:spPr>
          <a:xfrm>
            <a:off x="2339752" y="2931790"/>
            <a:ext cx="2376264" cy="1224136"/>
          </a:xfrm>
          <a:prstGeom prst="wedgeRoundRectCallout">
            <a:avLst>
              <a:gd name="adj1" fmla="val 76627"/>
              <a:gd name="adj2" fmla="val -36123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dirty="0">
                <a:solidFill>
                  <a:schemeClr val="tx1"/>
                </a:solidFill>
              </a:rPr>
              <a:t>데이터 정보</a:t>
            </a:r>
            <a:r>
              <a:rPr lang="en-US" altLang="ko-KR" sz="1500" dirty="0">
                <a:solidFill>
                  <a:schemeClr val="tx1"/>
                </a:solidFill>
              </a:rPr>
              <a:t>(Info)</a:t>
            </a:r>
            <a:r>
              <a:rPr lang="ko-KR" altLang="en-US" sz="1500" dirty="0">
                <a:solidFill>
                  <a:schemeClr val="tx1"/>
                </a:solidFill>
              </a:rPr>
              <a:t>로</a:t>
            </a:r>
            <a:br>
              <a:rPr lang="en-US" altLang="ko-KR" sz="1500" dirty="0">
                <a:solidFill>
                  <a:schemeClr val="tx1"/>
                </a:solidFill>
              </a:rPr>
            </a:br>
            <a:r>
              <a:rPr lang="en-US" altLang="ko-KR" sz="1500" dirty="0">
                <a:solidFill>
                  <a:schemeClr val="tx1"/>
                </a:solidFill>
              </a:rPr>
              <a:t>3</a:t>
            </a:r>
            <a:r>
              <a:rPr lang="ko-KR" altLang="en-US" sz="1500" dirty="0">
                <a:solidFill>
                  <a:schemeClr val="tx1"/>
                </a:solidFill>
              </a:rPr>
              <a:t>개의 속성으로 구성된 </a:t>
            </a:r>
            <a:br>
              <a:rPr lang="en-US" altLang="ko-KR" sz="1500" dirty="0">
                <a:solidFill>
                  <a:schemeClr val="tx1"/>
                </a:solidFill>
              </a:rPr>
            </a:br>
            <a:r>
              <a:rPr lang="en-US" altLang="ko-KR" sz="1500" dirty="0">
                <a:solidFill>
                  <a:schemeClr val="tx1"/>
                </a:solidFill>
              </a:rPr>
              <a:t>371</a:t>
            </a:r>
            <a:r>
              <a:rPr lang="ko-KR" altLang="en-US" sz="1500" dirty="0">
                <a:solidFill>
                  <a:schemeClr val="tx1"/>
                </a:solidFill>
              </a:rPr>
              <a:t>개의 데이터가 </a:t>
            </a:r>
            <a:br>
              <a:rPr lang="en-US" altLang="ko-KR" sz="1500" dirty="0">
                <a:solidFill>
                  <a:schemeClr val="tx1"/>
                </a:solidFill>
              </a:rPr>
            </a:br>
            <a:r>
              <a:rPr lang="ko-KR" altLang="en-US" sz="1500" dirty="0">
                <a:solidFill>
                  <a:schemeClr val="tx1"/>
                </a:solidFill>
              </a:rPr>
              <a:t>담겨 있음을 확인</a:t>
            </a:r>
            <a:endParaRPr lang="ko-KR" altLang="en-US" sz="15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979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779662"/>
            <a:ext cx="2952328" cy="30469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2"/>
            </a:pPr>
            <a:r>
              <a:rPr lang="ko-KR" altLang="en-US" b="1" spc="-150" dirty="0"/>
              <a:t>속성 역할</a:t>
            </a:r>
            <a:r>
              <a:rPr lang="en-US" altLang="ko-KR" b="1" spc="-150" dirty="0"/>
              <a:t>(Role) </a:t>
            </a:r>
            <a:r>
              <a:rPr lang="ko-KR" altLang="en-US" b="1" spc="-150" dirty="0"/>
              <a:t>변경하기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9FFEA-1347-43C5-A414-5C46E6A8CAF8}"/>
              </a:ext>
            </a:extLst>
          </p:cNvPr>
          <p:cNvSpPr txBox="1"/>
          <p:nvPr/>
        </p:nvSpPr>
        <p:spPr>
          <a:xfrm>
            <a:off x="1043608" y="987574"/>
            <a:ext cx="7176464" cy="74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spc="0" dirty="0"/>
              <a:t>3</a:t>
            </a:r>
            <a:r>
              <a:rPr lang="ko-KR" altLang="en-US" spc="0" dirty="0"/>
              <a:t>개의 속성 중 일련번호</a:t>
            </a:r>
            <a:r>
              <a:rPr lang="en-US" altLang="ko-KR" spc="0" dirty="0"/>
              <a:t>(Num)</a:t>
            </a:r>
            <a:r>
              <a:rPr lang="ko-KR" altLang="en-US" spc="0" dirty="0"/>
              <a:t>는 참고만 하기 위해 </a:t>
            </a:r>
            <a:r>
              <a:rPr lang="en-US" altLang="ko-KR" u="sng" spc="0" dirty="0"/>
              <a:t>meta</a:t>
            </a:r>
            <a:r>
              <a:rPr lang="ko-KR" altLang="en-US" u="sng" spc="0" dirty="0"/>
              <a:t>로 설정</a:t>
            </a:r>
            <a:r>
              <a:rPr lang="ko-KR" altLang="en-US" spc="0" dirty="0"/>
              <a:t>하고</a:t>
            </a:r>
            <a:r>
              <a:rPr lang="en-US" altLang="ko-KR" spc="0" dirty="0"/>
              <a:t>, </a:t>
            </a:r>
            <a:br>
              <a:rPr lang="en-US" altLang="ko-KR" spc="0" dirty="0"/>
            </a:br>
            <a:r>
              <a:rPr lang="ko-KR" altLang="en-US" spc="0" dirty="0"/>
              <a:t>나머지 속성은 </a:t>
            </a:r>
            <a:r>
              <a:rPr lang="en-US" altLang="ko-KR" u="sng" spc="0" dirty="0"/>
              <a:t>feature </a:t>
            </a:r>
            <a:r>
              <a:rPr lang="ko-KR" altLang="en-US" u="sng" spc="0" dirty="0"/>
              <a:t>로 설정</a:t>
            </a:r>
          </a:p>
        </p:txBody>
      </p:sp>
      <p:sp>
        <p:nvSpPr>
          <p:cNvPr id="9" name="모서리가 둥근 사각형 설명선 3">
            <a:extLst>
              <a:ext uri="{FF2B5EF4-FFF2-40B4-BE49-F238E27FC236}">
                <a16:creationId xmlns:a16="http://schemas.microsoft.com/office/drawing/2014/main" id="{BD7B621D-C0E5-4119-ADF4-3AA813013EC9}"/>
              </a:ext>
            </a:extLst>
          </p:cNvPr>
          <p:cNvSpPr/>
          <p:nvPr/>
        </p:nvSpPr>
        <p:spPr>
          <a:xfrm>
            <a:off x="4788024" y="2715766"/>
            <a:ext cx="2520280" cy="1280278"/>
          </a:xfrm>
          <a:prstGeom prst="wedgeRoundRectCallout">
            <a:avLst>
              <a:gd name="adj1" fmla="val -98791"/>
              <a:gd name="adj2" fmla="val 7421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 err="1">
                <a:solidFill>
                  <a:schemeClr val="tx1"/>
                </a:solidFill>
                <a:latin typeface="+mn-ea"/>
              </a:rPr>
              <a:t>Num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600" b="1" dirty="0">
                <a:solidFill>
                  <a:srgbClr val="DC5F0D"/>
                </a:solidFill>
                <a:latin typeface="+mn-ea"/>
              </a:rPr>
              <a:t>meta</a:t>
            </a:r>
            <a:br>
              <a:rPr lang="en-US" altLang="ko-KR" sz="1600" b="1" dirty="0">
                <a:solidFill>
                  <a:schemeClr val="tx1"/>
                </a:solidFill>
                <a:latin typeface="+mn-ea"/>
              </a:rPr>
            </a:b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Latitude: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feature</a:t>
            </a:r>
          </a:p>
          <a:p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Longitude: </a:t>
            </a:r>
            <a:r>
              <a:rPr lang="en-US" altLang="ko-KR" sz="1600" b="1" dirty="0">
                <a:solidFill>
                  <a:srgbClr val="0070C0"/>
                </a:solidFill>
                <a:latin typeface="+mn-ea"/>
              </a:rPr>
              <a:t>feature</a:t>
            </a:r>
            <a:endParaRPr lang="ko-KR" altLang="en-US" sz="1600" b="1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887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2">
            <a:extLst>
              <a:ext uri="{FF2B5EF4-FFF2-40B4-BE49-F238E27FC236}">
                <a16:creationId xmlns:a16="http://schemas.microsoft.com/office/drawing/2014/main" id="{A78A7C12-C06B-49AF-B30F-704743A7B42B}"/>
              </a:ext>
            </a:extLst>
          </p:cNvPr>
          <p:cNvSpPr/>
          <p:nvPr/>
        </p:nvSpPr>
        <p:spPr>
          <a:xfrm>
            <a:off x="1091789" y="716530"/>
            <a:ext cx="435600" cy="256818"/>
          </a:xfrm>
          <a:prstGeom prst="roundRect">
            <a:avLst/>
          </a:prstGeom>
          <a:solidFill>
            <a:srgbClr val="F7C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47334-69A2-49D2-AFE0-9FCBF1B69636}"/>
              </a:ext>
            </a:extLst>
          </p:cNvPr>
          <p:cNvSpPr txBox="1"/>
          <p:nvPr/>
        </p:nvSpPr>
        <p:spPr>
          <a:xfrm>
            <a:off x="899592" y="627534"/>
            <a:ext cx="75608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44463" indent="-144463">
              <a:lnSpc>
                <a:spcPts val="27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r>
              <a:rPr lang="en-US" altLang="ko-KR" sz="1800" b="0" i="0" u="none" strike="noStrike" baseline="0" dirty="0">
                <a:latin typeface="ITCGaramondStd-Lt"/>
              </a:rPr>
              <a:t>Data </a:t>
            </a:r>
            <a:r>
              <a:rPr lang="ko-KR" altLang="en-US" sz="1800" b="0" i="0" u="none" strike="noStrike" baseline="0" dirty="0">
                <a:latin typeface="YDVYMjOStd33"/>
              </a:rPr>
              <a:t>카테고리</a:t>
            </a:r>
            <a:r>
              <a:rPr lang="en-US" altLang="ko-KR" sz="1800" b="0" i="0" u="none" strike="noStrike" baseline="0" dirty="0">
                <a:latin typeface="YDVYMjOStd33"/>
              </a:rPr>
              <a:t> – [</a:t>
            </a:r>
            <a:r>
              <a:rPr lang="en-US" altLang="ko-KR" sz="1800" dirty="0">
                <a:latin typeface="YDVYMjOStd33"/>
              </a:rPr>
              <a:t>Data</a:t>
            </a:r>
            <a:r>
              <a:rPr lang="ko-KR" altLang="en-US" sz="1800" dirty="0">
                <a:latin typeface="YDVYMjOStd33"/>
              </a:rPr>
              <a:t> </a:t>
            </a:r>
            <a:r>
              <a:rPr lang="en-US" altLang="ko-KR" sz="1800" dirty="0">
                <a:latin typeface="YDVYMjOStd33"/>
              </a:rPr>
              <a:t>Table]</a:t>
            </a:r>
            <a:r>
              <a:rPr lang="ko-KR" altLang="en-US" sz="1800" dirty="0">
                <a:latin typeface="YDVYMjOStd33"/>
              </a:rPr>
              <a:t> 위젯을 가져와서 </a:t>
            </a:r>
            <a:r>
              <a:rPr lang="en-US" altLang="ko-KR" sz="1800" dirty="0">
                <a:latin typeface="YDVYMjOStd33"/>
              </a:rPr>
              <a:t>[File]</a:t>
            </a:r>
            <a:r>
              <a:rPr lang="ko-KR" altLang="en-US" sz="1800" dirty="0">
                <a:latin typeface="YDVYMjOStd33"/>
              </a:rPr>
              <a:t>위젯과 연결</a:t>
            </a:r>
            <a:endParaRPr lang="en-US" altLang="ko-KR" sz="1800" dirty="0">
              <a:latin typeface="YDVYMjOStd33"/>
            </a:endParaRPr>
          </a:p>
          <a:p>
            <a:r>
              <a:rPr lang="en-US" altLang="ko-KR" sz="1800" dirty="0">
                <a:latin typeface="YDVYMjOStd33"/>
              </a:rPr>
              <a:t>[Data Table] </a:t>
            </a:r>
            <a:r>
              <a:rPr lang="ko-KR" altLang="en-US" sz="1800" dirty="0" err="1">
                <a:latin typeface="YDVYMjOStd33"/>
              </a:rPr>
              <a:t>위젯을</a:t>
            </a:r>
            <a:r>
              <a:rPr lang="ko-KR" altLang="en-US" sz="1800" dirty="0">
                <a:latin typeface="YDVYMjOStd33"/>
              </a:rPr>
              <a:t> 더블 클릭하여 데이터 정보</a:t>
            </a:r>
            <a:r>
              <a:rPr lang="en-US" altLang="ko-KR" sz="1800" dirty="0">
                <a:latin typeface="YDVYMjOStd33"/>
              </a:rPr>
              <a:t>(Info)</a:t>
            </a:r>
            <a:r>
              <a:rPr lang="ko-KR" altLang="en-US" sz="1800" dirty="0">
                <a:latin typeface="YDVYMjOStd33"/>
              </a:rPr>
              <a:t> 살펴보기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5596-F542-4B35-8F43-1AD5E8F98B88}"/>
              </a:ext>
            </a:extLst>
          </p:cNvPr>
          <p:cNvSpPr txBox="1"/>
          <p:nvPr/>
        </p:nvSpPr>
        <p:spPr>
          <a:xfrm>
            <a:off x="2420888" y="4587974"/>
            <a:ext cx="430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spc="-150" dirty="0">
                <a:solidFill>
                  <a:srgbClr val="3A7DCE"/>
                </a:solidFill>
              </a:rPr>
              <a:t>그림 </a:t>
            </a:r>
            <a:r>
              <a:rPr lang="en-US" altLang="ko-KR" sz="1400" b="1" spc="-150" dirty="0">
                <a:solidFill>
                  <a:srgbClr val="3A7DCE"/>
                </a:solidFill>
              </a:rPr>
              <a:t>4-2 </a:t>
            </a:r>
            <a:r>
              <a:rPr lang="ko-KR" altLang="en-US" sz="1400" spc="-150" dirty="0"/>
              <a:t>속성 역할</a:t>
            </a:r>
            <a:r>
              <a:rPr lang="en-US" altLang="ko-KR" sz="1400" spc="-150" dirty="0"/>
              <a:t>(Role)</a:t>
            </a:r>
            <a:r>
              <a:rPr lang="ko-KR" altLang="en-US" sz="1400" spc="-150" dirty="0"/>
              <a:t>을 변경한 택배 배송 위치 데이터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410365-B1E4-4793-99A1-CC855FB06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91630"/>
            <a:ext cx="2015220" cy="138950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1491630"/>
            <a:ext cx="5224066" cy="305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중괄호 7"/>
          <p:cNvSpPr/>
          <p:nvPr/>
        </p:nvSpPr>
        <p:spPr>
          <a:xfrm>
            <a:off x="4716016" y="2643758"/>
            <a:ext cx="1008112" cy="1080120"/>
          </a:xfrm>
          <a:prstGeom prst="bracePair">
            <a:avLst/>
          </a:prstGeom>
          <a:ln w="19050">
            <a:solidFill>
              <a:srgbClr val="78B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89202" y="533339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데이터 속성 정보 확인하기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1015619"/>
            <a:ext cx="5251351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2888" indent="-242888">
              <a:lnSpc>
                <a:spcPts val="2700"/>
              </a:lnSpc>
              <a:buClr>
                <a:srgbClr val="7030A0"/>
              </a:buClr>
              <a:buFont typeface="Wingdings" panose="05000000000000000000" pitchFamily="2" charset="2"/>
              <a:buChar char="u"/>
            </a:pPr>
            <a:r>
              <a:rPr lang="ko-KR" altLang="en-US" spc="-150" dirty="0">
                <a:solidFill>
                  <a:srgbClr val="7030A0"/>
                </a:solidFill>
              </a:rPr>
              <a:t>택배 배송 위치 데이터</a:t>
            </a:r>
            <a:endParaRPr lang="ko-KR" altLang="en-US" spc="-15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688341"/>
              </p:ext>
            </p:extLst>
          </p:nvPr>
        </p:nvGraphicFramePr>
        <p:xfrm>
          <a:off x="967559" y="1496405"/>
          <a:ext cx="4468537" cy="2274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속성명</a:t>
                      </a:r>
                      <a:endParaRPr lang="ko-KR" altLang="en-US" sz="1400" b="1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속성 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Num</a:t>
                      </a:r>
                      <a:endParaRPr lang="ko-KR" altLang="en-US" sz="16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일련번호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Latitude</a:t>
                      </a:r>
                      <a:endParaRPr lang="ko-KR" altLang="en-US" sz="16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위도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90646"/>
                  </a:ext>
                </a:extLst>
              </a:tr>
              <a:tr h="592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pc="-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Longitude</a:t>
                      </a:r>
                      <a:endParaRPr lang="ko-KR" altLang="en-US" sz="1600" spc="-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0" i="0" u="none" strike="noStrike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경도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사각형 설명선 3">
            <a:extLst>
              <a:ext uri="{FF2B5EF4-FFF2-40B4-BE49-F238E27FC236}">
                <a16:creationId xmlns:a16="http://schemas.microsoft.com/office/drawing/2014/main" id="{63A7A049-9002-4E1B-94E3-7595CF137596}"/>
              </a:ext>
            </a:extLst>
          </p:cNvPr>
          <p:cNvSpPr/>
          <p:nvPr/>
        </p:nvSpPr>
        <p:spPr>
          <a:xfrm flipH="1">
            <a:off x="6228184" y="2067694"/>
            <a:ext cx="2448272" cy="1080120"/>
          </a:xfrm>
          <a:prstGeom prst="wedgeRoundRectCallout">
            <a:avLst>
              <a:gd name="adj1" fmla="val 69043"/>
              <a:gd name="adj2" fmla="val 43377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Latitude</a:t>
            </a:r>
            <a:r>
              <a:rPr lang="ko-KR" altLang="en-US" sz="1600" dirty="0">
                <a:solidFill>
                  <a:schemeClr val="tx1"/>
                </a:solidFill>
              </a:rPr>
              <a:t>와 </a:t>
            </a:r>
            <a:r>
              <a:rPr lang="en-US" altLang="ko-KR" sz="1600" dirty="0">
                <a:solidFill>
                  <a:schemeClr val="tx1"/>
                </a:solidFill>
              </a:rPr>
              <a:t>Longitude</a:t>
            </a:r>
            <a:r>
              <a:rPr lang="ko-KR" altLang="en-US" sz="1600" dirty="0">
                <a:solidFill>
                  <a:schemeClr val="tx1"/>
                </a:solidFill>
              </a:rPr>
              <a:t>는 기계학습에 영향을 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ko-KR" altLang="en-US" sz="1600" dirty="0">
                <a:solidFill>
                  <a:schemeClr val="tx1"/>
                </a:solidFill>
              </a:rPr>
              <a:t>미치는 </a:t>
            </a:r>
            <a:r>
              <a:rPr lang="en-US" altLang="ko-KR" sz="1600" dirty="0">
                <a:solidFill>
                  <a:schemeClr val="tx1"/>
                </a:solidFill>
              </a:rPr>
              <a:t>feature</a:t>
            </a:r>
            <a:r>
              <a:rPr lang="ko-KR" altLang="en-US" sz="1600" dirty="0">
                <a:solidFill>
                  <a:schemeClr val="tx1"/>
                </a:solidFill>
              </a:rPr>
              <a:t>이다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  <a:endParaRPr lang="ko-KR" altLang="en-US" sz="1200" spc="-1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87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987574"/>
            <a:ext cx="279402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400" b="1" spc="-150" dirty="0">
                <a:solidFill>
                  <a:srgbClr val="993300"/>
                </a:solidFill>
              </a:rPr>
              <a:t>군집화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C67EE-1D10-4BCA-BF9A-13CC1608849A}"/>
              </a:ext>
            </a:extLst>
          </p:cNvPr>
          <p:cNvSpPr txBox="1"/>
          <p:nvPr/>
        </p:nvSpPr>
        <p:spPr>
          <a:xfrm>
            <a:off x="504864" y="1664581"/>
            <a:ext cx="8027576" cy="27597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50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sz="1600" b="1" dirty="0"/>
              <a:t>(1) </a:t>
            </a:r>
            <a:r>
              <a:rPr lang="ko-KR" altLang="en-US" sz="1600" b="1" dirty="0"/>
              <a:t>군집화의 개념 및 종류</a:t>
            </a:r>
            <a:br>
              <a:rPr lang="en-US" altLang="ko-KR" b="1" dirty="0"/>
            </a:br>
            <a:r>
              <a:rPr lang="en-US" altLang="ko-KR" dirty="0"/>
              <a:t>• </a:t>
            </a:r>
            <a:r>
              <a:rPr lang="ko-KR" altLang="en-US" dirty="0"/>
              <a:t>정답</a:t>
            </a:r>
            <a:r>
              <a:rPr lang="en-US" altLang="ko-KR" dirty="0"/>
              <a:t>(</a:t>
            </a:r>
            <a:r>
              <a:rPr lang="ko-KR" altLang="en-US" dirty="0"/>
              <a:t>레이블</a:t>
            </a:r>
            <a:r>
              <a:rPr lang="en-US" altLang="ko-KR" dirty="0"/>
              <a:t>)</a:t>
            </a:r>
            <a:r>
              <a:rPr lang="ko-KR" altLang="en-US" dirty="0"/>
              <a:t>이 없는 데이터로 학습을 하는 비지도 학습에서 가장 대표적인 것이 </a:t>
            </a:r>
            <a:r>
              <a:rPr lang="ko-KR" altLang="en-US" dirty="0" err="1"/>
              <a:t>군집화이다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군집화는 </a:t>
            </a:r>
            <a:r>
              <a:rPr lang="ko-KR" altLang="en-US" dirty="0">
                <a:solidFill>
                  <a:srgbClr val="0070C0"/>
                </a:solidFill>
              </a:rPr>
              <a:t>결과에 대한 사전 지식은 없지만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>
                <a:solidFill>
                  <a:srgbClr val="0070C0"/>
                </a:solidFill>
              </a:rPr>
              <a:t>해당 데이터를 통해 의미가 있는 결과를 얻고자 할 때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dirty="0">
                <a:solidFill>
                  <a:srgbClr val="0070C0"/>
                </a:solidFill>
              </a:rPr>
              <a:t> 사용하는 기계학습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• </a:t>
            </a:r>
            <a:r>
              <a:rPr lang="ko-KR" altLang="en-US" dirty="0"/>
              <a:t>군집화 종류로는 </a:t>
            </a:r>
            <a:r>
              <a:rPr lang="en-US" altLang="ko-KR" dirty="0">
                <a:solidFill>
                  <a:srgbClr val="0070C0"/>
                </a:solidFill>
              </a:rPr>
              <a:t>k-Means, DBSCAN, Hierarchical clustering </a:t>
            </a:r>
            <a:r>
              <a:rPr lang="ko-KR" altLang="en-US" dirty="0"/>
              <a:t>등이 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데이터 특성에 따라 속도나 군집성능에 차이가 있으므로</a:t>
            </a:r>
            <a:r>
              <a:rPr lang="en-US" altLang="ko-KR" dirty="0"/>
              <a:t>, </a:t>
            </a:r>
            <a:r>
              <a:rPr lang="ko-KR" altLang="en-US" dirty="0"/>
              <a:t>데이터 특성에 따라 적절한 군집화를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 선택한다</a:t>
            </a:r>
            <a:r>
              <a:rPr lang="en-US" altLang="ko-KR" dirty="0"/>
              <a:t>. </a:t>
            </a:r>
            <a:r>
              <a:rPr lang="ko-KR" altLang="en-US" dirty="0">
                <a:solidFill>
                  <a:srgbClr val="C00000"/>
                </a:solidFill>
              </a:rPr>
              <a:t>이 활동에서는 </a:t>
            </a:r>
            <a:r>
              <a:rPr lang="en-US" altLang="ko-KR" dirty="0">
                <a:solidFill>
                  <a:srgbClr val="C00000"/>
                </a:solidFill>
              </a:rPr>
              <a:t>k-Means</a:t>
            </a:r>
            <a:r>
              <a:rPr lang="ko-KR" altLang="en-US" dirty="0">
                <a:solidFill>
                  <a:srgbClr val="C00000"/>
                </a:solidFill>
              </a:rPr>
              <a:t>를 사용한다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C67EE-1D10-4BCA-BF9A-13CC1608849A}"/>
              </a:ext>
            </a:extLst>
          </p:cNvPr>
          <p:cNvSpPr txBox="1"/>
          <p:nvPr/>
        </p:nvSpPr>
        <p:spPr>
          <a:xfrm>
            <a:off x="504864" y="483518"/>
            <a:ext cx="8099584" cy="71776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50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b="1" dirty="0"/>
              <a:t>(2) </a:t>
            </a:r>
            <a:r>
              <a:rPr lang="en-US" altLang="ko-KR" sz="1600" b="1" dirty="0"/>
              <a:t>k-Means(k-</a:t>
            </a:r>
            <a:r>
              <a:rPr lang="ko-KR" altLang="en-US" sz="1600" b="1" dirty="0"/>
              <a:t>평균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의 군집화 과정</a:t>
            </a:r>
            <a:br>
              <a:rPr lang="en-US" altLang="ko-KR" sz="1600" b="1" dirty="0"/>
            </a:b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547664" y="1707654"/>
            <a:ext cx="6336704" cy="21698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• k-Means</a:t>
            </a:r>
            <a:r>
              <a:rPr lang="ko-KR" altLang="en-US" dirty="0"/>
              <a:t>는 </a:t>
            </a:r>
            <a:r>
              <a:rPr lang="en-US" altLang="ko-KR" dirty="0"/>
              <a:t>k</a:t>
            </a:r>
            <a:r>
              <a:rPr lang="ko-KR" altLang="en-US" dirty="0"/>
              <a:t>개의 중심점을 찍은 후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이 중심점에서 각 점 간 거리의 합이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최소화가 되는 중심점 </a:t>
            </a:r>
            <a:r>
              <a:rPr lang="en-US" altLang="ko-KR" dirty="0"/>
              <a:t>k</a:t>
            </a:r>
            <a:r>
              <a:rPr lang="ko-KR" altLang="en-US" dirty="0"/>
              <a:t>개의 위치를 찾고</a:t>
            </a:r>
            <a:r>
              <a:rPr lang="en-US" altLang="ko-KR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• </a:t>
            </a:r>
            <a:r>
              <a:rPr lang="ko-KR" altLang="en-US" dirty="0"/>
              <a:t>다시 이 중심점에서 가장 가까운 점들을 기준으로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묶는 작업을 통해</a:t>
            </a:r>
            <a:r>
              <a:rPr lang="en-US" altLang="ko-KR" dirty="0"/>
              <a:t> </a:t>
            </a:r>
            <a:r>
              <a:rPr lang="ko-KR" altLang="en-US" dirty="0"/>
              <a:t>군집화한다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07904" y="1131590"/>
            <a:ext cx="1656184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요약 정리</a:t>
            </a:r>
          </a:p>
        </p:txBody>
      </p:sp>
    </p:spTree>
    <p:extLst>
      <p:ext uri="{BB962C8B-B14F-4D97-AF65-F5344CB8AC3E}">
        <p14:creationId xmlns:p14="http://schemas.microsoft.com/office/powerpoint/2010/main" val="3905274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C67EE-1D10-4BCA-BF9A-13CC1608849A}"/>
              </a:ext>
            </a:extLst>
          </p:cNvPr>
          <p:cNvSpPr txBox="1"/>
          <p:nvPr/>
        </p:nvSpPr>
        <p:spPr>
          <a:xfrm>
            <a:off x="504864" y="483518"/>
            <a:ext cx="8099584" cy="38709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50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b="1" dirty="0"/>
              <a:t>(2) </a:t>
            </a:r>
            <a:r>
              <a:rPr lang="en-US" altLang="ko-KR" sz="1600" b="1" dirty="0"/>
              <a:t>k-Means(k-</a:t>
            </a:r>
            <a:r>
              <a:rPr lang="ko-KR" altLang="en-US" sz="1600" b="1" dirty="0"/>
              <a:t>평균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의 군집화 과정</a:t>
            </a:r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59A370-B1ED-474D-BCED-C7F46DD7E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13" y="1601792"/>
            <a:ext cx="1808609" cy="15395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7BE377-C61C-4AA7-8637-43D86B9C4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957" y="1630363"/>
            <a:ext cx="1808610" cy="15035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B276168-E1AF-474A-831C-D3C48261C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791" y="1609806"/>
            <a:ext cx="1808609" cy="154132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265C48D-BA63-4E96-8077-7E63C20FA5A9}"/>
              </a:ext>
            </a:extLst>
          </p:cNvPr>
          <p:cNvSpPr/>
          <p:nvPr/>
        </p:nvSpPr>
        <p:spPr>
          <a:xfrm>
            <a:off x="4470012" y="1196651"/>
            <a:ext cx="720080" cy="288032"/>
          </a:xfrm>
          <a:prstGeom prst="rect">
            <a:avLst/>
          </a:prstGeom>
          <a:solidFill>
            <a:srgbClr val="A6A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2</a:t>
            </a:r>
            <a:r>
              <a:rPr lang="ko-KR" altLang="en-US" sz="1400" dirty="0"/>
              <a:t>단계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E2ACC3-5BDE-48F5-A701-9E7DC103B044}"/>
              </a:ext>
            </a:extLst>
          </p:cNvPr>
          <p:cNvSpPr/>
          <p:nvPr/>
        </p:nvSpPr>
        <p:spPr>
          <a:xfrm>
            <a:off x="1787077" y="1196651"/>
            <a:ext cx="720080" cy="288032"/>
          </a:xfrm>
          <a:prstGeom prst="rect">
            <a:avLst/>
          </a:prstGeom>
          <a:solidFill>
            <a:srgbClr val="A6A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r>
              <a:rPr lang="ko-KR" altLang="en-US" sz="1400" dirty="0"/>
              <a:t>단계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EB70DD-4A1D-4340-AD5D-0FA23A3ED117}"/>
              </a:ext>
            </a:extLst>
          </p:cNvPr>
          <p:cNvSpPr/>
          <p:nvPr/>
        </p:nvSpPr>
        <p:spPr>
          <a:xfrm>
            <a:off x="6908055" y="1196651"/>
            <a:ext cx="720080" cy="288032"/>
          </a:xfrm>
          <a:prstGeom prst="rect">
            <a:avLst/>
          </a:prstGeom>
          <a:solidFill>
            <a:srgbClr val="A6A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r>
              <a:rPr lang="ko-KR" altLang="en-US" sz="1400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8DDAA-CE6B-498D-9206-C8C2B4C7E4A2}"/>
              </a:ext>
            </a:extLst>
          </p:cNvPr>
          <p:cNvSpPr txBox="1"/>
          <p:nvPr/>
        </p:nvSpPr>
        <p:spPr>
          <a:xfrm>
            <a:off x="1084412" y="3184140"/>
            <a:ext cx="2154807" cy="69546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rIns="36000" anchor="ctr">
            <a:noAutofit/>
          </a:bodyPr>
          <a:lstStyle>
            <a:defPPr>
              <a:defRPr lang="ko-KR"/>
            </a:defPPr>
            <a:lvl1pPr algn="ctr">
              <a:defRPr sz="1200" b="0" i="0" u="none" strike="noStrike" spc="-150" baseline="0">
                <a:latin typeface="+mn-ea"/>
              </a:defRPr>
            </a:lvl1pPr>
          </a:lstStyle>
          <a:p>
            <a:pPr algn="l"/>
            <a:r>
              <a:rPr lang="ko-KR" altLang="en-US" spc="0" dirty="0"/>
              <a:t>데이터 셋에서 </a:t>
            </a:r>
            <a:r>
              <a:rPr lang="en-US" altLang="ko-KR" spc="0" dirty="0"/>
              <a:t>k</a:t>
            </a:r>
            <a:r>
              <a:rPr lang="ko-KR" altLang="en-US" spc="0" dirty="0"/>
              <a:t>개의 </a:t>
            </a:r>
            <a:br>
              <a:rPr lang="en-US" altLang="ko-KR" spc="0" dirty="0"/>
            </a:br>
            <a:r>
              <a:rPr lang="ko-KR" altLang="en-US" spc="0" dirty="0"/>
              <a:t>중심</a:t>
            </a:r>
            <a:r>
              <a:rPr lang="en-US" altLang="ko-KR" spc="0" dirty="0"/>
              <a:t>(centroid)</a:t>
            </a:r>
            <a:r>
              <a:rPr lang="ko-KR" altLang="en-US" spc="0" dirty="0"/>
              <a:t>을 임의로 지정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1DE761-C8FD-4F8F-A9D7-9C668C1B9F93}"/>
              </a:ext>
            </a:extLst>
          </p:cNvPr>
          <p:cNvSpPr txBox="1"/>
          <p:nvPr/>
        </p:nvSpPr>
        <p:spPr>
          <a:xfrm>
            <a:off x="3566146" y="3164517"/>
            <a:ext cx="2256600" cy="91940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rIns="36000">
            <a:spAutoFit/>
          </a:bodyPr>
          <a:lstStyle>
            <a:defPPr>
              <a:defRPr lang="ko-KR"/>
            </a:defPPr>
            <a:lvl1pPr>
              <a:defRPr sz="1400" b="0" i="0" u="none" strike="noStrike" spc="-150" baseline="0">
                <a:latin typeface="+mn-ea"/>
              </a:defRPr>
            </a:lvl1pPr>
          </a:lstStyle>
          <a:p>
            <a:r>
              <a:rPr lang="ko-KR" altLang="en-US" sz="1200" spc="0" dirty="0"/>
              <a:t>중심으로부터 모든 데이터가 얼마나 떨어져 있는지 계산한 후 각 데이터에서 가장 가까운 중심 지정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8DBD54-B89F-4492-AD4E-32EA8A6171EA}"/>
              </a:ext>
            </a:extLst>
          </p:cNvPr>
          <p:cNvSpPr txBox="1"/>
          <p:nvPr/>
        </p:nvSpPr>
        <p:spPr>
          <a:xfrm>
            <a:off x="6228185" y="3184140"/>
            <a:ext cx="2160239" cy="69546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rIns="36000" anchor="ctr">
            <a:noAutofit/>
          </a:bodyPr>
          <a:lstStyle>
            <a:defPPr>
              <a:defRPr lang="ko-KR"/>
            </a:defPPr>
            <a:lvl1pPr algn="ctr">
              <a:defRPr sz="1200" b="0" i="0" u="none" strike="noStrike" spc="-150" baseline="0">
                <a:latin typeface="+mn-ea"/>
              </a:defRPr>
            </a:lvl1pPr>
          </a:lstStyle>
          <a:p>
            <a:pPr algn="l"/>
            <a:r>
              <a:rPr lang="en-US" altLang="ko-KR" spc="0" dirty="0"/>
              <a:t>[2</a:t>
            </a:r>
            <a:r>
              <a:rPr lang="ko-KR" altLang="en-US" spc="0" dirty="0"/>
              <a:t>단계</a:t>
            </a:r>
            <a:r>
              <a:rPr lang="en-US" altLang="ko-KR" spc="0" dirty="0"/>
              <a:t>] </a:t>
            </a:r>
            <a:r>
              <a:rPr lang="ko-KR" altLang="en-US" spc="0" dirty="0"/>
              <a:t>과정에서 할당된 결과를 바탕으로 중심을 새롭게 지정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222D27B-A1D6-4716-B326-90D57E11C9B6}"/>
              </a:ext>
            </a:extLst>
          </p:cNvPr>
          <p:cNvSpPr/>
          <p:nvPr/>
        </p:nvSpPr>
        <p:spPr>
          <a:xfrm>
            <a:off x="3402522" y="2155529"/>
            <a:ext cx="216024" cy="216024"/>
          </a:xfrm>
          <a:prstGeom prst="rightArrow">
            <a:avLst/>
          </a:prstGeom>
          <a:solidFill>
            <a:srgbClr val="74A2A1"/>
          </a:solidFill>
          <a:ln>
            <a:solidFill>
              <a:srgbClr val="74A2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D033899-0AEB-4126-8FC8-9498AC22F060}"/>
              </a:ext>
            </a:extLst>
          </p:cNvPr>
          <p:cNvSpPr/>
          <p:nvPr/>
        </p:nvSpPr>
        <p:spPr>
          <a:xfrm>
            <a:off x="6003750" y="2155529"/>
            <a:ext cx="216024" cy="216024"/>
          </a:xfrm>
          <a:prstGeom prst="rightArrow">
            <a:avLst/>
          </a:prstGeom>
          <a:solidFill>
            <a:srgbClr val="74A2A1"/>
          </a:solidFill>
          <a:ln>
            <a:solidFill>
              <a:srgbClr val="74A2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76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C67EE-1D10-4BCA-BF9A-13CC1608849A}"/>
              </a:ext>
            </a:extLst>
          </p:cNvPr>
          <p:cNvSpPr txBox="1"/>
          <p:nvPr/>
        </p:nvSpPr>
        <p:spPr>
          <a:xfrm>
            <a:off x="504864" y="483518"/>
            <a:ext cx="8099584" cy="38433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193675" indent="-193675">
              <a:lnSpc>
                <a:spcPts val="2600"/>
              </a:lnSpc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500" spc="-1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pPr algn="l"/>
            <a:r>
              <a:rPr lang="en-US" altLang="ko-KR" b="1" dirty="0"/>
              <a:t>(2) k-Means(k-</a:t>
            </a:r>
            <a:r>
              <a:rPr lang="ko-KR" altLang="en-US" b="1" dirty="0"/>
              <a:t>평균</a:t>
            </a:r>
            <a:r>
              <a:rPr lang="en-US" altLang="ko-KR" b="1" dirty="0"/>
              <a:t>)</a:t>
            </a:r>
            <a:r>
              <a:rPr lang="ko-KR" altLang="en-US" b="1" dirty="0"/>
              <a:t>의 군집화 과정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EB70DD-4A1D-4340-AD5D-0FA23A3ED117}"/>
              </a:ext>
            </a:extLst>
          </p:cNvPr>
          <p:cNvSpPr/>
          <p:nvPr/>
        </p:nvSpPr>
        <p:spPr>
          <a:xfrm>
            <a:off x="7524328" y="1203598"/>
            <a:ext cx="720080" cy="288032"/>
          </a:xfrm>
          <a:prstGeom prst="rect">
            <a:avLst/>
          </a:prstGeom>
          <a:solidFill>
            <a:srgbClr val="A6A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r>
              <a:rPr lang="ko-KR" altLang="en-US" sz="1400" dirty="0"/>
              <a:t>단계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8DDAA-CE6B-498D-9206-C8C2B4C7E4A2}"/>
              </a:ext>
            </a:extLst>
          </p:cNvPr>
          <p:cNvSpPr txBox="1"/>
          <p:nvPr/>
        </p:nvSpPr>
        <p:spPr>
          <a:xfrm>
            <a:off x="1115616" y="3435846"/>
            <a:ext cx="5544615" cy="57180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rIns="36000" anchor="ctr">
            <a:noAutofit/>
          </a:bodyPr>
          <a:lstStyle>
            <a:defPPr>
              <a:defRPr lang="ko-KR"/>
            </a:defPPr>
            <a:lvl1pPr>
              <a:defRPr sz="1200" b="0" i="0" u="none" strike="noStrike" spc="-150" baseline="0">
                <a:latin typeface="+mn-ea"/>
              </a:defRPr>
            </a:lvl1pPr>
          </a:lstStyle>
          <a:p>
            <a:pPr algn="ctr"/>
            <a:r>
              <a:rPr lang="en-US" altLang="ko-KR" spc="0" dirty="0"/>
              <a:t>[2</a:t>
            </a:r>
            <a:r>
              <a:rPr lang="ko-KR" altLang="en-US" spc="0" dirty="0"/>
              <a:t>단계</a:t>
            </a:r>
            <a:r>
              <a:rPr lang="en-US" altLang="ko-KR" spc="0" dirty="0"/>
              <a:t>]~[3</a:t>
            </a:r>
            <a:r>
              <a:rPr lang="ko-KR" altLang="en-US" spc="0" dirty="0"/>
              <a:t>단계</a:t>
            </a:r>
            <a:r>
              <a:rPr lang="en-US" altLang="ko-KR" spc="0" dirty="0"/>
              <a:t>] </a:t>
            </a:r>
            <a:r>
              <a:rPr lang="ko-KR" altLang="en-US" spc="0" dirty="0"/>
              <a:t>과정을 반복한다</a:t>
            </a:r>
            <a:r>
              <a:rPr lang="en-US" altLang="ko-KR" spc="0" dirty="0"/>
              <a:t>.</a:t>
            </a:r>
            <a:endParaRPr lang="ko-KR" altLang="en-US" spc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1DE761-C8FD-4F8F-A9D7-9C668C1B9F93}"/>
              </a:ext>
            </a:extLst>
          </p:cNvPr>
          <p:cNvSpPr txBox="1"/>
          <p:nvPr/>
        </p:nvSpPr>
        <p:spPr>
          <a:xfrm>
            <a:off x="7020272" y="3435846"/>
            <a:ext cx="1728192" cy="57180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rIns="36000" anchor="ctr">
            <a:noAutofit/>
          </a:bodyPr>
          <a:lstStyle>
            <a:defPPr>
              <a:defRPr lang="ko-KR"/>
            </a:defPPr>
            <a:lvl1pPr algn="ctr">
              <a:defRPr sz="1200" b="0" i="0" u="none" strike="noStrike" spc="-150" baseline="0">
                <a:latin typeface="+mn-ea"/>
              </a:defRPr>
            </a:lvl1pPr>
          </a:lstStyle>
          <a:p>
            <a:pPr algn="l"/>
            <a:r>
              <a:rPr lang="ko-KR" altLang="en-US" spc="0" dirty="0"/>
              <a:t>중심이 더는 변하지 </a:t>
            </a:r>
            <a:br>
              <a:rPr lang="en-US" altLang="ko-KR" spc="0" dirty="0"/>
            </a:br>
            <a:r>
              <a:rPr lang="ko-KR" altLang="en-US" spc="0" dirty="0"/>
              <a:t>않으면 멈춘다</a:t>
            </a:r>
            <a:r>
              <a:rPr lang="en-US" altLang="ko-KR" spc="0" dirty="0"/>
              <a:t>.</a:t>
            </a:r>
            <a:endParaRPr lang="ko-KR" altLang="en-US" spc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419C36-CC36-493F-B954-64A4A43AA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79" y="1775402"/>
            <a:ext cx="7776864" cy="1535698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2E1DF16C-7122-48A2-8460-EFD0FD6595B7}"/>
              </a:ext>
            </a:extLst>
          </p:cNvPr>
          <p:cNvSpPr/>
          <p:nvPr/>
        </p:nvSpPr>
        <p:spPr>
          <a:xfrm>
            <a:off x="1331640" y="1605693"/>
            <a:ext cx="72008" cy="7200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220925A-A573-4D32-A620-3B01C4F15FFA}"/>
              </a:ext>
            </a:extLst>
          </p:cNvPr>
          <p:cNvSpPr/>
          <p:nvPr/>
        </p:nvSpPr>
        <p:spPr>
          <a:xfrm>
            <a:off x="7392488" y="1605693"/>
            <a:ext cx="72008" cy="7200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A59F0E38-44F7-4015-A29D-024793482C6F}"/>
              </a:ext>
            </a:extLst>
          </p:cNvPr>
          <p:cNvCxnSpPr>
            <a:cxnSpLocks/>
            <a:stCxn id="15" idx="0"/>
            <a:endCxn id="19" idx="0"/>
          </p:cNvCxnSpPr>
          <p:nvPr/>
        </p:nvCxnSpPr>
        <p:spPr>
          <a:xfrm rot="5400000" flipH="1" flipV="1">
            <a:off x="4398068" y="-1424731"/>
            <a:ext cx="12700" cy="6060848"/>
          </a:xfrm>
          <a:prstGeom prst="bentConnector3">
            <a:avLst>
              <a:gd name="adj1" fmla="val 207169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65C48D-BA63-4E96-8077-7E63C20FA5A9}"/>
              </a:ext>
            </a:extLst>
          </p:cNvPr>
          <p:cNvSpPr/>
          <p:nvPr/>
        </p:nvSpPr>
        <p:spPr>
          <a:xfrm>
            <a:off x="3713440" y="1203598"/>
            <a:ext cx="720080" cy="288032"/>
          </a:xfrm>
          <a:prstGeom prst="rect">
            <a:avLst/>
          </a:prstGeom>
          <a:solidFill>
            <a:srgbClr val="A6A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r>
              <a:rPr lang="ko-KR" altLang="en-US" sz="1400" dirty="0"/>
              <a:t>단계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E242DD-FB98-46BD-A714-6896C9EAA878}"/>
              </a:ext>
            </a:extLst>
          </p:cNvPr>
          <p:cNvSpPr txBox="1"/>
          <p:nvPr/>
        </p:nvSpPr>
        <p:spPr>
          <a:xfrm>
            <a:off x="3059832" y="4443958"/>
            <a:ext cx="3322216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4-3 </a:t>
            </a:r>
            <a:r>
              <a:rPr lang="en-US" altLang="ko-KR" b="0" dirty="0">
                <a:solidFill>
                  <a:schemeClr val="tx1"/>
                </a:solidFill>
              </a:rPr>
              <a:t>k-Means</a:t>
            </a:r>
            <a:r>
              <a:rPr lang="ko-KR" altLang="en-US" b="0" dirty="0">
                <a:solidFill>
                  <a:schemeClr val="tx1"/>
                </a:solidFill>
              </a:rPr>
              <a:t>의 군집화 과정</a:t>
            </a:r>
          </a:p>
        </p:txBody>
      </p:sp>
      <p:sp>
        <p:nvSpPr>
          <p:cNvPr id="12" name="모서리가 둥근 사각형 설명선 3">
            <a:extLst>
              <a:ext uri="{FF2B5EF4-FFF2-40B4-BE49-F238E27FC236}">
                <a16:creationId xmlns:a16="http://schemas.microsoft.com/office/drawing/2014/main" id="{09C2BD41-0D3C-4390-AC98-E93926131FF6}"/>
              </a:ext>
            </a:extLst>
          </p:cNvPr>
          <p:cNvSpPr/>
          <p:nvPr/>
        </p:nvSpPr>
        <p:spPr>
          <a:xfrm>
            <a:off x="1619672" y="4155926"/>
            <a:ext cx="6727947" cy="258986"/>
          </a:xfrm>
          <a:prstGeom prst="roundRect">
            <a:avLst/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개의 별표가 중심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(centroid)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 되고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 과정에서는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k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085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7">
            <a:extLst>
              <a:ext uri="{FF2B5EF4-FFF2-40B4-BE49-F238E27FC236}">
                <a16:creationId xmlns:a16="http://schemas.microsoft.com/office/drawing/2014/main" id="{94254D78-0948-42B1-8F06-06B18FFDB086}"/>
              </a:ext>
            </a:extLst>
          </p:cNvPr>
          <p:cNvSpPr/>
          <p:nvPr/>
        </p:nvSpPr>
        <p:spPr>
          <a:xfrm>
            <a:off x="1285510" y="2079320"/>
            <a:ext cx="1224136" cy="256818"/>
          </a:xfrm>
          <a:prstGeom prst="roundRect">
            <a:avLst/>
          </a:prstGeom>
          <a:solidFill>
            <a:srgbClr val="C7E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어떤 모델을 선택하고 학습시킬까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6963E-37E8-4F4D-903B-EA27BBA2D52D}"/>
              </a:ext>
            </a:extLst>
          </p:cNvPr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학습 모델 선택하기</a:t>
            </a: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E795C6F5-6488-4859-914D-1D99D9FD4C6C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1EEF8C-FBCE-4872-BF06-5EA91F975E14}"/>
              </a:ext>
            </a:extLst>
          </p:cNvPr>
          <p:cNvSpPr txBox="1"/>
          <p:nvPr/>
        </p:nvSpPr>
        <p:spPr>
          <a:xfrm>
            <a:off x="784689" y="1563638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ko-KR" altLang="en-US" b="1" spc="-150" dirty="0"/>
              <a:t>모델 선택하기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51F7B1-E788-40A0-B4A7-9CC55C5B4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635646"/>
            <a:ext cx="2016038" cy="29809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E547434-06FC-4543-ACEC-6D0628792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560" y="1680581"/>
            <a:ext cx="2359896" cy="2499742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D959CFA-EF4B-4D2A-AE4F-A2D6E4465754}"/>
              </a:ext>
            </a:extLst>
          </p:cNvPr>
          <p:cNvSpPr/>
          <p:nvPr/>
        </p:nvSpPr>
        <p:spPr>
          <a:xfrm>
            <a:off x="6028435" y="2822440"/>
            <a:ext cx="216024" cy="216024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894DA0-9616-412C-8F91-7ACAA3E2B1A2}"/>
              </a:ext>
            </a:extLst>
          </p:cNvPr>
          <p:cNvSpPr txBox="1"/>
          <p:nvPr/>
        </p:nvSpPr>
        <p:spPr>
          <a:xfrm>
            <a:off x="899592" y="1995686"/>
            <a:ext cx="2952328" cy="17215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baseline="0">
                <a:latin typeface="+mn-ea"/>
              </a:defRPr>
            </a:lvl1pPr>
          </a:lstStyle>
          <a:p>
            <a:r>
              <a:rPr lang="en-US" altLang="ko-KR" sz="1800" b="0" i="0" u="none" strike="noStrike" spc="-150" baseline="0" dirty="0"/>
              <a:t>Unsupervised(</a:t>
            </a:r>
            <a:r>
              <a:rPr lang="ko-KR" altLang="en-US" sz="1800" b="0" i="0" u="none" strike="noStrike" spc="-150" baseline="0" dirty="0"/>
              <a:t>비지도 학습</a:t>
            </a:r>
            <a:r>
              <a:rPr lang="en-US" altLang="ko-KR" sz="1800" b="0" i="0" u="none" strike="noStrike" spc="-150" baseline="0" dirty="0"/>
              <a:t>) </a:t>
            </a:r>
            <a:r>
              <a:rPr lang="ko-KR" altLang="en-US" sz="1800" b="0" i="0" u="none" strike="noStrike" spc="-150" baseline="0" dirty="0"/>
              <a:t>카테고리의 여러 </a:t>
            </a:r>
            <a:br>
              <a:rPr lang="en-US" altLang="ko-KR" sz="1800" b="0" i="0" u="none" strike="noStrike" spc="-150" baseline="0" dirty="0"/>
            </a:br>
            <a:r>
              <a:rPr lang="ko-KR" altLang="en-US" sz="1800" b="0" i="0" u="none" strike="noStrike" spc="-150" baseline="0" dirty="0"/>
              <a:t>비지도 학습 모델 중 </a:t>
            </a:r>
            <a:br>
              <a:rPr lang="en-US" altLang="ko-KR" sz="1800" b="0" i="0" u="none" strike="noStrike" spc="-150" baseline="0" dirty="0"/>
            </a:br>
            <a:r>
              <a:rPr lang="en-US" altLang="ko-KR" sz="1800" b="0" i="0" u="none" strike="noStrike" spc="-150" baseline="0" dirty="0"/>
              <a:t>[k-Means] </a:t>
            </a:r>
            <a:r>
              <a:rPr lang="ko-KR" altLang="en-US" sz="1800" b="0" i="0" u="none" strike="noStrike" spc="-150" baseline="0" dirty="0" err="1"/>
              <a:t>위젯을</a:t>
            </a:r>
            <a:r>
              <a:rPr lang="ko-KR" altLang="en-US" sz="1800" b="0" i="0" u="none" strike="noStrike" spc="-150" baseline="0" dirty="0"/>
              <a:t> 캔버스로 가져와서 </a:t>
            </a:r>
            <a:r>
              <a:rPr lang="en-US" altLang="ko-KR" sz="1800" b="0" i="0" u="none" strike="noStrike" spc="-150" baseline="0" dirty="0"/>
              <a:t>[File] </a:t>
            </a:r>
            <a:r>
              <a:rPr lang="ko-KR" altLang="en-US" sz="1800" b="0" i="0" u="none" strike="noStrike" spc="-150" baseline="0" dirty="0"/>
              <a:t>위젯과 연결</a:t>
            </a:r>
            <a:endParaRPr lang="ko-KR" altLang="en-US" spc="-1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77F6B1-27D7-4522-AF83-E36512A1EE30}"/>
              </a:ext>
            </a:extLst>
          </p:cNvPr>
          <p:cNvSpPr txBox="1"/>
          <p:nvPr/>
        </p:nvSpPr>
        <p:spPr>
          <a:xfrm>
            <a:off x="3856662" y="4606396"/>
            <a:ext cx="473616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4-4</a:t>
            </a:r>
            <a:r>
              <a:rPr lang="en-US" altLang="ko-KR" b="0" dirty="0">
                <a:solidFill>
                  <a:schemeClr val="tx1"/>
                </a:solidFill>
              </a:rPr>
              <a:t> [k-Means] </a:t>
            </a:r>
            <a:r>
              <a:rPr lang="ko-KR" altLang="en-US" b="0" dirty="0">
                <a:solidFill>
                  <a:schemeClr val="tx1"/>
                </a:solidFill>
              </a:rPr>
              <a:t>위젯을 </a:t>
            </a:r>
            <a:r>
              <a:rPr lang="en-US" altLang="ko-KR" b="0" dirty="0">
                <a:solidFill>
                  <a:schemeClr val="tx1"/>
                </a:solidFill>
              </a:rPr>
              <a:t>[File] </a:t>
            </a:r>
            <a:r>
              <a:rPr lang="ko-KR" altLang="en-US" b="0" dirty="0">
                <a:solidFill>
                  <a:schemeClr val="tx1"/>
                </a:solidFill>
              </a:rPr>
              <a:t>위젯에 연결</a:t>
            </a:r>
          </a:p>
        </p:txBody>
      </p:sp>
      <p:sp>
        <p:nvSpPr>
          <p:cNvPr id="26" name="모서리가 둥근 직사각형 4">
            <a:extLst>
              <a:ext uri="{FF2B5EF4-FFF2-40B4-BE49-F238E27FC236}">
                <a16:creationId xmlns:a16="http://schemas.microsoft.com/office/drawing/2014/main" id="{1822F707-37D2-4ADD-901C-C684C719F983}"/>
              </a:ext>
            </a:extLst>
          </p:cNvPr>
          <p:cNvSpPr/>
          <p:nvPr/>
        </p:nvSpPr>
        <p:spPr>
          <a:xfrm>
            <a:off x="4427984" y="2790749"/>
            <a:ext cx="419565" cy="573089"/>
          </a:xfrm>
          <a:prstGeom prst="roundRect">
            <a:avLst>
              <a:gd name="adj" fmla="val 1494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4">
            <a:extLst>
              <a:ext uri="{FF2B5EF4-FFF2-40B4-BE49-F238E27FC236}">
                <a16:creationId xmlns:a16="http://schemas.microsoft.com/office/drawing/2014/main" id="{6E010F0B-6058-4FC5-8B94-52DD391098C7}"/>
              </a:ext>
            </a:extLst>
          </p:cNvPr>
          <p:cNvSpPr/>
          <p:nvPr/>
        </p:nvSpPr>
        <p:spPr>
          <a:xfrm>
            <a:off x="7435524" y="3089480"/>
            <a:ext cx="720080" cy="850422"/>
          </a:xfrm>
          <a:prstGeom prst="roundRect">
            <a:avLst>
              <a:gd name="adj" fmla="val 1494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79662"/>
            <a:ext cx="3528392" cy="27574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2"/>
            </a:pPr>
            <a:r>
              <a:rPr lang="en-US" altLang="ko-KR" b="1" spc="-150" dirty="0"/>
              <a:t>[k-Means] </a:t>
            </a:r>
            <a:r>
              <a:rPr lang="ko-KR" altLang="en-US" b="1" spc="-150" dirty="0"/>
              <a:t>위젯 살펴보기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9FFEA-1347-43C5-A414-5C46E6A8CAF8}"/>
              </a:ext>
            </a:extLst>
          </p:cNvPr>
          <p:cNvSpPr txBox="1"/>
          <p:nvPr/>
        </p:nvSpPr>
        <p:spPr>
          <a:xfrm>
            <a:off x="1043608" y="987574"/>
            <a:ext cx="7176464" cy="756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dirty="0"/>
              <a:t>[k-Means] </a:t>
            </a:r>
            <a:r>
              <a:rPr lang="ko-KR" altLang="en-US" dirty="0"/>
              <a:t>위젯을 더블 클릭한 후 아래와 같은 대화 창이 나타나면 </a:t>
            </a:r>
            <a:br>
              <a:rPr lang="en-US" altLang="ko-KR" dirty="0"/>
            </a:br>
            <a:r>
              <a:rPr lang="ko-KR" altLang="en-US" dirty="0"/>
              <a:t>설정 변경을 통해 가장 적합한 군집 개수를 파악하여 군집화함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모서리가 둥근 사각형 설명선 3">
            <a:extLst>
              <a:ext uri="{FF2B5EF4-FFF2-40B4-BE49-F238E27FC236}">
                <a16:creationId xmlns:a16="http://schemas.microsoft.com/office/drawing/2014/main" id="{BD7B621D-C0E5-4119-ADF4-3AA813013EC9}"/>
              </a:ext>
            </a:extLst>
          </p:cNvPr>
          <p:cNvSpPr/>
          <p:nvPr/>
        </p:nvSpPr>
        <p:spPr>
          <a:xfrm>
            <a:off x="5364088" y="1851670"/>
            <a:ext cx="3240360" cy="1656184"/>
          </a:xfrm>
          <a:prstGeom prst="wedgeRoundRectCallout">
            <a:avLst>
              <a:gd name="adj1" fmla="val -65969"/>
              <a:gd name="adj2" fmla="val -11681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Number of Clusters(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군집 개수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Fixed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내가 원하는 군집의 개수를 </a:t>
            </a:r>
            <a:br>
              <a:rPr lang="en-US" altLang="ko-KR" sz="1200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설정한다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•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From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실루엣 점수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(Silhouette Scores)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를</a:t>
            </a:r>
            <a:br>
              <a:rPr lang="en-US" altLang="ko-KR" sz="1200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보여 주는 범위를 설정한다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Silhouette Scores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해당 범위 내에서 </a:t>
            </a:r>
            <a:br>
              <a:rPr lang="en-US" altLang="ko-KR" sz="1200" dirty="0">
                <a:solidFill>
                  <a:schemeClr val="tx1"/>
                </a:solidFill>
                <a:latin typeface="+mn-ea"/>
              </a:rPr>
            </a:b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가장 높은 점수의 군집 개수를 추천한다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D0648-2FAF-45A0-AB84-11067BFD7D5D}"/>
              </a:ext>
            </a:extLst>
          </p:cNvPr>
          <p:cNvSpPr txBox="1"/>
          <p:nvPr/>
        </p:nvSpPr>
        <p:spPr>
          <a:xfrm>
            <a:off x="1605098" y="4481489"/>
            <a:ext cx="3085561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4-5 </a:t>
            </a:r>
            <a:r>
              <a:rPr lang="en-US" altLang="ko-KR" b="0" dirty="0">
                <a:solidFill>
                  <a:schemeClr val="tx1"/>
                </a:solidFill>
              </a:rPr>
              <a:t>[k-Means] </a:t>
            </a:r>
            <a:r>
              <a:rPr lang="ko-KR" altLang="en-US" b="0" dirty="0">
                <a:solidFill>
                  <a:schemeClr val="tx1"/>
                </a:solidFill>
              </a:rPr>
              <a:t>위젯 창</a:t>
            </a:r>
          </a:p>
        </p:txBody>
      </p:sp>
    </p:spTree>
    <p:extLst>
      <p:ext uri="{BB962C8B-B14F-4D97-AF65-F5344CB8AC3E}">
        <p14:creationId xmlns:p14="http://schemas.microsoft.com/office/powerpoint/2010/main" val="327849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모델 학습시키기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F2BBE-C7C2-49C0-BA6A-F6D59CC9DAD8}"/>
              </a:ext>
            </a:extLst>
          </p:cNvPr>
          <p:cNvSpPr txBox="1"/>
          <p:nvPr/>
        </p:nvSpPr>
        <p:spPr>
          <a:xfrm>
            <a:off x="784689" y="915566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/>
            </a:pPr>
            <a:r>
              <a:rPr lang="ko-KR" altLang="en-US" b="1" spc="-150" dirty="0"/>
              <a:t>군집 설정하기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DFCF91-43FF-4363-8C92-2DD855B0D3FB}"/>
              </a:ext>
            </a:extLst>
          </p:cNvPr>
          <p:cNvSpPr txBox="1"/>
          <p:nvPr/>
        </p:nvSpPr>
        <p:spPr>
          <a:xfrm>
            <a:off x="827584" y="1419622"/>
            <a:ext cx="4381535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spc="0" dirty="0"/>
              <a:t>[</a:t>
            </a:r>
            <a:r>
              <a:rPr lang="ko-KR" altLang="en-US" spc="0" dirty="0"/>
              <a:t>그림 </a:t>
            </a:r>
            <a:r>
              <a:rPr lang="en-US" altLang="ko-KR" spc="0" dirty="0"/>
              <a:t>4-5]</a:t>
            </a:r>
            <a:r>
              <a:rPr lang="ko-KR" altLang="en-US" spc="0" dirty="0"/>
              <a:t>에서 확인한 결과</a:t>
            </a:r>
            <a:r>
              <a:rPr lang="en-US" altLang="ko-KR" spc="0" dirty="0"/>
              <a:t>, </a:t>
            </a:r>
            <a:r>
              <a:rPr lang="ko-KR" altLang="en-US" spc="0" dirty="0"/>
              <a:t>가장 높은 실루엣 스코어</a:t>
            </a:r>
            <a:r>
              <a:rPr lang="en-US" altLang="ko-KR" spc="0" dirty="0"/>
              <a:t>(Silhouette Scores)</a:t>
            </a:r>
            <a:r>
              <a:rPr lang="ko-KR" altLang="en-US" spc="0" dirty="0"/>
              <a:t>가 </a:t>
            </a:r>
            <a:r>
              <a:rPr lang="en-US" altLang="ko-KR" spc="0" dirty="0"/>
              <a:t>0.516</a:t>
            </a:r>
            <a:r>
              <a:rPr lang="ko-KR" altLang="en-US" spc="0" dirty="0"/>
              <a:t>이므로 </a:t>
            </a:r>
            <a:r>
              <a:rPr lang="en-US" altLang="ko-KR" spc="0" dirty="0"/>
              <a:t>[</a:t>
            </a:r>
            <a:r>
              <a:rPr lang="ko-KR" altLang="en-US" spc="0" dirty="0"/>
              <a:t>그림 </a:t>
            </a:r>
            <a:r>
              <a:rPr lang="en-US" altLang="ko-KR" spc="0" dirty="0"/>
              <a:t>4-6]</a:t>
            </a:r>
            <a:r>
              <a:rPr lang="ko-KR" altLang="en-US" spc="0" dirty="0"/>
              <a:t>에서 </a:t>
            </a:r>
            <a:r>
              <a:rPr lang="en-US" altLang="ko-KR" spc="0" dirty="0"/>
              <a:t>k(Fixed)</a:t>
            </a:r>
            <a:r>
              <a:rPr lang="ko-KR" altLang="en-US" spc="0" dirty="0"/>
              <a:t>를 </a:t>
            </a:r>
            <a:r>
              <a:rPr lang="en-US" altLang="ko-KR" spc="0" dirty="0"/>
              <a:t>4</a:t>
            </a:r>
            <a:r>
              <a:rPr lang="ko-KR" altLang="en-US" spc="0" dirty="0"/>
              <a:t>로 설정</a:t>
            </a:r>
            <a:endParaRPr lang="en-US" altLang="ko-KR" spc="0" dirty="0"/>
          </a:p>
          <a:p>
            <a:endParaRPr lang="en-US" altLang="ko-KR" spc="0" dirty="0"/>
          </a:p>
          <a:p>
            <a:r>
              <a:rPr lang="en-US" altLang="ko-KR" spc="0" dirty="0"/>
              <a:t>Fixed</a:t>
            </a:r>
            <a:r>
              <a:rPr lang="ko-KR" altLang="en-US" spc="0" dirty="0"/>
              <a:t>값으로 군집 개수를 설정하면 </a:t>
            </a:r>
            <a:br>
              <a:rPr lang="en-US" altLang="ko-KR" spc="0" dirty="0"/>
            </a:br>
            <a:r>
              <a:rPr lang="ko-KR" altLang="en-US" spc="0" dirty="0"/>
              <a:t>출력으로 설정한 개수만큼 군집 </a:t>
            </a:r>
            <a:br>
              <a:rPr lang="en-US" altLang="ko-KR" spc="0" dirty="0"/>
            </a:br>
            <a:r>
              <a:rPr lang="ko-KR" altLang="en-US" spc="0" dirty="0"/>
              <a:t>생성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C0E0DAA-925A-44F3-B05D-1D5A55D6F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491630"/>
            <a:ext cx="3322352" cy="2585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A4B3B39B-8F47-464E-A7DE-E35C8D2D23E4}"/>
              </a:ext>
            </a:extLst>
          </p:cNvPr>
          <p:cNvSpPr/>
          <p:nvPr/>
        </p:nvSpPr>
        <p:spPr>
          <a:xfrm>
            <a:off x="7066923" y="2355726"/>
            <a:ext cx="1368152" cy="307777"/>
          </a:xfrm>
          <a:prstGeom prst="roundRect">
            <a:avLst>
              <a:gd name="adj" fmla="val 67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A99D2A-0561-4C78-9581-8FD128C17338}"/>
              </a:ext>
            </a:extLst>
          </p:cNvPr>
          <p:cNvSpPr txBox="1"/>
          <p:nvPr/>
        </p:nvSpPr>
        <p:spPr>
          <a:xfrm>
            <a:off x="5580112" y="4083918"/>
            <a:ext cx="3085561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4-5 </a:t>
            </a:r>
            <a:r>
              <a:rPr lang="en-US" altLang="ko-KR" b="0" dirty="0">
                <a:solidFill>
                  <a:schemeClr val="tx1"/>
                </a:solidFill>
              </a:rPr>
              <a:t>[k-Means] </a:t>
            </a:r>
            <a:r>
              <a:rPr lang="ko-KR" altLang="en-US" b="0" dirty="0">
                <a:solidFill>
                  <a:schemeClr val="tx1"/>
                </a:solidFill>
              </a:rPr>
              <a:t>위젯 창</a:t>
            </a:r>
          </a:p>
        </p:txBody>
      </p:sp>
    </p:spTree>
    <p:extLst>
      <p:ext uri="{BB962C8B-B14F-4D97-AF65-F5344CB8AC3E}">
        <p14:creationId xmlns:p14="http://schemas.microsoft.com/office/powerpoint/2010/main" val="27946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AF9FCF0-7522-4105-920D-65069E77D600}"/>
              </a:ext>
            </a:extLst>
          </p:cNvPr>
          <p:cNvSpPr txBox="1"/>
          <p:nvPr/>
        </p:nvSpPr>
        <p:spPr>
          <a:xfrm>
            <a:off x="905941" y="476984"/>
            <a:ext cx="5970315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700"/>
              </a:lnSpc>
              <a:buFont typeface="+mj-ea"/>
              <a:buAutoNum type="circleNumDbPlain" startAt="2"/>
            </a:pPr>
            <a:r>
              <a:rPr lang="ko-KR" altLang="en-US" b="1" spc="-150" dirty="0"/>
              <a:t>출력 확인하기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9FFEA-1347-43C5-A414-5C46E6A8CAF8}"/>
              </a:ext>
            </a:extLst>
          </p:cNvPr>
          <p:cNvSpPr txBox="1"/>
          <p:nvPr/>
        </p:nvSpPr>
        <p:spPr>
          <a:xfrm>
            <a:off x="1043608" y="915566"/>
            <a:ext cx="7176464" cy="756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dirty="0"/>
              <a:t>[k-Means] </a:t>
            </a:r>
            <a:r>
              <a:rPr lang="ko-KR" altLang="en-US" dirty="0"/>
              <a:t>위젯을 더블 클릭한 후 아래와 같은 대화 창이 나타나면 설정 변경을 통해 가장 적합한 군집 개수를 파악하여 군집화함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1E45C0B-E52D-4932-92AD-1A0AF136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995686"/>
            <a:ext cx="3600400" cy="23084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643873-9D55-4A4A-9AE1-3E64F2761BF3}"/>
              </a:ext>
            </a:extLst>
          </p:cNvPr>
          <p:cNvSpPr txBox="1"/>
          <p:nvPr/>
        </p:nvSpPr>
        <p:spPr>
          <a:xfrm>
            <a:off x="1763688" y="4532899"/>
            <a:ext cx="5832648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4-6 </a:t>
            </a:r>
            <a:r>
              <a:rPr lang="ko-KR" altLang="en-US" b="0" dirty="0">
                <a:solidFill>
                  <a:schemeClr val="tx1"/>
                </a:solidFill>
              </a:rPr>
              <a:t>군집 개수를 </a:t>
            </a:r>
            <a:r>
              <a:rPr lang="en-US" altLang="ko-KR" b="0" dirty="0">
                <a:solidFill>
                  <a:schemeClr val="tx1"/>
                </a:solidFill>
              </a:rPr>
              <a:t>4</a:t>
            </a:r>
            <a:r>
              <a:rPr lang="ko-KR" altLang="en-US" b="0" dirty="0">
                <a:solidFill>
                  <a:schemeClr val="tx1"/>
                </a:solidFill>
              </a:rPr>
              <a:t>로 설정한 </a:t>
            </a:r>
            <a:r>
              <a:rPr lang="en-US" altLang="ko-KR" b="0" dirty="0">
                <a:solidFill>
                  <a:schemeClr val="tx1"/>
                </a:solidFill>
              </a:rPr>
              <a:t>[k-Means] </a:t>
            </a:r>
            <a:r>
              <a:rPr lang="ko-KR" altLang="en-US" b="0" dirty="0">
                <a:solidFill>
                  <a:schemeClr val="tx1"/>
                </a:solidFill>
              </a:rPr>
              <a:t>위젯에 </a:t>
            </a:r>
            <a:r>
              <a:rPr lang="en-US" altLang="ko-KR" b="0" dirty="0">
                <a:solidFill>
                  <a:schemeClr val="tx1"/>
                </a:solidFill>
              </a:rPr>
              <a:t>[Scatter Plot] </a:t>
            </a:r>
            <a:r>
              <a:rPr lang="ko-KR" altLang="en-US" b="0" dirty="0">
                <a:solidFill>
                  <a:schemeClr val="tx1"/>
                </a:solidFill>
              </a:rPr>
              <a:t>위젯 연결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635646"/>
            <a:ext cx="2088232" cy="292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87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34673" y="384676"/>
            <a:ext cx="45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3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ko-KR" altLang="en-US" sz="36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5141" y="537104"/>
            <a:ext cx="4166753" cy="41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모델의 성능을 확인해 보자</a:t>
            </a:r>
            <a:r>
              <a:rPr lang="en-US" altLang="ko-KR" sz="2200" b="1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</a:t>
            </a:r>
            <a:endParaRPr lang="ko-KR" altLang="en-US" sz="2200" b="1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6963E-37E8-4F4D-903B-EA27BBA2D52D}"/>
              </a:ext>
            </a:extLst>
          </p:cNvPr>
          <p:cNvSpPr txBox="1"/>
          <p:nvPr/>
        </p:nvSpPr>
        <p:spPr>
          <a:xfrm>
            <a:off x="883903" y="1178580"/>
            <a:ext cx="4166753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  <a:latin typeface="+mn-ea"/>
              </a:rPr>
              <a:t>학습 결과 확인하기</a:t>
            </a: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E795C6F5-6488-4859-914D-1D99D9FD4C6C}"/>
              </a:ext>
            </a:extLst>
          </p:cNvPr>
          <p:cNvSpPr/>
          <p:nvPr/>
        </p:nvSpPr>
        <p:spPr>
          <a:xfrm>
            <a:off x="663438" y="1285467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55749E-196A-42F4-93DC-AE3D0B2C4C84}"/>
              </a:ext>
            </a:extLst>
          </p:cNvPr>
          <p:cNvSpPr txBox="1"/>
          <p:nvPr/>
        </p:nvSpPr>
        <p:spPr>
          <a:xfrm>
            <a:off x="611560" y="1600797"/>
            <a:ext cx="3793499" cy="41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/>
              <a:defRPr sz="1700" b="1" spc="-150"/>
            </a:lvl1pPr>
          </a:lstStyle>
          <a:p>
            <a:r>
              <a:rPr lang="ko-KR" altLang="en-US" sz="1800" spc="0" dirty="0"/>
              <a:t>군집화 그래프 확인하기</a:t>
            </a:r>
            <a:endParaRPr lang="ko-KR" alt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E1EE0-0302-4D8C-B0E4-FDC8E32F3F01}"/>
              </a:ext>
            </a:extLst>
          </p:cNvPr>
          <p:cNvSpPr txBox="1"/>
          <p:nvPr/>
        </p:nvSpPr>
        <p:spPr>
          <a:xfrm>
            <a:off x="4788023" y="4443958"/>
            <a:ext cx="3773731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4-7 </a:t>
            </a:r>
            <a:r>
              <a:rPr lang="en-US" altLang="ko-KR" b="0" dirty="0">
                <a:solidFill>
                  <a:schemeClr val="tx1"/>
                </a:solidFill>
              </a:rPr>
              <a:t>k-Means </a:t>
            </a:r>
            <a:r>
              <a:rPr lang="ko-KR" altLang="en-US" b="0" dirty="0">
                <a:solidFill>
                  <a:schemeClr val="tx1"/>
                </a:solidFill>
              </a:rPr>
              <a:t>모델로 형성된 군집화의 시각화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1A6B09-346A-4301-B5C6-B28A4D1B2BFF}"/>
              </a:ext>
            </a:extLst>
          </p:cNvPr>
          <p:cNvSpPr txBox="1"/>
          <p:nvPr/>
        </p:nvSpPr>
        <p:spPr>
          <a:xfrm>
            <a:off x="660642" y="2067694"/>
            <a:ext cx="3911357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ko-KR" altLang="en-US" dirty="0"/>
              <a:t>연결한 </a:t>
            </a:r>
            <a:r>
              <a:rPr lang="en-US" altLang="ko-KR" dirty="0"/>
              <a:t>[Scatter Plot] </a:t>
            </a:r>
            <a:r>
              <a:rPr lang="ko-KR" altLang="en-US" dirty="0"/>
              <a:t>위젯 더블 클릭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4-7]</a:t>
            </a:r>
            <a:r>
              <a:rPr lang="ko-KR" altLang="en-US" dirty="0"/>
              <a:t>과 같이 </a:t>
            </a:r>
            <a:r>
              <a:rPr lang="ko-KR" altLang="en-US" dirty="0" err="1"/>
              <a:t>산점도</a:t>
            </a:r>
            <a:r>
              <a:rPr lang="ko-KR" altLang="en-US" dirty="0"/>
              <a:t> 형태의 군집화한 그래프 출력</a:t>
            </a:r>
            <a:endParaRPr lang="en-US" altLang="ko-KR" dirty="0"/>
          </a:p>
          <a:p>
            <a:endParaRPr lang="en-US" altLang="ko-KR" dirty="0"/>
          </a:p>
          <a:p>
            <a:pPr algn="l"/>
            <a:r>
              <a:rPr lang="ko-KR" altLang="en-US" sz="1800" b="0" i="0" u="none" strike="noStrike" baseline="0" dirty="0">
                <a:latin typeface="YDVYMjOStd33"/>
              </a:rPr>
              <a:t>군집별로 색을 다르게 설정하면 </a:t>
            </a:r>
            <a:br>
              <a:rPr lang="en-US" altLang="ko-KR" sz="1800" b="0" i="0" u="none" strike="noStrike" baseline="0" dirty="0">
                <a:latin typeface="YDVYMjOStd33"/>
              </a:rPr>
            </a:br>
            <a:r>
              <a:rPr lang="ko-KR" altLang="en-US" sz="1800" b="0" i="0" u="none" strike="noStrike" baseline="0" dirty="0">
                <a:latin typeface="YDVYMjOStd33"/>
              </a:rPr>
              <a:t>군집이 어떻게 형성되었는지 쉽게 </a:t>
            </a:r>
            <a:br>
              <a:rPr lang="en-US" altLang="ko-KR" sz="1800" b="0" i="0" u="none" strike="noStrike" baseline="0" dirty="0">
                <a:latin typeface="YDVYMjOStd33"/>
              </a:rPr>
            </a:br>
            <a:r>
              <a:rPr lang="ko-KR" altLang="en-US" sz="1800" b="0" i="0" u="none" strike="noStrike" baseline="0" dirty="0">
                <a:latin typeface="YDVYMjOStd33"/>
              </a:rPr>
              <a:t>파악할 수 있음</a:t>
            </a:r>
            <a:r>
              <a:rPr lang="en-US" altLang="ko-KR" sz="1800" b="0" i="0" u="none" strike="noStrike" baseline="0" dirty="0">
                <a:latin typeface="YDVYMjOStd33"/>
              </a:rPr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635646"/>
            <a:ext cx="3673714" cy="27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91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915566"/>
            <a:ext cx="5544616" cy="3606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A2367F-AA47-4183-A19E-D262964BA1C7}"/>
              </a:ext>
            </a:extLst>
          </p:cNvPr>
          <p:cNvSpPr txBox="1"/>
          <p:nvPr/>
        </p:nvSpPr>
        <p:spPr>
          <a:xfrm>
            <a:off x="905941" y="476984"/>
            <a:ext cx="6330355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57175" indent="-257175">
              <a:lnSpc>
                <a:spcPts val="2700"/>
              </a:lnSpc>
              <a:buFont typeface="맑은 고딕" panose="020B0503020000020004" pitchFamily="50" charset="-127"/>
              <a:buChar char="①"/>
              <a:defRPr b="1" i="0" u="none" strike="noStrike" spc="-150" baseline="0">
                <a:latin typeface="+mn-ea"/>
              </a:defRPr>
            </a:lvl1pPr>
          </a:lstStyle>
          <a:p>
            <a:pPr marL="342900" indent="-342900">
              <a:buFont typeface="+mj-ea"/>
              <a:buAutoNum type="circleNumDbPlain" startAt="2"/>
            </a:pPr>
            <a:r>
              <a:rPr lang="en-US" altLang="ko-KR" dirty="0"/>
              <a:t>x, y</a:t>
            </a:r>
            <a:r>
              <a:rPr lang="ko-KR" altLang="en-US" dirty="0"/>
              <a:t>축 설정과 색 지정하기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9E202AA-8CCD-4049-BC0C-0A38680A6F34}"/>
              </a:ext>
            </a:extLst>
          </p:cNvPr>
          <p:cNvGrpSpPr/>
          <p:nvPr/>
        </p:nvGrpSpPr>
        <p:grpSpPr>
          <a:xfrm>
            <a:off x="4788025" y="483519"/>
            <a:ext cx="2664295" cy="720080"/>
            <a:chOff x="6804248" y="2211710"/>
            <a:chExt cx="2376264" cy="936104"/>
          </a:xfrm>
        </p:grpSpPr>
        <p:sp>
          <p:nvSpPr>
            <p:cNvPr id="9" name="모서리가 둥근 사각형 설명선 3">
              <a:extLst>
                <a:ext uri="{FF2B5EF4-FFF2-40B4-BE49-F238E27FC236}">
                  <a16:creationId xmlns:a16="http://schemas.microsoft.com/office/drawing/2014/main" id="{54F86913-D07D-449E-B0CA-A4BAFA83A3C0}"/>
                </a:ext>
              </a:extLst>
            </p:cNvPr>
            <p:cNvSpPr/>
            <p:nvPr/>
          </p:nvSpPr>
          <p:spPr>
            <a:xfrm>
              <a:off x="6804248" y="2211710"/>
              <a:ext cx="2376264" cy="936104"/>
            </a:xfrm>
            <a:prstGeom prst="wedgeRoundRectCallout">
              <a:avLst>
                <a:gd name="adj1" fmla="val -27677"/>
                <a:gd name="adj2" fmla="val 66456"/>
                <a:gd name="adj3" fmla="val 16667"/>
              </a:avLst>
            </a:prstGeom>
            <a:solidFill>
              <a:schemeClr val="bg1"/>
            </a:solidFill>
            <a:ln>
              <a:solidFill>
                <a:srgbClr val="78B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900" b="1" spc="-1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AB2E1A-F890-4317-B2BA-D0B64456B687}"/>
                </a:ext>
              </a:extLst>
            </p:cNvPr>
            <p:cNvSpPr txBox="1"/>
            <p:nvPr/>
          </p:nvSpPr>
          <p:spPr>
            <a:xfrm>
              <a:off x="6857527" y="2305319"/>
              <a:ext cx="2194537" cy="6801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400" spc="-150" dirty="0">
                  <a:solidFill>
                    <a:schemeClr val="tx1"/>
                  </a:solidFill>
                  <a:latin typeface="+mn-ea"/>
                </a:rPr>
                <a:t>군집별로 색을 다르게 지정하면</a:t>
              </a:r>
              <a:br>
                <a:rPr lang="en-US" altLang="ko-KR" sz="1400" spc="-15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1400" spc="-150" dirty="0">
                  <a:solidFill>
                    <a:schemeClr val="tx1"/>
                  </a:solidFill>
                  <a:latin typeface="+mn-ea"/>
                </a:rPr>
                <a:t>4</a:t>
              </a:r>
              <a:r>
                <a:rPr lang="ko-KR" altLang="en-US" sz="1400" spc="-150" dirty="0">
                  <a:solidFill>
                    <a:schemeClr val="tx1"/>
                  </a:solidFill>
                  <a:latin typeface="+mn-ea"/>
                </a:rPr>
                <a:t>개의 군집 구분 용이</a:t>
              </a:r>
              <a:endParaRPr lang="ko-KR" altLang="en-US" sz="1000" b="1" spc="-1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ABDF10-E6C6-43D7-BA48-464FAA0C85C3}"/>
              </a:ext>
            </a:extLst>
          </p:cNvPr>
          <p:cNvSpPr txBox="1"/>
          <p:nvPr/>
        </p:nvSpPr>
        <p:spPr>
          <a:xfrm>
            <a:off x="395536" y="1059582"/>
            <a:ext cx="2008966" cy="674227"/>
          </a:xfrm>
          <a:prstGeom prst="round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b="1">
                <a:latin typeface="+mn-ea"/>
              </a:defRPr>
            </a:lvl1pPr>
          </a:lstStyle>
          <a:p>
            <a:r>
              <a:rPr lang="en-US" altLang="ko-KR" dirty="0">
                <a:solidFill>
                  <a:srgbClr val="0070C0"/>
                </a:solidFill>
              </a:rPr>
              <a:t>x</a:t>
            </a:r>
            <a:r>
              <a:rPr lang="ko-KR" altLang="en-US" dirty="0">
                <a:solidFill>
                  <a:srgbClr val="0070C0"/>
                </a:solidFill>
              </a:rPr>
              <a:t>축</a:t>
            </a:r>
            <a:r>
              <a:rPr lang="en-US" altLang="ko-KR" dirty="0"/>
              <a:t>: </a:t>
            </a:r>
            <a:r>
              <a:rPr lang="ko-KR" altLang="en-US" dirty="0"/>
              <a:t>경도</a:t>
            </a:r>
            <a:r>
              <a:rPr lang="en-US" altLang="ko-KR" dirty="0"/>
              <a:t>(Longitude)</a:t>
            </a:r>
            <a:br>
              <a:rPr lang="en-US" altLang="ko-KR" dirty="0"/>
            </a:br>
            <a:r>
              <a:rPr lang="en-US" altLang="ko-KR" dirty="0">
                <a:solidFill>
                  <a:srgbClr val="0070C0"/>
                </a:solidFill>
              </a:rPr>
              <a:t>y</a:t>
            </a:r>
            <a:r>
              <a:rPr lang="ko-KR" altLang="en-US" dirty="0">
                <a:solidFill>
                  <a:srgbClr val="0070C0"/>
                </a:solidFill>
              </a:rPr>
              <a:t>축</a:t>
            </a:r>
            <a:r>
              <a:rPr lang="en-US" altLang="ko-KR" dirty="0"/>
              <a:t>: </a:t>
            </a:r>
            <a:r>
              <a:rPr lang="ko-KR" altLang="en-US" dirty="0"/>
              <a:t>위도</a:t>
            </a:r>
            <a:r>
              <a:rPr lang="en-US" altLang="ko-KR" dirty="0"/>
              <a:t>(Latitude)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529158-A655-4B40-9AE6-438878BD1E53}"/>
              </a:ext>
            </a:extLst>
          </p:cNvPr>
          <p:cNvSpPr txBox="1"/>
          <p:nvPr/>
        </p:nvSpPr>
        <p:spPr>
          <a:xfrm>
            <a:off x="467544" y="1851670"/>
            <a:ext cx="1936958" cy="388191"/>
          </a:xfrm>
          <a:prstGeom prst="round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b="1">
                <a:latin typeface="+mn-ea"/>
              </a:defRPr>
            </a:lvl1pPr>
          </a:lstStyle>
          <a:p>
            <a:r>
              <a:rPr lang="en-US" altLang="ko-KR" dirty="0">
                <a:solidFill>
                  <a:srgbClr val="C00000"/>
                </a:solidFill>
              </a:rPr>
              <a:t>color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(Cluster)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935D4-48E3-41BB-8078-86E4EB0E66BC}"/>
              </a:ext>
            </a:extLst>
          </p:cNvPr>
          <p:cNvSpPr txBox="1"/>
          <p:nvPr/>
        </p:nvSpPr>
        <p:spPr>
          <a:xfrm>
            <a:off x="2411760" y="4494962"/>
            <a:ext cx="529372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4-8 </a:t>
            </a:r>
            <a:r>
              <a:rPr lang="ko-KR" altLang="en-US" b="0" dirty="0">
                <a:solidFill>
                  <a:schemeClr val="tx1"/>
                </a:solidFill>
              </a:rPr>
              <a:t>색으로 구분한 </a:t>
            </a:r>
            <a:r>
              <a:rPr lang="en-US" altLang="ko-KR" b="0" dirty="0">
                <a:solidFill>
                  <a:schemeClr val="tx1"/>
                </a:solidFill>
              </a:rPr>
              <a:t>4</a:t>
            </a:r>
            <a:r>
              <a:rPr lang="ko-KR" altLang="en-US" b="0" dirty="0">
                <a:solidFill>
                  <a:schemeClr val="tx1"/>
                </a:solidFill>
              </a:rPr>
              <a:t>개의 군집</a:t>
            </a:r>
          </a:p>
        </p:txBody>
      </p:sp>
      <p:sp>
        <p:nvSpPr>
          <p:cNvPr id="12" name="모서리가 둥근 사각형 설명선 3">
            <a:extLst>
              <a:ext uri="{FF2B5EF4-FFF2-40B4-BE49-F238E27FC236}">
                <a16:creationId xmlns:a16="http://schemas.microsoft.com/office/drawing/2014/main" id="{63A7A049-9002-4E1B-94E3-7595CF137596}"/>
              </a:ext>
            </a:extLst>
          </p:cNvPr>
          <p:cNvSpPr/>
          <p:nvPr/>
        </p:nvSpPr>
        <p:spPr>
          <a:xfrm flipH="1">
            <a:off x="827584" y="3435846"/>
            <a:ext cx="1440160" cy="1080120"/>
          </a:xfrm>
          <a:prstGeom prst="wedgeRoundRectCallout">
            <a:avLst>
              <a:gd name="adj1" fmla="val -189004"/>
              <a:gd name="adj2" fmla="val -64369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chemeClr val="tx1"/>
                </a:solidFill>
              </a:rPr>
              <a:t>군집 색상은 </a:t>
            </a:r>
            <a:r>
              <a:rPr lang="en-US" altLang="ko-KR" sz="1300" dirty="0">
                <a:solidFill>
                  <a:schemeClr val="tx1"/>
                </a:solidFill>
              </a:rPr>
              <a:t>Orange 3 </a:t>
            </a:r>
            <a:r>
              <a:rPr lang="ko-KR" altLang="en-US" sz="1300" dirty="0">
                <a:solidFill>
                  <a:schemeClr val="tx1"/>
                </a:solidFill>
              </a:rPr>
              <a:t>버전에 따라 다르게 나타날 수 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  <a:endParaRPr lang="ko-KR" altLang="en-US" sz="1300" spc="-1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531314"/>
            <a:ext cx="4166753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b="1" spc="-150" dirty="0">
                <a:solidFill>
                  <a:srgbClr val="005957"/>
                </a:solidFill>
              </a:rPr>
              <a:t>성능 결과 확인하기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663438" y="613265"/>
            <a:ext cx="242503" cy="242503"/>
          </a:xfrm>
          <a:prstGeom prst="roundRect">
            <a:avLst>
              <a:gd name="adj" fmla="val 11376"/>
            </a:avLst>
          </a:prstGeom>
          <a:solidFill>
            <a:srgbClr val="0059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E1BAB-CAAC-48D8-8899-68A2F34579E7}"/>
              </a:ext>
            </a:extLst>
          </p:cNvPr>
          <p:cNvSpPr txBox="1"/>
          <p:nvPr/>
        </p:nvSpPr>
        <p:spPr>
          <a:xfrm>
            <a:off x="617909" y="930837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pPr>
              <a:buFont typeface="+mj-ea"/>
              <a:buAutoNum type="circleNumDbPlain"/>
            </a:pPr>
            <a:r>
              <a:rPr lang="ko-KR" altLang="en-US" dirty="0"/>
              <a:t>군집 점 늘리기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ADCFE-C853-4188-A8A7-245AEF235C4B}"/>
              </a:ext>
            </a:extLst>
          </p:cNvPr>
          <p:cNvSpPr txBox="1"/>
          <p:nvPr/>
        </p:nvSpPr>
        <p:spPr>
          <a:xfrm>
            <a:off x="755576" y="1403775"/>
            <a:ext cx="7344816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 spc="-150">
                <a:latin typeface="+mn-ea"/>
              </a:defRPr>
            </a:lvl1pPr>
          </a:lstStyle>
          <a:p>
            <a:pPr algn="l"/>
            <a:r>
              <a:rPr lang="ko-KR" altLang="en-US" sz="1800" b="0" i="0" u="none" strike="noStrike" baseline="0" dirty="0"/>
              <a:t>군집 점의 수를 다양하게 늘렸을 때의 군집 상황을 살펴보기 위해 </a:t>
            </a:r>
            <a:br>
              <a:rPr lang="en-US" altLang="ko-KR" sz="1800" b="0" i="0" u="none" strike="noStrike" baseline="0" dirty="0"/>
            </a:br>
            <a:r>
              <a:rPr lang="en-US" altLang="ko-KR" sz="1800" b="0" i="0" u="none" strike="noStrike" baseline="0" dirty="0"/>
              <a:t>[k-Means] </a:t>
            </a:r>
            <a:r>
              <a:rPr lang="ko-KR" altLang="en-US" sz="1800" b="0" i="0" u="none" strike="noStrike" baseline="0" dirty="0"/>
              <a:t>위젯을 더블 클릭하여 </a:t>
            </a:r>
            <a:r>
              <a:rPr lang="en-US" altLang="ko-KR" sz="1800" b="0" i="0" u="none" strike="noStrike" baseline="0" dirty="0"/>
              <a:t>Fixed</a:t>
            </a:r>
            <a:r>
              <a:rPr lang="ko-KR" altLang="en-US" sz="1800" b="0" i="0" u="none" strike="noStrike" baseline="0" dirty="0"/>
              <a:t>의 값을 </a:t>
            </a:r>
            <a:r>
              <a:rPr lang="en-US" altLang="ko-KR" sz="1800" b="0" i="0" u="none" strike="noStrike" baseline="0" dirty="0"/>
              <a:t>5, 6, 7, 8</a:t>
            </a:r>
            <a:r>
              <a:rPr lang="ko-KR" altLang="en-US" sz="1800" b="0" i="0" u="none" strike="noStrike" baseline="0" dirty="0"/>
              <a:t>로 바꾸어 가면서 </a:t>
            </a:r>
            <a:br>
              <a:rPr lang="en-US" altLang="ko-KR" sz="1800" b="0" i="0" u="none" strike="noStrike" baseline="0" dirty="0"/>
            </a:br>
            <a:r>
              <a:rPr lang="ko-KR" altLang="en-US" sz="1800" b="0" i="0" u="none" strike="noStrike" baseline="0" dirty="0"/>
              <a:t>택배 거점에 따른 군집 점</a:t>
            </a:r>
            <a:r>
              <a:rPr lang="ko-KR" altLang="en-US" sz="1800" b="0" i="0" u="none" strike="noStrike" dirty="0"/>
              <a:t> 형성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571750"/>
            <a:ext cx="37338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836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7F04ABC-9CC5-4729-A9CB-2D0457F29ECB}"/>
              </a:ext>
            </a:extLst>
          </p:cNvPr>
          <p:cNvSpPr txBox="1"/>
          <p:nvPr/>
        </p:nvSpPr>
        <p:spPr>
          <a:xfrm>
            <a:off x="2195736" y="3219822"/>
            <a:ext cx="457200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4-9 </a:t>
            </a:r>
            <a:r>
              <a:rPr lang="ko-KR" altLang="en-US" b="0" dirty="0">
                <a:solidFill>
                  <a:schemeClr val="tx1"/>
                </a:solidFill>
              </a:rPr>
              <a:t>군집 점 수에 따라 형성된 군집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2AFDD-4B35-486E-A134-E82285DA2A61}"/>
              </a:ext>
            </a:extLst>
          </p:cNvPr>
          <p:cNvSpPr txBox="1"/>
          <p:nvPr/>
        </p:nvSpPr>
        <p:spPr>
          <a:xfrm>
            <a:off x="520106" y="772647"/>
            <a:ext cx="20162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군집 점이 </a:t>
            </a:r>
            <a:r>
              <a:rPr lang="en-US" altLang="ko-KR" sz="1500" b="1" i="0" u="none" strike="noStrike" spc="-150" baseline="0" dirty="0">
                <a:solidFill>
                  <a:srgbClr val="002060"/>
                </a:solidFill>
                <a:latin typeface="+mn-ea"/>
              </a:rPr>
              <a:t>5</a:t>
            </a:r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일 때</a:t>
            </a:r>
            <a:r>
              <a:rPr lang="en-US" altLang="ko-KR" sz="1500" b="1" i="0" u="none" strike="noStrike" spc="-150" baseline="0" dirty="0">
                <a:solidFill>
                  <a:srgbClr val="002060"/>
                </a:solidFill>
                <a:latin typeface="+mn-ea"/>
              </a:rPr>
              <a:t>(k=5)</a:t>
            </a:r>
            <a:endParaRPr lang="ko-KR" altLang="en-US" sz="1500" b="1" spc="-15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A14D3-0537-4162-8515-07187CC28E1D}"/>
              </a:ext>
            </a:extLst>
          </p:cNvPr>
          <p:cNvSpPr txBox="1"/>
          <p:nvPr/>
        </p:nvSpPr>
        <p:spPr>
          <a:xfrm>
            <a:off x="2619191" y="780352"/>
            <a:ext cx="20162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군집 점이 </a:t>
            </a:r>
            <a:r>
              <a:rPr lang="en-US" altLang="ko-KR" sz="1500" b="1" spc="-150" dirty="0">
                <a:solidFill>
                  <a:srgbClr val="002060"/>
                </a:solidFill>
                <a:latin typeface="+mn-ea"/>
              </a:rPr>
              <a:t>6</a:t>
            </a:r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일 때</a:t>
            </a:r>
            <a:r>
              <a:rPr lang="en-US" altLang="ko-KR" sz="1500" b="1" i="0" u="none" strike="noStrike" spc="-150" baseline="0" dirty="0">
                <a:solidFill>
                  <a:srgbClr val="002060"/>
                </a:solidFill>
                <a:latin typeface="+mn-ea"/>
              </a:rPr>
              <a:t>(k=6)</a:t>
            </a:r>
            <a:endParaRPr lang="ko-KR" altLang="en-US" sz="1500" b="1" spc="-15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DF17-3F30-4E04-9896-25AB78AF0045}"/>
              </a:ext>
            </a:extLst>
          </p:cNvPr>
          <p:cNvSpPr txBox="1"/>
          <p:nvPr/>
        </p:nvSpPr>
        <p:spPr>
          <a:xfrm>
            <a:off x="4675968" y="771550"/>
            <a:ext cx="20162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군집 점이 </a:t>
            </a:r>
            <a:r>
              <a:rPr lang="en-US" altLang="ko-KR" sz="1500" b="1" spc="-150" dirty="0">
                <a:solidFill>
                  <a:srgbClr val="002060"/>
                </a:solidFill>
                <a:latin typeface="+mn-ea"/>
              </a:rPr>
              <a:t>7</a:t>
            </a:r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일 때</a:t>
            </a:r>
            <a:r>
              <a:rPr lang="en-US" altLang="ko-KR" sz="1500" b="1" i="0" u="none" strike="noStrike" spc="-150" baseline="0" dirty="0">
                <a:solidFill>
                  <a:srgbClr val="002060"/>
                </a:solidFill>
                <a:latin typeface="+mn-ea"/>
              </a:rPr>
              <a:t>(k=7)</a:t>
            </a:r>
            <a:endParaRPr lang="ko-KR" altLang="en-US" sz="1500" b="1" spc="-15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2A9334-9857-444A-BAF6-11A7C85D40E6}"/>
              </a:ext>
            </a:extLst>
          </p:cNvPr>
          <p:cNvSpPr txBox="1"/>
          <p:nvPr/>
        </p:nvSpPr>
        <p:spPr>
          <a:xfrm>
            <a:off x="6732240" y="780352"/>
            <a:ext cx="201622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군집 점이 </a:t>
            </a:r>
            <a:r>
              <a:rPr lang="en-US" altLang="ko-KR" sz="1500" b="1" spc="-150" dirty="0">
                <a:solidFill>
                  <a:srgbClr val="002060"/>
                </a:solidFill>
                <a:latin typeface="+mn-ea"/>
              </a:rPr>
              <a:t>8</a:t>
            </a:r>
            <a:r>
              <a:rPr lang="ko-KR" altLang="en-US" sz="1500" b="1" i="0" u="none" strike="noStrike" spc="-150" baseline="0" dirty="0">
                <a:solidFill>
                  <a:srgbClr val="002060"/>
                </a:solidFill>
                <a:latin typeface="+mn-ea"/>
              </a:rPr>
              <a:t>일 때</a:t>
            </a:r>
            <a:r>
              <a:rPr lang="en-US" altLang="ko-KR" sz="1500" b="1" i="0" u="none" strike="noStrike" spc="-150" baseline="0" dirty="0">
                <a:solidFill>
                  <a:srgbClr val="002060"/>
                </a:solidFill>
                <a:latin typeface="+mn-ea"/>
              </a:rPr>
              <a:t>(k=8)</a:t>
            </a:r>
            <a:endParaRPr lang="ko-KR" altLang="en-US" sz="1500" b="1" spc="-15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E5361D-758D-4BBE-8ECC-4BEF697F91B8}"/>
              </a:ext>
            </a:extLst>
          </p:cNvPr>
          <p:cNvSpPr txBox="1"/>
          <p:nvPr/>
        </p:nvSpPr>
        <p:spPr>
          <a:xfrm>
            <a:off x="812304" y="3867894"/>
            <a:ext cx="7561702" cy="654090"/>
          </a:xfrm>
          <a:prstGeom prst="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b="1">
                <a:latin typeface="+mn-ea"/>
              </a:defRPr>
            </a:lvl1pPr>
          </a:lstStyle>
          <a:p>
            <a:r>
              <a:rPr lang="ko-KR" altLang="en-US" sz="1600" b="0" dirty="0"/>
              <a:t>일반적으로 군집 점은 보통 </a:t>
            </a:r>
            <a:r>
              <a:rPr lang="en-US" altLang="ko-KR" sz="1600" b="0" dirty="0"/>
              <a:t>4</a:t>
            </a:r>
            <a:r>
              <a:rPr lang="ko-KR" altLang="en-US" sz="1600" b="0" dirty="0"/>
              <a:t>개 이상 존재하지만 </a:t>
            </a:r>
            <a:r>
              <a:rPr lang="en-US" altLang="ko-KR" sz="1600" b="0" dirty="0"/>
              <a:t>[</a:t>
            </a:r>
            <a:r>
              <a:rPr lang="ko-KR" altLang="en-US" sz="1600" b="0" dirty="0"/>
              <a:t>그림 </a:t>
            </a:r>
            <a:r>
              <a:rPr lang="en-US" altLang="ko-KR" sz="1600" b="0" dirty="0"/>
              <a:t>4-9]</a:t>
            </a:r>
            <a:r>
              <a:rPr lang="ko-KR" altLang="en-US" sz="1600" b="0" dirty="0"/>
              <a:t>처럼 군집 점이 </a:t>
            </a:r>
            <a:r>
              <a:rPr lang="en-US" altLang="ko-KR" sz="1600" b="0" dirty="0"/>
              <a:t>5</a:t>
            </a:r>
            <a:r>
              <a:rPr lang="ko-KR" altLang="en-US" sz="1600" b="0" dirty="0"/>
              <a:t>에서 </a:t>
            </a:r>
            <a:r>
              <a:rPr lang="en-US" altLang="ko-KR" sz="1600" b="0" dirty="0"/>
              <a:t>8</a:t>
            </a:r>
            <a:r>
              <a:rPr lang="ko-KR" altLang="en-US" sz="1600" b="0" dirty="0"/>
              <a:t>로 늘어날수록 </a:t>
            </a:r>
            <a:r>
              <a:rPr lang="ko-KR" altLang="en-US" sz="1600" b="0" dirty="0">
                <a:solidFill>
                  <a:srgbClr val="C00000"/>
                </a:solidFill>
              </a:rPr>
              <a:t>더 작은 군집이 형성되면서 세분화</a:t>
            </a:r>
            <a:r>
              <a:rPr lang="ko-KR" altLang="en-US" sz="1600" b="0" dirty="0"/>
              <a:t>되는 것을 알 수 있다</a:t>
            </a:r>
            <a:r>
              <a:rPr lang="en-US" altLang="ko-KR" sz="1600" b="0" dirty="0"/>
              <a:t>.</a:t>
            </a:r>
            <a:endParaRPr lang="ko-KR" altLang="en-US" sz="1600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03598"/>
            <a:ext cx="1965665" cy="181565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203598"/>
            <a:ext cx="1976011" cy="181565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5" y="1203599"/>
            <a:ext cx="1944216" cy="179505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56" y="1203598"/>
            <a:ext cx="1926619" cy="180020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</p:pic>
      <p:sp>
        <p:nvSpPr>
          <p:cNvPr id="17" name="모서리가 둥근 사각형 설명선 3">
            <a:extLst>
              <a:ext uri="{FF2B5EF4-FFF2-40B4-BE49-F238E27FC236}">
                <a16:creationId xmlns:a16="http://schemas.microsoft.com/office/drawing/2014/main" id="{63A7A049-9002-4E1B-94E3-7595CF137596}"/>
              </a:ext>
            </a:extLst>
          </p:cNvPr>
          <p:cNvSpPr/>
          <p:nvPr/>
        </p:nvSpPr>
        <p:spPr>
          <a:xfrm flipH="1">
            <a:off x="611560" y="267494"/>
            <a:ext cx="4608512" cy="432048"/>
          </a:xfrm>
          <a:prstGeom prst="wedgeRoundRectCallout">
            <a:avLst>
              <a:gd name="adj1" fmla="val 13789"/>
              <a:gd name="adj2" fmla="val 61847"/>
              <a:gd name="adj3" fmla="val 16667"/>
            </a:avLst>
          </a:prstGeom>
          <a:solidFill>
            <a:schemeClr val="bg1"/>
          </a:solidFill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chemeClr val="tx1"/>
                </a:solidFill>
              </a:rPr>
              <a:t>군집 색상은 </a:t>
            </a:r>
            <a:r>
              <a:rPr lang="en-US" altLang="ko-KR" sz="1300" dirty="0">
                <a:solidFill>
                  <a:schemeClr val="tx1"/>
                </a:solidFill>
              </a:rPr>
              <a:t>Orange 3 </a:t>
            </a:r>
            <a:r>
              <a:rPr lang="ko-KR" altLang="en-US" sz="1300" dirty="0">
                <a:solidFill>
                  <a:schemeClr val="tx1"/>
                </a:solidFill>
              </a:rPr>
              <a:t>버전에 따라 다르게 나타날 수 있다</a:t>
            </a:r>
            <a:r>
              <a:rPr lang="en-US" altLang="ko-KR" sz="1300" dirty="0">
                <a:solidFill>
                  <a:schemeClr val="tx1"/>
                </a:solidFill>
              </a:rPr>
              <a:t>.</a:t>
            </a:r>
            <a:endParaRPr lang="ko-KR" altLang="en-US" sz="1300" spc="-1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14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모서리가 둥근 직사각형 8">
            <a:extLst>
              <a:ext uri="{FF2B5EF4-FFF2-40B4-BE49-F238E27FC236}">
                <a16:creationId xmlns:a16="http://schemas.microsoft.com/office/drawing/2014/main" id="{0AB6EA0B-D294-4B88-8D73-64FAF73629E3}"/>
              </a:ext>
            </a:extLst>
          </p:cNvPr>
          <p:cNvSpPr/>
          <p:nvPr/>
        </p:nvSpPr>
        <p:spPr>
          <a:xfrm>
            <a:off x="1043608" y="1275606"/>
            <a:ext cx="432048" cy="256818"/>
          </a:xfrm>
          <a:prstGeom prst="roundRect">
            <a:avLst/>
          </a:prstGeom>
          <a:solidFill>
            <a:srgbClr val="A5D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8">
            <a:extLst>
              <a:ext uri="{FF2B5EF4-FFF2-40B4-BE49-F238E27FC236}">
                <a16:creationId xmlns:a16="http://schemas.microsoft.com/office/drawing/2014/main" id="{405E0CB2-4200-462A-B9E9-0062C2355AE9}"/>
              </a:ext>
            </a:extLst>
          </p:cNvPr>
          <p:cNvSpPr/>
          <p:nvPr/>
        </p:nvSpPr>
        <p:spPr>
          <a:xfrm>
            <a:off x="6948264" y="4587974"/>
            <a:ext cx="263834" cy="198772"/>
          </a:xfrm>
          <a:prstGeom prst="roundRect">
            <a:avLst/>
          </a:prstGeom>
          <a:solidFill>
            <a:srgbClr val="A5D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3E3BB-FE8E-45DB-B1C5-0DB29B81105E}"/>
              </a:ext>
            </a:extLst>
          </p:cNvPr>
          <p:cNvSpPr txBox="1"/>
          <p:nvPr/>
        </p:nvSpPr>
        <p:spPr>
          <a:xfrm>
            <a:off x="611560" y="411510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r>
              <a:rPr lang="ko-KR" altLang="en-US" dirty="0"/>
              <a:t>인천 연안 지도로 보기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BE9CDE-0022-462A-AB36-E6D948D72CB2}"/>
              </a:ext>
            </a:extLst>
          </p:cNvPr>
          <p:cNvSpPr txBox="1"/>
          <p:nvPr/>
        </p:nvSpPr>
        <p:spPr>
          <a:xfrm>
            <a:off x="683568" y="843558"/>
            <a:ext cx="7344816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dirty="0"/>
              <a:t>Options </a:t>
            </a:r>
            <a:r>
              <a:rPr lang="ko-KR" altLang="en-US" dirty="0"/>
              <a:t>메뉴에서 </a:t>
            </a:r>
            <a:r>
              <a:rPr lang="en-US" altLang="ko-KR" dirty="0"/>
              <a:t>[Add-ons]</a:t>
            </a:r>
            <a:r>
              <a:rPr lang="ko-KR" altLang="en-US" dirty="0"/>
              <a:t>를 클릭하면 </a:t>
            </a:r>
            <a:r>
              <a:rPr lang="en-US" altLang="ko-KR" dirty="0"/>
              <a:t>[Installer] </a:t>
            </a:r>
            <a:r>
              <a:rPr lang="ko-KR" altLang="en-US" dirty="0"/>
              <a:t>창이 나타난다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Geo</a:t>
            </a:r>
            <a:r>
              <a:rPr lang="ko-KR" altLang="en-US" dirty="0"/>
              <a:t>에 체크</a:t>
            </a:r>
            <a:r>
              <a:rPr lang="en-US" altLang="ko-KR" dirty="0"/>
              <a:t>(     ) </a:t>
            </a:r>
            <a:r>
              <a:rPr lang="ko-KR" altLang="en-US" dirty="0"/>
              <a:t>하고 </a:t>
            </a:r>
            <a:r>
              <a:rPr lang="en-US" altLang="ko-KR" dirty="0"/>
              <a:t>OK</a:t>
            </a:r>
            <a:r>
              <a:rPr lang="ko-KR" altLang="en-US" dirty="0"/>
              <a:t>를 클릭하면 </a:t>
            </a:r>
            <a:r>
              <a:rPr lang="en-US" altLang="ko-KR" dirty="0"/>
              <a:t>Geo </a:t>
            </a:r>
            <a:r>
              <a:rPr lang="ko-KR" altLang="en-US" dirty="0"/>
              <a:t>카테고리가 추가로 설치된다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모서리가 둥근 사각형 설명선 3">
            <a:extLst>
              <a:ext uri="{FF2B5EF4-FFF2-40B4-BE49-F238E27FC236}">
                <a16:creationId xmlns:a16="http://schemas.microsoft.com/office/drawing/2014/main" id="{E5BFE954-C19B-4EAD-BF3B-0AA3549564C3}"/>
              </a:ext>
            </a:extLst>
          </p:cNvPr>
          <p:cNvSpPr/>
          <p:nvPr/>
        </p:nvSpPr>
        <p:spPr>
          <a:xfrm>
            <a:off x="6012160" y="4371950"/>
            <a:ext cx="2808312" cy="504056"/>
          </a:xfrm>
          <a:prstGeom prst="wedgeRoundRectCallout">
            <a:avLst>
              <a:gd name="adj1" fmla="val -24410"/>
              <a:gd name="adj2" fmla="val -79663"/>
              <a:gd name="adj3" fmla="val 16667"/>
            </a:avLst>
          </a:prstGeom>
          <a:noFill/>
          <a:ln>
            <a:solidFill>
              <a:srgbClr val="78B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964E94-CF0E-4BD6-8082-2B412FABBED9}"/>
              </a:ext>
            </a:extLst>
          </p:cNvPr>
          <p:cNvSpPr txBox="1"/>
          <p:nvPr/>
        </p:nvSpPr>
        <p:spPr>
          <a:xfrm>
            <a:off x="6012160" y="4371950"/>
            <a:ext cx="2745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0" i="0" u="none" strike="noStrike" baseline="0" dirty="0">
                <a:latin typeface="+mn-ea"/>
              </a:rPr>
              <a:t>Geo</a:t>
            </a:r>
            <a:r>
              <a:rPr lang="ko-KR" altLang="en-US" sz="1200" b="0" i="0" u="none" strike="noStrike" baseline="0" dirty="0">
                <a:latin typeface="+mn-ea"/>
              </a:rPr>
              <a:t>를 </a:t>
            </a:r>
            <a:r>
              <a:rPr lang="en-US" altLang="ko-KR" sz="1200" b="0" i="0" u="none" strike="noStrike" baseline="0" dirty="0">
                <a:latin typeface="+mn-ea"/>
              </a:rPr>
              <a:t>[Add-ons]</a:t>
            </a:r>
            <a:r>
              <a:rPr lang="ko-KR" altLang="en-US" sz="1200" b="0" i="0" u="none" strike="noStrike" baseline="0" dirty="0">
                <a:latin typeface="+mn-ea"/>
              </a:rPr>
              <a:t>를 한 후 </a:t>
            </a:r>
            <a:r>
              <a:rPr lang="en-US" altLang="ko-KR" sz="1200" b="0" i="0" u="none" strike="noStrike" baseline="0" dirty="0">
                <a:latin typeface="+mn-ea"/>
              </a:rPr>
              <a:t>Orange3</a:t>
            </a:r>
            <a:r>
              <a:rPr lang="ko-KR" altLang="en-US" sz="1200" b="0" i="0" u="none" strike="noStrike" baseline="0" dirty="0">
                <a:latin typeface="+mn-ea"/>
              </a:rPr>
              <a:t>를 재실행해야 </a:t>
            </a:r>
            <a:r>
              <a:rPr lang="en-US" altLang="ko-KR" sz="1200" b="0" i="0" u="none" strike="noStrike" baseline="0" dirty="0">
                <a:latin typeface="+mn-ea"/>
              </a:rPr>
              <a:t>Geo</a:t>
            </a:r>
            <a:r>
              <a:rPr lang="ko-KR" altLang="en-US" sz="1200" b="0" i="0" u="none" strike="noStrike" baseline="0" dirty="0">
                <a:latin typeface="+mn-ea"/>
              </a:rPr>
              <a:t>카테고리가 나타난다</a:t>
            </a:r>
            <a:r>
              <a:rPr lang="en-US" altLang="ko-KR" sz="1200" b="0" i="0" u="none" strike="noStrike" baseline="0" dirty="0">
                <a:latin typeface="+mn-ea"/>
              </a:rPr>
              <a:t>.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E178F2F-85B2-40E0-B515-21A3BE115645}"/>
              </a:ext>
            </a:extLst>
          </p:cNvPr>
          <p:cNvSpPr/>
          <p:nvPr/>
        </p:nvSpPr>
        <p:spPr>
          <a:xfrm>
            <a:off x="971600" y="1779662"/>
            <a:ext cx="4748628" cy="3024336"/>
          </a:xfrm>
          <a:prstGeom prst="roundRect">
            <a:avLst>
              <a:gd name="adj" fmla="val 582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EEDA0B7-847C-49D5-8E19-84B44C821F02}"/>
              </a:ext>
            </a:extLst>
          </p:cNvPr>
          <p:cNvSpPr/>
          <p:nvPr/>
        </p:nvSpPr>
        <p:spPr>
          <a:xfrm>
            <a:off x="5930097" y="2889522"/>
            <a:ext cx="288032" cy="198772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29BA07-5C6E-4C9C-B51E-BE02A253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275606"/>
            <a:ext cx="229158" cy="22915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851670"/>
            <a:ext cx="4608512" cy="29795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2" y="1779662"/>
            <a:ext cx="204787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9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8">
            <a:extLst>
              <a:ext uri="{FF2B5EF4-FFF2-40B4-BE49-F238E27FC236}">
                <a16:creationId xmlns:a16="http://schemas.microsoft.com/office/drawing/2014/main" id="{F90AC880-BFAF-4599-B59C-7D0AC1777F40}"/>
              </a:ext>
            </a:extLst>
          </p:cNvPr>
          <p:cNvSpPr/>
          <p:nvPr/>
        </p:nvSpPr>
        <p:spPr>
          <a:xfrm>
            <a:off x="2987824" y="627534"/>
            <a:ext cx="432048" cy="256818"/>
          </a:xfrm>
          <a:prstGeom prst="roundRect">
            <a:avLst/>
          </a:prstGeom>
          <a:solidFill>
            <a:srgbClr val="A5D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B768A-2D6B-4E42-ACFB-0834DEEFC2A2}"/>
              </a:ext>
            </a:extLst>
          </p:cNvPr>
          <p:cNvSpPr txBox="1"/>
          <p:nvPr/>
        </p:nvSpPr>
        <p:spPr>
          <a:xfrm>
            <a:off x="1043608" y="555526"/>
            <a:ext cx="7344816" cy="391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dirty="0"/>
              <a:t>[k-Means] </a:t>
            </a:r>
            <a:r>
              <a:rPr lang="ko-KR" altLang="en-US" dirty="0"/>
              <a:t>위젯에 </a:t>
            </a:r>
            <a:r>
              <a:rPr lang="en-US" altLang="ko-KR" dirty="0"/>
              <a:t>Geo </a:t>
            </a:r>
            <a:r>
              <a:rPr lang="ko-KR" altLang="en-US" dirty="0"/>
              <a:t>카테고리의 </a:t>
            </a:r>
            <a:r>
              <a:rPr lang="en-US" altLang="ko-KR" dirty="0"/>
              <a:t>[Geo Map] </a:t>
            </a:r>
            <a:r>
              <a:rPr lang="ko-KR" altLang="en-US" dirty="0"/>
              <a:t>위젯을 새롭게 연결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4567DE-58D2-4BF8-A047-CDB535905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131590"/>
            <a:ext cx="2952328" cy="3083542"/>
          </a:xfrm>
          <a:prstGeom prst="rect">
            <a:avLst/>
          </a:prstGeom>
        </p:spPr>
      </p:pic>
      <p:sp>
        <p:nvSpPr>
          <p:cNvPr id="6" name="모서리가 둥근 직사각형 4">
            <a:extLst>
              <a:ext uri="{FF2B5EF4-FFF2-40B4-BE49-F238E27FC236}">
                <a16:creationId xmlns:a16="http://schemas.microsoft.com/office/drawing/2014/main" id="{EF57E411-6116-4F19-A580-622E1DE0FC73}"/>
              </a:ext>
            </a:extLst>
          </p:cNvPr>
          <p:cNvSpPr/>
          <p:nvPr/>
        </p:nvSpPr>
        <p:spPr>
          <a:xfrm>
            <a:off x="4644008" y="3003798"/>
            <a:ext cx="1008112" cy="1008112"/>
          </a:xfrm>
          <a:prstGeom prst="roundRect">
            <a:avLst>
              <a:gd name="adj" fmla="val 67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48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446547"/>
            <a:ext cx="5400600" cy="3263841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874F097C-0880-4033-B729-288CC6A8D413}"/>
              </a:ext>
            </a:extLst>
          </p:cNvPr>
          <p:cNvGrpSpPr/>
          <p:nvPr/>
        </p:nvGrpSpPr>
        <p:grpSpPr>
          <a:xfrm>
            <a:off x="1907704" y="3363838"/>
            <a:ext cx="1800201" cy="1008112"/>
            <a:chOff x="6595756" y="2211710"/>
            <a:chExt cx="2606147" cy="1008112"/>
          </a:xfrm>
        </p:grpSpPr>
        <p:sp>
          <p:nvSpPr>
            <p:cNvPr id="7" name="모서리가 둥근 사각형 설명선 3">
              <a:extLst>
                <a:ext uri="{FF2B5EF4-FFF2-40B4-BE49-F238E27FC236}">
                  <a16:creationId xmlns:a16="http://schemas.microsoft.com/office/drawing/2014/main" id="{EEA2DA04-DA08-4D19-936F-7C32F5B852E1}"/>
                </a:ext>
              </a:extLst>
            </p:cNvPr>
            <p:cNvSpPr/>
            <p:nvPr/>
          </p:nvSpPr>
          <p:spPr>
            <a:xfrm>
              <a:off x="6595756" y="2211710"/>
              <a:ext cx="2584755" cy="1008112"/>
            </a:xfrm>
            <a:prstGeom prst="wedgeRoundRectCallout">
              <a:avLst>
                <a:gd name="adj1" fmla="val 70338"/>
                <a:gd name="adj2" fmla="val -33069"/>
                <a:gd name="adj3" fmla="val 16667"/>
              </a:avLst>
            </a:prstGeom>
            <a:solidFill>
              <a:schemeClr val="bg1"/>
            </a:solidFill>
            <a:ln>
              <a:solidFill>
                <a:srgbClr val="78B8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900" b="1" spc="-1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A868F6-9C2A-49DF-8AAC-D30BEF763E41}"/>
                </a:ext>
              </a:extLst>
            </p:cNvPr>
            <p:cNvSpPr txBox="1"/>
            <p:nvPr/>
          </p:nvSpPr>
          <p:spPr>
            <a:xfrm>
              <a:off x="6700003" y="2310430"/>
              <a:ext cx="250190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ko-KR" altLang="en-US" sz="1400" b="0" i="0" u="none" strike="noStrike" baseline="0" dirty="0">
                  <a:latin typeface="YDVYGOStd32"/>
                </a:rPr>
                <a:t>군집 점이 </a:t>
              </a:r>
              <a:r>
                <a:rPr lang="en-US" altLang="ko-KR" sz="1400" b="0" i="0" u="none" strike="noStrike" baseline="0" dirty="0">
                  <a:latin typeface="YDVYGOStd32"/>
                </a:rPr>
                <a:t>6</a:t>
              </a:r>
              <a:r>
                <a:rPr lang="ko-KR" altLang="en-US" sz="1400" b="0" i="0" u="none" strike="noStrike" baseline="0" dirty="0">
                  <a:latin typeface="YDVYGOStd32"/>
                </a:rPr>
                <a:t>일 때</a:t>
              </a:r>
            </a:p>
            <a:p>
              <a:pPr algn="l"/>
              <a:r>
                <a:rPr lang="ko-KR" altLang="en-US" sz="1400" b="0" i="0" u="none" strike="noStrike" baseline="0" dirty="0">
                  <a:latin typeface="YDVYGOStd32"/>
                </a:rPr>
                <a:t>지역을 여섯 군데로 </a:t>
              </a:r>
              <a:r>
                <a:rPr lang="ko-KR" altLang="en-US" sz="1400" b="0" i="0" u="none" strike="noStrike" baseline="0" dirty="0" err="1">
                  <a:latin typeface="YDVYGOStd32"/>
                </a:rPr>
                <a:t>군집화한</a:t>
              </a:r>
              <a:r>
                <a:rPr lang="ko-KR" altLang="en-US" sz="1400" b="0" i="0" u="none" strike="noStrike" baseline="0" dirty="0">
                  <a:latin typeface="YDVYGOStd32"/>
                </a:rPr>
                <a:t> 모습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15BA694-241B-4752-8ED2-1141260E97AB}"/>
              </a:ext>
            </a:extLst>
          </p:cNvPr>
          <p:cNvSpPr txBox="1"/>
          <p:nvPr/>
        </p:nvSpPr>
        <p:spPr>
          <a:xfrm>
            <a:off x="971600" y="1059582"/>
            <a:ext cx="75608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ko-KR" altLang="en-US" dirty="0"/>
              <a:t>색상은 군집</a:t>
            </a:r>
            <a:r>
              <a:rPr lang="en-US" altLang="ko-KR" dirty="0"/>
              <a:t>(Cluster)</a:t>
            </a:r>
            <a:r>
              <a:rPr lang="ko-KR" altLang="en-US" dirty="0"/>
              <a:t>으로 설정하여 군집화된 곳이 어느 지역인지 쉽게 가능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CB768A-2D6B-4E42-ACFB-0834DEEFC2A2}"/>
              </a:ext>
            </a:extLst>
          </p:cNvPr>
          <p:cNvSpPr txBox="1"/>
          <p:nvPr/>
        </p:nvSpPr>
        <p:spPr>
          <a:xfrm>
            <a:off x="971600" y="339502"/>
            <a:ext cx="734481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ko-KR" altLang="en-US" dirty="0"/>
              <a:t>위도와 경도를 설정</a:t>
            </a:r>
            <a:endParaRPr lang="en-US" altLang="ko-KR" dirty="0"/>
          </a:p>
          <a:p>
            <a:r>
              <a:rPr lang="en-US" altLang="ko-KR" dirty="0"/>
              <a:t>Orange3 </a:t>
            </a:r>
            <a:r>
              <a:rPr lang="ko-KR" altLang="en-US" dirty="0"/>
              <a:t>내에서도 군집화한 곳에 지도를 동시에 표시할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50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84A16-87C8-4526-9365-B4673BE2B192}"/>
              </a:ext>
            </a:extLst>
          </p:cNvPr>
          <p:cNvSpPr txBox="1"/>
          <p:nvPr/>
        </p:nvSpPr>
        <p:spPr>
          <a:xfrm>
            <a:off x="1043608" y="555526"/>
            <a:ext cx="7200800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spc="0" dirty="0"/>
              <a:t>[Geo Map] </a:t>
            </a:r>
            <a:r>
              <a:rPr lang="ko-KR" altLang="en-US" spc="0" dirty="0"/>
              <a:t>위젯을 이용하면 </a:t>
            </a:r>
            <a:endParaRPr lang="en-US" altLang="ko-KR" spc="0" dirty="0"/>
          </a:p>
          <a:p>
            <a:r>
              <a:rPr lang="en-US" altLang="ko-KR" spc="0" dirty="0"/>
              <a:t>k-Means </a:t>
            </a:r>
            <a:r>
              <a:rPr lang="ko-KR" altLang="en-US" spc="0" dirty="0"/>
              <a:t>군집화와 인천 연안 지역 지도를 합한 </a:t>
            </a:r>
            <a:endParaRPr lang="en-US" altLang="ko-KR" spc="0" dirty="0"/>
          </a:p>
          <a:p>
            <a:r>
              <a:rPr lang="ko-KR" altLang="en-US" spc="0" dirty="0"/>
              <a:t>지역별 군집화한 모습 확인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EDC720-D3A1-4411-8434-3C7DB7824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707654"/>
            <a:ext cx="5311874" cy="230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57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987574"/>
            <a:ext cx="4824536" cy="3471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BB8DB2-E68E-40B3-AFA4-10F67E0F74D5}"/>
              </a:ext>
            </a:extLst>
          </p:cNvPr>
          <p:cNvSpPr txBox="1"/>
          <p:nvPr/>
        </p:nvSpPr>
        <p:spPr>
          <a:xfrm>
            <a:off x="1087074" y="2343474"/>
            <a:ext cx="1637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0" i="0" u="none" strike="noStrike" baseline="0" dirty="0">
                <a:latin typeface="+mn-ea"/>
              </a:rPr>
              <a:t>k-Means</a:t>
            </a:r>
            <a:r>
              <a:rPr lang="ko-KR" altLang="en-US" sz="1200" b="0" i="0" u="none" strike="noStrike" baseline="0" dirty="0">
                <a:latin typeface="+mn-ea"/>
              </a:rPr>
              <a:t>로 군집화</a:t>
            </a:r>
            <a:endParaRPr lang="ko-KR" altLang="en-US" sz="36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37659D-E4A9-478D-ACA3-23C78ECAD744}"/>
              </a:ext>
            </a:extLst>
          </p:cNvPr>
          <p:cNvSpPr txBox="1"/>
          <p:nvPr/>
        </p:nvSpPr>
        <p:spPr>
          <a:xfrm>
            <a:off x="1087074" y="4500578"/>
            <a:ext cx="1637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0" i="0" u="none" strike="noStrike" baseline="0" dirty="0">
                <a:latin typeface="+mn-ea"/>
              </a:rPr>
              <a:t>인천 연안 지도</a:t>
            </a:r>
            <a:endParaRPr lang="ko-KR" altLang="en-US" sz="36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E7E763-6718-4452-82BD-01AD37477702}"/>
              </a:ext>
            </a:extLst>
          </p:cNvPr>
          <p:cNvSpPr txBox="1"/>
          <p:nvPr/>
        </p:nvSpPr>
        <p:spPr>
          <a:xfrm>
            <a:off x="5364088" y="443613"/>
            <a:ext cx="151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i="0" u="none" strike="noStrike" baseline="0" dirty="0">
                <a:solidFill>
                  <a:srgbClr val="002060"/>
                </a:solidFill>
                <a:latin typeface="+mn-ea"/>
              </a:rPr>
              <a:t>[</a:t>
            </a:r>
            <a:r>
              <a:rPr lang="ko-KR" altLang="en-US" sz="1800" b="1" i="0" u="none" strike="noStrike" baseline="0" dirty="0">
                <a:solidFill>
                  <a:srgbClr val="002060"/>
                </a:solidFill>
                <a:latin typeface="+mn-ea"/>
              </a:rPr>
              <a:t>실행 결과</a:t>
            </a:r>
            <a:r>
              <a:rPr lang="en-US" altLang="ko-KR" b="1" dirty="0">
                <a:solidFill>
                  <a:srgbClr val="002060"/>
                </a:solidFill>
                <a:latin typeface="+mn-ea"/>
              </a:rPr>
              <a:t>]</a:t>
            </a:r>
            <a:endParaRPr lang="en-US" altLang="ko-KR" sz="1800" b="1" i="0" u="none" strike="noStrike" baseline="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AE380E-FBEA-45F9-ACE3-EA2A74165E22}"/>
              </a:ext>
            </a:extLst>
          </p:cNvPr>
          <p:cNvSpPr txBox="1"/>
          <p:nvPr/>
        </p:nvSpPr>
        <p:spPr>
          <a:xfrm>
            <a:off x="1149954" y="468845"/>
            <a:ext cx="151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i="0" u="none" strike="noStrike" baseline="0" dirty="0">
                <a:solidFill>
                  <a:srgbClr val="002060"/>
                </a:solidFill>
                <a:latin typeface="+mn-ea"/>
              </a:rPr>
              <a:t>[</a:t>
            </a:r>
            <a:r>
              <a:rPr lang="ko-KR" altLang="en-US" sz="1800" b="1" i="0" u="none" strike="noStrike" baseline="0" dirty="0">
                <a:solidFill>
                  <a:srgbClr val="002060"/>
                </a:solidFill>
                <a:latin typeface="+mn-ea"/>
              </a:rPr>
              <a:t>준비 데이터</a:t>
            </a:r>
            <a:r>
              <a:rPr lang="en-US" altLang="ko-KR" b="1" dirty="0">
                <a:solidFill>
                  <a:srgbClr val="002060"/>
                </a:solidFill>
                <a:latin typeface="+mn-ea"/>
              </a:rPr>
              <a:t>]</a:t>
            </a:r>
            <a:endParaRPr lang="en-US" altLang="ko-KR" sz="1800" b="1" i="0" u="none" strike="noStrike" baseline="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7BF8D8-4EB4-4F92-B837-D448602A3CE6}"/>
              </a:ext>
            </a:extLst>
          </p:cNvPr>
          <p:cNvSpPr txBox="1"/>
          <p:nvPr/>
        </p:nvSpPr>
        <p:spPr>
          <a:xfrm>
            <a:off x="4746986" y="4502775"/>
            <a:ext cx="3168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ctr">
              <a:defRPr sz="1200" b="0" i="0" u="none" strike="noStrike" baseline="0">
                <a:latin typeface="+mn-ea"/>
              </a:defRPr>
            </a:lvl1pPr>
          </a:lstStyle>
          <a:p>
            <a:r>
              <a:rPr lang="ko-KR" altLang="en-US" dirty="0"/>
              <a:t>인천 연안 지도에 지역별로 </a:t>
            </a:r>
            <a:r>
              <a:rPr lang="ko-KR" altLang="en-US" dirty="0" err="1"/>
              <a:t>군집화한</a:t>
            </a:r>
            <a:r>
              <a:rPr lang="ko-KR" altLang="en-US" dirty="0"/>
              <a:t> 모습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E58C07DE-5344-4817-B7BD-26915B9D3FDE}"/>
              </a:ext>
            </a:extLst>
          </p:cNvPr>
          <p:cNvSpPr/>
          <p:nvPr/>
        </p:nvSpPr>
        <p:spPr>
          <a:xfrm>
            <a:off x="3229058" y="2438198"/>
            <a:ext cx="221143" cy="198772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68AB25-CD49-44C7-9E33-930DD2A47FCB}"/>
              </a:ext>
            </a:extLst>
          </p:cNvPr>
          <p:cNvSpPr txBox="1"/>
          <p:nvPr/>
        </p:nvSpPr>
        <p:spPr>
          <a:xfrm>
            <a:off x="3851920" y="3579862"/>
            <a:ext cx="3024336" cy="867930"/>
          </a:xfrm>
          <a:prstGeom prst="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b="1">
                <a:latin typeface="+mn-ea"/>
              </a:defRPr>
            </a:lvl1pPr>
          </a:lstStyle>
          <a:p>
            <a:pPr algn="ctr"/>
            <a:r>
              <a:rPr lang="ko-KR" altLang="en-US" dirty="0"/>
              <a:t>군집화가 영종도</a:t>
            </a:r>
            <a:r>
              <a:rPr lang="en-US" altLang="ko-KR" dirty="0"/>
              <a:t>(</a:t>
            </a:r>
            <a:r>
              <a:rPr lang="ko-KR" altLang="en-US" dirty="0"/>
              <a:t>노랑</a:t>
            </a:r>
            <a:r>
              <a:rPr lang="en-US" altLang="ko-KR" dirty="0"/>
              <a:t>), </a:t>
            </a:r>
          </a:p>
          <a:p>
            <a:pPr algn="ctr"/>
            <a:r>
              <a:rPr lang="ko-KR" altLang="en-US" dirty="0"/>
              <a:t>인천광역시</a:t>
            </a:r>
            <a:r>
              <a:rPr lang="en-US" altLang="ko-KR" dirty="0"/>
              <a:t>(</a:t>
            </a:r>
            <a:r>
              <a:rPr lang="ko-KR" altLang="en-US" dirty="0"/>
              <a:t>파랑</a:t>
            </a:r>
            <a:r>
              <a:rPr lang="en-US" altLang="ko-KR" dirty="0"/>
              <a:t>), </a:t>
            </a:r>
            <a:r>
              <a:rPr lang="ko-KR" altLang="en-US" dirty="0"/>
              <a:t>부천시</a:t>
            </a:r>
            <a:r>
              <a:rPr lang="en-US" altLang="ko-KR" dirty="0"/>
              <a:t>(</a:t>
            </a:r>
            <a:r>
              <a:rPr lang="ko-KR" altLang="en-US" dirty="0"/>
              <a:t>연두</a:t>
            </a:r>
            <a:r>
              <a:rPr lang="en-US" altLang="ko-KR" dirty="0"/>
              <a:t>), </a:t>
            </a:r>
          </a:p>
          <a:p>
            <a:pPr algn="ctr"/>
            <a:r>
              <a:rPr lang="ko-KR" altLang="en-US" dirty="0"/>
              <a:t>안산시</a:t>
            </a:r>
            <a:r>
              <a:rPr lang="en-US" altLang="ko-KR" dirty="0"/>
              <a:t>(</a:t>
            </a:r>
            <a:r>
              <a:rPr lang="ko-KR" altLang="en-US" dirty="0"/>
              <a:t>빨강</a:t>
            </a:r>
            <a:r>
              <a:rPr lang="en-US" altLang="ko-KR" dirty="0"/>
              <a:t>)</a:t>
            </a:r>
            <a:r>
              <a:rPr lang="ko-KR" altLang="en-US" dirty="0"/>
              <a:t>로 네 군데 형성되었음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987574"/>
            <a:ext cx="2081213" cy="13096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2715766"/>
            <a:ext cx="2193826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0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6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017C8-D4FB-498D-A5C6-2A5E1062E53D}"/>
              </a:ext>
            </a:extLst>
          </p:cNvPr>
          <p:cNvSpPr txBox="1"/>
          <p:nvPr/>
        </p:nvSpPr>
        <p:spPr>
          <a:xfrm>
            <a:off x="903492" y="339502"/>
            <a:ext cx="6618387" cy="399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342900" indent="-342900">
              <a:lnSpc>
                <a:spcPts val="2700"/>
              </a:lnSpc>
              <a:buFont typeface="+mj-ea"/>
              <a:buAutoNum type="circleNumDbPlain" startAt="2"/>
              <a:defRPr b="1" i="0" u="none" strike="noStrike" spc="-150" baseline="0">
                <a:latin typeface="+mn-ea"/>
              </a:defRPr>
            </a:lvl1pPr>
          </a:lstStyle>
          <a:p>
            <a:r>
              <a:rPr lang="ko-KR" altLang="en-US" dirty="0"/>
              <a:t>군집 살펴보기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33989-F3CF-4AA2-BFC3-CA570CFEC6DA}"/>
              </a:ext>
            </a:extLst>
          </p:cNvPr>
          <p:cNvSpPr txBox="1"/>
          <p:nvPr/>
        </p:nvSpPr>
        <p:spPr>
          <a:xfrm>
            <a:off x="1043608" y="771550"/>
            <a:ext cx="7632848" cy="724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0" i="0" u="none" strike="noStrike" spc="-150" baseline="0">
                <a:latin typeface="+mn-ea"/>
              </a:defRPr>
            </a:lvl1pPr>
          </a:lstStyle>
          <a:p>
            <a:r>
              <a:rPr lang="en-US" altLang="ko-KR" dirty="0"/>
              <a:t>[k-Means] </a:t>
            </a:r>
            <a:r>
              <a:rPr lang="ko-KR" altLang="en-US" dirty="0"/>
              <a:t>위젯을 더블 클릭하여 </a:t>
            </a:r>
            <a:r>
              <a:rPr lang="en-US" altLang="ko-KR" dirty="0"/>
              <a:t>Fixed</a:t>
            </a:r>
            <a:r>
              <a:rPr lang="ko-KR" altLang="en-US" dirty="0"/>
              <a:t>의 값을 </a:t>
            </a:r>
            <a:r>
              <a:rPr lang="en-US" altLang="ko-KR" dirty="0"/>
              <a:t>5, 6, 7, 8</a:t>
            </a:r>
            <a:r>
              <a:rPr lang="ko-KR" altLang="en-US" dirty="0"/>
              <a:t>로 바꾸어 가면서 인천 연안 지역 지도와 택배 위치 데이터를 활용하여 군집 상황을 살펴보도록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DA042B-B79C-426B-82BC-1DE26E161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34" y="1995686"/>
            <a:ext cx="3564718" cy="2471885"/>
          </a:xfrm>
          <a:prstGeom prst="rect">
            <a:avLst/>
          </a:prstGeom>
        </p:spPr>
      </p:pic>
      <p:sp>
        <p:nvSpPr>
          <p:cNvPr id="9" name="모서리가 둥근 직사각형 4">
            <a:extLst>
              <a:ext uri="{FF2B5EF4-FFF2-40B4-BE49-F238E27FC236}">
                <a16:creationId xmlns:a16="http://schemas.microsoft.com/office/drawing/2014/main" id="{C38C5409-6D36-489F-80A3-8E1CFEBDE90F}"/>
              </a:ext>
            </a:extLst>
          </p:cNvPr>
          <p:cNvSpPr/>
          <p:nvPr/>
        </p:nvSpPr>
        <p:spPr>
          <a:xfrm>
            <a:off x="2699793" y="3110309"/>
            <a:ext cx="864095" cy="901601"/>
          </a:xfrm>
          <a:prstGeom prst="roundRect">
            <a:avLst>
              <a:gd name="adj" fmla="val 675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B92C356D-5CD4-49B6-8E19-DC12A9991B84}"/>
              </a:ext>
            </a:extLst>
          </p:cNvPr>
          <p:cNvSpPr/>
          <p:nvPr/>
        </p:nvSpPr>
        <p:spPr>
          <a:xfrm>
            <a:off x="5246918" y="3170773"/>
            <a:ext cx="221143" cy="198772"/>
          </a:xfrm>
          <a:prstGeom prst="rightArrow">
            <a:avLst/>
          </a:prstGeom>
          <a:solidFill>
            <a:srgbClr val="DC5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1995686"/>
            <a:ext cx="18954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08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5A63F2E-DA5E-43EA-9EA7-5F9FA48C75D4}"/>
              </a:ext>
            </a:extLst>
          </p:cNvPr>
          <p:cNvSpPr txBox="1"/>
          <p:nvPr/>
        </p:nvSpPr>
        <p:spPr>
          <a:xfrm>
            <a:off x="700426" y="607789"/>
            <a:ext cx="1882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spc="-150" baseline="0" dirty="0">
                <a:latin typeface="+mn-ea"/>
              </a:rPr>
              <a:t>군집 점이 </a:t>
            </a:r>
            <a:r>
              <a:rPr lang="en-US" altLang="ko-KR" sz="1400" b="0" i="0" u="none" strike="noStrike" spc="-150" baseline="0" dirty="0">
                <a:latin typeface="+mn-ea"/>
              </a:rPr>
              <a:t>5</a:t>
            </a:r>
            <a:r>
              <a:rPr lang="ko-KR" altLang="en-US" sz="1400" b="0" i="0" u="none" strike="noStrike" spc="-150" baseline="0" dirty="0">
                <a:latin typeface="+mn-ea"/>
              </a:rPr>
              <a:t>일 때</a:t>
            </a:r>
            <a:r>
              <a:rPr lang="en-US" altLang="ko-KR" sz="1400" b="0" i="0" u="none" strike="noStrike" spc="-150" baseline="0" dirty="0">
                <a:latin typeface="+mn-ea"/>
              </a:rPr>
              <a:t>(k=5)</a:t>
            </a:r>
            <a:endParaRPr lang="ko-KR" altLang="en-US" sz="4000" spc="-15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61470-62AF-44AC-AC73-E9DD256EDD59}"/>
              </a:ext>
            </a:extLst>
          </p:cNvPr>
          <p:cNvSpPr txBox="1"/>
          <p:nvPr/>
        </p:nvSpPr>
        <p:spPr>
          <a:xfrm>
            <a:off x="2642673" y="615494"/>
            <a:ext cx="1882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spc="-150" baseline="0" dirty="0">
                <a:latin typeface="+mn-ea"/>
              </a:rPr>
              <a:t>군집 점이 </a:t>
            </a:r>
            <a:r>
              <a:rPr lang="en-US" altLang="ko-KR" sz="1400" spc="-150" dirty="0">
                <a:latin typeface="+mn-ea"/>
              </a:rPr>
              <a:t>6</a:t>
            </a:r>
            <a:r>
              <a:rPr lang="ko-KR" altLang="en-US" sz="1400" b="0" i="0" u="none" strike="noStrike" spc="-150" baseline="0" dirty="0">
                <a:latin typeface="+mn-ea"/>
              </a:rPr>
              <a:t>일 때</a:t>
            </a:r>
            <a:r>
              <a:rPr lang="en-US" altLang="ko-KR" sz="1400" b="0" i="0" u="none" strike="noStrike" spc="-150" baseline="0" dirty="0">
                <a:latin typeface="+mn-ea"/>
              </a:rPr>
              <a:t>(k=6)</a:t>
            </a:r>
            <a:endParaRPr lang="ko-KR" altLang="en-US" sz="4000" spc="-15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BED1D2-0A1F-4BDF-BEC2-CC18C3E1CAE3}"/>
              </a:ext>
            </a:extLst>
          </p:cNvPr>
          <p:cNvSpPr txBox="1"/>
          <p:nvPr/>
        </p:nvSpPr>
        <p:spPr>
          <a:xfrm>
            <a:off x="4584920" y="606692"/>
            <a:ext cx="18910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spc="-150" baseline="0" dirty="0">
                <a:latin typeface="+mn-ea"/>
              </a:rPr>
              <a:t>군집 점이 </a:t>
            </a:r>
            <a:r>
              <a:rPr lang="en-US" altLang="ko-KR" sz="1400" spc="-150" dirty="0">
                <a:latin typeface="+mn-ea"/>
              </a:rPr>
              <a:t>7</a:t>
            </a:r>
            <a:r>
              <a:rPr lang="ko-KR" altLang="en-US" sz="1400" b="0" i="0" u="none" strike="noStrike" spc="-150" baseline="0" dirty="0">
                <a:latin typeface="+mn-ea"/>
              </a:rPr>
              <a:t>일 때</a:t>
            </a:r>
            <a:r>
              <a:rPr lang="en-US" altLang="ko-KR" sz="1400" b="0" i="0" u="none" strike="noStrike" spc="-150" baseline="0" dirty="0">
                <a:latin typeface="+mn-ea"/>
              </a:rPr>
              <a:t>(k=7)</a:t>
            </a:r>
            <a:endParaRPr lang="ko-KR" altLang="en-US" sz="4000" spc="-15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F3467B-7104-4B56-8F78-159B620BAF0F}"/>
              </a:ext>
            </a:extLst>
          </p:cNvPr>
          <p:cNvSpPr txBox="1"/>
          <p:nvPr/>
        </p:nvSpPr>
        <p:spPr>
          <a:xfrm>
            <a:off x="6555688" y="615494"/>
            <a:ext cx="1875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spc="-150" baseline="0" dirty="0">
                <a:latin typeface="+mn-ea"/>
              </a:rPr>
              <a:t>군집 점이 </a:t>
            </a:r>
            <a:r>
              <a:rPr lang="en-US" altLang="ko-KR" sz="1400" spc="-150" dirty="0">
                <a:latin typeface="+mn-ea"/>
              </a:rPr>
              <a:t>8</a:t>
            </a:r>
            <a:r>
              <a:rPr lang="ko-KR" altLang="en-US" sz="1400" b="0" i="0" u="none" strike="noStrike" spc="-150" baseline="0" dirty="0">
                <a:latin typeface="+mn-ea"/>
              </a:rPr>
              <a:t>일 때</a:t>
            </a:r>
            <a:r>
              <a:rPr lang="en-US" altLang="ko-KR" sz="1400" b="0" i="0" u="none" strike="noStrike" spc="-150" baseline="0" dirty="0">
                <a:latin typeface="+mn-ea"/>
              </a:rPr>
              <a:t>(k=8)</a:t>
            </a:r>
            <a:endParaRPr lang="ko-KR" altLang="en-US" sz="4000" spc="-1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39A71A-838F-40E1-803F-5DE16ECD7E4D}"/>
              </a:ext>
            </a:extLst>
          </p:cNvPr>
          <p:cNvSpPr txBox="1"/>
          <p:nvPr/>
        </p:nvSpPr>
        <p:spPr>
          <a:xfrm>
            <a:off x="2434843" y="2366870"/>
            <a:ext cx="4572000" cy="34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2200"/>
              </a:lnSpc>
              <a:defRPr sz="1400" b="1" spc="-150">
                <a:solidFill>
                  <a:srgbClr val="3A7DCE"/>
                </a:solidFill>
              </a:defRPr>
            </a:lvl1pPr>
          </a:lstStyle>
          <a:p>
            <a:r>
              <a:rPr lang="ko-KR" altLang="en-US" dirty="0"/>
              <a:t>그림 </a:t>
            </a:r>
            <a:r>
              <a:rPr lang="en-US" altLang="ko-KR" dirty="0"/>
              <a:t>4-10 </a:t>
            </a:r>
            <a:r>
              <a:rPr lang="ko-KR" altLang="en-US" b="0" dirty="0">
                <a:solidFill>
                  <a:schemeClr val="tx1"/>
                </a:solidFill>
              </a:rPr>
              <a:t>군집 점을 기반으로 한 모델 평가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92FD8B0-0E0B-476C-9D04-876AC49E8BD6}"/>
              </a:ext>
            </a:extLst>
          </p:cNvPr>
          <p:cNvSpPr/>
          <p:nvPr/>
        </p:nvSpPr>
        <p:spPr>
          <a:xfrm>
            <a:off x="562635" y="483518"/>
            <a:ext cx="8018729" cy="1883352"/>
          </a:xfrm>
          <a:prstGeom prst="roundRect">
            <a:avLst>
              <a:gd name="adj" fmla="val 582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674BD-ABA4-479C-AD59-F68573BA7E94}"/>
              </a:ext>
            </a:extLst>
          </p:cNvPr>
          <p:cNvSpPr txBox="1"/>
          <p:nvPr/>
        </p:nvSpPr>
        <p:spPr>
          <a:xfrm>
            <a:off x="700426" y="2962180"/>
            <a:ext cx="773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600" b="0" i="0" u="none" strike="noStrike" baseline="0" dirty="0">
                <a:latin typeface="+mn-ea"/>
              </a:rPr>
              <a:t>위와 같은 군집 상황을 분석하여 택배 </a:t>
            </a:r>
            <a:r>
              <a:rPr lang="ko-KR" altLang="en-US" sz="1600" b="0" i="0" u="none" strike="noStrike" baseline="0" dirty="0" err="1">
                <a:latin typeface="+mn-ea"/>
              </a:rPr>
              <a:t>집하장</a:t>
            </a:r>
            <a:r>
              <a:rPr lang="ko-KR" altLang="en-US" sz="1600" b="0" i="0" u="none" strike="noStrike" baseline="0" dirty="0">
                <a:latin typeface="+mn-ea"/>
              </a:rPr>
              <a:t> 선정 등에 적용할 수 있다</a:t>
            </a:r>
            <a:r>
              <a:rPr lang="en-US" altLang="ko-KR" sz="1600" b="0" i="0" u="none" strike="noStrike" baseline="0" dirty="0">
                <a:latin typeface="+mn-ea"/>
              </a:rPr>
              <a:t>. </a:t>
            </a:r>
          </a:p>
          <a:p>
            <a:pPr algn="l"/>
            <a:r>
              <a:rPr lang="ko-KR" altLang="en-US" sz="1600" b="0" i="0" u="none" strike="noStrike" baseline="0" dirty="0">
                <a:latin typeface="+mn-ea"/>
              </a:rPr>
              <a:t>최근에는 코로나의 영향으로 택배 물류 양이 계속 늘어나고 있다</a:t>
            </a:r>
            <a:r>
              <a:rPr lang="en-US" altLang="ko-KR" sz="1600" b="0" i="0" u="none" strike="noStrike" baseline="0" dirty="0">
                <a:latin typeface="+mn-ea"/>
              </a:rPr>
              <a:t>. </a:t>
            </a:r>
          </a:p>
          <a:p>
            <a:pPr algn="l"/>
            <a:r>
              <a:rPr lang="ko-KR" altLang="en-US" sz="1600" b="0" i="0" u="none" strike="noStrike" baseline="0" dirty="0">
                <a:latin typeface="+mn-ea"/>
              </a:rPr>
              <a:t>이에 따라 유류비</a:t>
            </a:r>
            <a:r>
              <a:rPr lang="en-US" altLang="ko-KR" sz="1600" b="0" i="0" u="none" strike="noStrike" baseline="0" dirty="0">
                <a:latin typeface="+mn-ea"/>
              </a:rPr>
              <a:t>, </a:t>
            </a:r>
            <a:r>
              <a:rPr lang="ko-KR" altLang="en-US" sz="1600" b="0" i="0" u="none" strike="noStrike" baseline="0" dirty="0">
                <a:latin typeface="+mn-ea"/>
              </a:rPr>
              <a:t>인건비</a:t>
            </a:r>
            <a:r>
              <a:rPr lang="en-US" altLang="ko-KR" sz="1600" b="0" i="0" u="none" strike="noStrike" baseline="0" dirty="0">
                <a:latin typeface="+mn-ea"/>
              </a:rPr>
              <a:t>, </a:t>
            </a:r>
            <a:r>
              <a:rPr lang="ko-KR" altLang="en-US" sz="1600" b="0" i="0" u="none" strike="noStrike" baseline="0" dirty="0">
                <a:latin typeface="+mn-ea"/>
              </a:rPr>
              <a:t>택배 거점 등 고려해야 할 것 또한 한둘이 아니다</a:t>
            </a:r>
            <a:r>
              <a:rPr lang="en-US" altLang="ko-KR" sz="1600" b="0" i="0" u="none" strike="noStrike" baseline="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5AD3B-2E8D-4F97-8263-FEA3412304D3}"/>
              </a:ext>
            </a:extLst>
          </p:cNvPr>
          <p:cNvSpPr txBox="1"/>
          <p:nvPr/>
        </p:nvSpPr>
        <p:spPr>
          <a:xfrm>
            <a:off x="700426" y="3967790"/>
            <a:ext cx="7730709" cy="654090"/>
          </a:xfrm>
          <a:prstGeom prst="rect">
            <a:avLst/>
          </a:prstGeom>
          <a:solidFill>
            <a:schemeClr val="accent2">
              <a:lumMod val="40000"/>
              <a:lumOff val="60000"/>
              <a:alpha val="69804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1400" b="1">
                <a:latin typeface="+mn-ea"/>
              </a:defRPr>
            </a:lvl1pPr>
          </a:lstStyle>
          <a:p>
            <a:r>
              <a:rPr lang="ko-KR" altLang="en-US" sz="1600" dirty="0"/>
              <a:t>따라서 인천광역시</a:t>
            </a:r>
            <a:r>
              <a:rPr lang="en-US" altLang="ko-KR" sz="1600" dirty="0"/>
              <a:t>, </a:t>
            </a:r>
            <a:r>
              <a:rPr lang="ko-KR" altLang="en-US" sz="1600" dirty="0"/>
              <a:t>안산시 등의 행정 구역 기반의 택배 거점을 군집 점을 기반으로 변경한다면 비용을 절약할 뿐만 아니라 택배 </a:t>
            </a:r>
            <a:r>
              <a:rPr lang="ko-KR" altLang="en-US" sz="1600" dirty="0" err="1"/>
              <a:t>집하정</a:t>
            </a:r>
            <a:r>
              <a:rPr lang="ko-KR" altLang="en-US" sz="1600" dirty="0"/>
              <a:t> 선정 등을 최적화할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15566"/>
            <a:ext cx="3899917" cy="12859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915566"/>
            <a:ext cx="3744416" cy="124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8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627784" y="915566"/>
            <a:ext cx="5688632" cy="0"/>
          </a:xfrm>
          <a:prstGeom prst="line">
            <a:avLst/>
          </a:prstGeom>
          <a:ln>
            <a:solidFill>
              <a:srgbClr val="59B3FD">
                <a:alpha val="61000"/>
              </a:srgbClr>
            </a:solidFill>
            <a:prstDash val="sysDash"/>
            <a:headEnd type="none"/>
            <a:tailEnd type="oval" w="lg" len="lg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1266" name="Picture 2" descr="C:\Users\PC\Desktop\20211122_16503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68" y="513998"/>
            <a:ext cx="2198694" cy="210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PC\Desktop\그림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932" y="521618"/>
            <a:ext cx="1874363" cy="608583"/>
          </a:xfrm>
          <a:prstGeom prst="rect">
            <a:avLst/>
          </a:prstGeom>
          <a:noFill/>
          <a:effectLst>
            <a:outerShdw blurRad="50800" dist="38100" dir="33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 descr="C:\Users\PC\Desktop\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23678"/>
            <a:ext cx="271986" cy="27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C:\Users\PC\Desktop\q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25" y="1216762"/>
            <a:ext cx="271986" cy="27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647501" y="1815065"/>
            <a:ext cx="70686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데이터에 포함된 위도와 경도 정보를 활용하여 데이터를 지도에 </a:t>
            </a:r>
            <a:b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표시하여 시각화 기능을 제공하는 카테고리이다</a:t>
            </a:r>
            <a: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</a:p>
          <a:p>
            <a:pPr algn="l"/>
            <a:endParaRPr lang="en-US" altLang="ko-KR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b="1" spc="-100" dirty="0">
                <a:solidFill>
                  <a:srgbClr val="002060"/>
                </a:solidFill>
                <a:latin typeface="+mn-ea"/>
              </a:rPr>
              <a:t>[Geocoding(</a:t>
            </a:r>
            <a:r>
              <a:rPr lang="ko-KR" altLang="en-US" b="1" spc="-100" dirty="0" err="1">
                <a:solidFill>
                  <a:srgbClr val="002060"/>
                </a:solidFill>
                <a:latin typeface="+mn-ea"/>
              </a:rPr>
              <a:t>지오코딩</a:t>
            </a:r>
            <a:r>
              <a:rPr lang="en-US" altLang="ko-KR" b="1" spc="-100" dirty="0">
                <a:solidFill>
                  <a:srgbClr val="002060"/>
                </a:solidFill>
                <a:latin typeface="+mn-ea"/>
              </a:rPr>
              <a:t>)] </a:t>
            </a:r>
            <a:r>
              <a:rPr lang="ko-KR" altLang="en-US" b="1" spc="-100" dirty="0" err="1">
                <a:solidFill>
                  <a:srgbClr val="002060"/>
                </a:solidFill>
                <a:latin typeface="+mn-ea"/>
              </a:rPr>
              <a:t>위젯</a:t>
            </a:r>
            <a: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위도와 경도 정보를 이용하여 </a:t>
            </a:r>
            <a:b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지역 이름을 알려 주거나 그 반대 작업을 하는 </a:t>
            </a:r>
            <a:r>
              <a:rPr lang="ko-KR" altLang="en-US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위젯</a:t>
            </a:r>
            <a:endParaRPr lang="en-US" altLang="ko-KR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l"/>
            <a:endParaRPr lang="en-US" altLang="ko-KR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b="1" spc="-100" dirty="0">
                <a:solidFill>
                  <a:srgbClr val="002060"/>
                </a:solidFill>
                <a:latin typeface="+mn-ea"/>
              </a:rPr>
              <a:t>[Geo Map(</a:t>
            </a:r>
            <a:r>
              <a:rPr lang="ko-KR" altLang="en-US" b="1" spc="-100" dirty="0">
                <a:solidFill>
                  <a:srgbClr val="002060"/>
                </a:solidFill>
                <a:latin typeface="+mn-ea"/>
              </a:rPr>
              <a:t>지리 지도</a:t>
            </a:r>
            <a:r>
              <a:rPr lang="en-US" altLang="ko-KR" b="1" spc="-100" dirty="0">
                <a:solidFill>
                  <a:srgbClr val="002060"/>
                </a:solidFill>
                <a:latin typeface="+mn-ea"/>
              </a:rPr>
              <a:t>)] </a:t>
            </a:r>
            <a:r>
              <a:rPr lang="ko-KR" altLang="en-US" b="1" spc="-100" dirty="0" err="1">
                <a:solidFill>
                  <a:srgbClr val="002060"/>
                </a:solidFill>
                <a:latin typeface="+mn-ea"/>
              </a:rPr>
              <a:t>위젯</a:t>
            </a:r>
            <a: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지도에 데이터를 원으로 표시하는 </a:t>
            </a:r>
            <a:r>
              <a:rPr lang="ko-KR" altLang="en-US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위젯</a:t>
            </a:r>
            <a: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algn="l"/>
            <a:endParaRPr lang="en-US" altLang="ko-KR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b="1" spc="-100" dirty="0">
                <a:solidFill>
                  <a:srgbClr val="002060"/>
                </a:solidFill>
                <a:latin typeface="+mn-ea"/>
              </a:rPr>
              <a:t>[Choropleth Map(</a:t>
            </a:r>
            <a:r>
              <a:rPr lang="ko-KR" altLang="en-US" b="1" spc="-100" dirty="0">
                <a:solidFill>
                  <a:srgbClr val="002060"/>
                </a:solidFill>
                <a:latin typeface="+mn-ea"/>
              </a:rPr>
              <a:t>등치 지도</a:t>
            </a:r>
            <a:r>
              <a:rPr lang="en-US" altLang="ko-KR" b="1" spc="-100" dirty="0">
                <a:solidFill>
                  <a:srgbClr val="002060"/>
                </a:solidFill>
                <a:latin typeface="+mn-ea"/>
              </a:rPr>
              <a:t>)] </a:t>
            </a:r>
            <a:r>
              <a:rPr lang="ko-KR" altLang="en-US" b="1" spc="-100" dirty="0" err="1">
                <a:solidFill>
                  <a:srgbClr val="002060"/>
                </a:solidFill>
                <a:latin typeface="+mn-ea"/>
              </a:rPr>
              <a:t>위젯</a:t>
            </a:r>
            <a: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선택한 통계 변수에 따라 </a:t>
            </a:r>
            <a:br>
              <a:rPr lang="en-US" altLang="ko-KR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ko-KR" alt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영역의 색을 달리하여 지도에 데이터를 시각화하는 </a:t>
            </a:r>
            <a:r>
              <a:rPr lang="ko-KR" altLang="en-US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위젯</a:t>
            </a:r>
            <a:endParaRPr lang="en-US" altLang="ko-KR" spc="-1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8762D67-D00C-4529-9FBB-BEE3175FBD5B}"/>
              </a:ext>
            </a:extLst>
          </p:cNvPr>
          <p:cNvSpPr/>
          <p:nvPr/>
        </p:nvSpPr>
        <p:spPr>
          <a:xfrm>
            <a:off x="1763688" y="1234812"/>
            <a:ext cx="432048" cy="256818"/>
          </a:xfrm>
          <a:prstGeom prst="roundRect">
            <a:avLst/>
          </a:prstGeom>
          <a:solidFill>
            <a:srgbClr val="A5D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8" name="직사각형 7"/>
          <p:cNvSpPr/>
          <p:nvPr/>
        </p:nvSpPr>
        <p:spPr>
          <a:xfrm>
            <a:off x="1691680" y="1131590"/>
            <a:ext cx="6636641" cy="392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buClr>
                <a:schemeClr val="accent3">
                  <a:lumMod val="75000"/>
                </a:schemeClr>
              </a:buClr>
            </a:pPr>
            <a:r>
              <a:rPr lang="en-US" altLang="ko-KR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Geo  </a:t>
            </a:r>
            <a:r>
              <a:rPr lang="ko-KR" altLang="en-US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카테고리의 역할은 무엇이고 어떤 위젯이 있나요</a:t>
            </a:r>
            <a:r>
              <a:rPr lang="en-US" altLang="ko-KR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26897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748760" y="771550"/>
            <a:ext cx="7655805" cy="3528392"/>
          </a:xfrm>
          <a:prstGeom prst="roundRect">
            <a:avLst>
              <a:gd name="adj" fmla="val 5962"/>
            </a:avLst>
          </a:prstGeom>
          <a:solidFill>
            <a:srgbClr val="F2F9ED"/>
          </a:solidFill>
          <a:ln w="34925">
            <a:solidFill>
              <a:srgbClr val="ADDB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122" name="Picture 2" descr="C:\Users\PC\Desktop\정리하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2519"/>
            <a:ext cx="1218193" cy="53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79606-3A20-46C3-AD9C-C7B74410469A}"/>
              </a:ext>
            </a:extLst>
          </p:cNvPr>
          <p:cNvSpPr txBox="1"/>
          <p:nvPr/>
        </p:nvSpPr>
        <p:spPr>
          <a:xfrm>
            <a:off x="971600" y="1059582"/>
            <a:ext cx="72107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3100"/>
              </a:lnSpc>
              <a:defRPr spc="-100"/>
            </a:lvl1pPr>
          </a:lstStyle>
          <a:p>
            <a:pPr>
              <a:lnSpc>
                <a:spcPct val="120000"/>
              </a:lnSpc>
            </a:pPr>
            <a:r>
              <a:rPr lang="en-US" altLang="ko-KR" sz="1600" dirty="0">
                <a:latin typeface="+mn-ea"/>
              </a:rPr>
              <a:t>k-Means </a:t>
            </a:r>
            <a:r>
              <a:rPr lang="ko-KR" altLang="en-US" sz="1600" dirty="0">
                <a:latin typeface="+mn-ea"/>
              </a:rPr>
              <a:t>모델을 이용하여 서해안 지역의 택배 위치 데이터로 군집화를 해 보았다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600" dirty="0">
                <a:latin typeface="+mn-ea"/>
              </a:rPr>
              <a:t>현재 택배 </a:t>
            </a:r>
            <a:r>
              <a:rPr lang="ko-KR" altLang="en-US" sz="1600" dirty="0" err="1">
                <a:latin typeface="+mn-ea"/>
              </a:rPr>
              <a:t>집하장</a:t>
            </a:r>
            <a:r>
              <a:rPr lang="ko-KR" altLang="en-US" sz="1600" dirty="0">
                <a:latin typeface="+mn-ea"/>
              </a:rPr>
              <a:t> 선정 등은 행정 구역 위주로 운용된다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600" dirty="0">
                <a:latin typeface="+mn-ea"/>
              </a:rPr>
              <a:t>이 군집화를 통해 행정 구역 바탕이 아닌 군집화된 지역을 중심으로 운용하면 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인건비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유류비 등의 비용을 절감할 수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600" dirty="0">
                <a:solidFill>
                  <a:srgbClr val="002060"/>
                </a:solidFill>
                <a:latin typeface="+mn-ea"/>
              </a:rPr>
              <a:t>이처럼 군집화는 데이터에서 내가 알지 못했던 것을 발견하는 방법으로 </a:t>
            </a:r>
            <a:br>
              <a:rPr lang="en-US" altLang="ko-KR" sz="1600" dirty="0">
                <a:solidFill>
                  <a:srgbClr val="002060"/>
                </a:solidFill>
                <a:latin typeface="+mn-ea"/>
              </a:rPr>
            </a:br>
            <a:r>
              <a:rPr lang="ko-KR" altLang="en-US" sz="1600" dirty="0">
                <a:solidFill>
                  <a:srgbClr val="002060"/>
                </a:solidFill>
                <a:latin typeface="+mn-ea"/>
              </a:rPr>
              <a:t>사람이 파악하기 힘든 본질적인 문제나 숨겨진 특징 및 구조를 연구할 때 주로 사용 </a:t>
            </a:r>
            <a:br>
              <a:rPr lang="en-US" altLang="ko-KR" sz="1600" dirty="0">
                <a:solidFill>
                  <a:srgbClr val="002060"/>
                </a:solidFill>
                <a:latin typeface="+mn-ea"/>
              </a:rPr>
            </a:br>
            <a:r>
              <a:rPr lang="ko-KR" altLang="en-US" sz="1600" dirty="0">
                <a:solidFill>
                  <a:srgbClr val="002060"/>
                </a:solidFill>
                <a:latin typeface="+mn-ea"/>
              </a:rPr>
              <a:t>군집화와 같은 비지도 학습을 한 후 그 결과를 토대로 지도 학습을 다시 하는 경우도 있다</a:t>
            </a:r>
            <a:r>
              <a:rPr lang="en-US" altLang="ko-KR" sz="1600" dirty="0">
                <a:solidFill>
                  <a:srgbClr val="002060"/>
                </a:solidFill>
                <a:latin typeface="+mn-ea"/>
              </a:rPr>
              <a:t>.</a:t>
            </a:r>
            <a:endParaRPr lang="ko-KR" altLang="en-US" sz="1600" dirty="0">
              <a:solidFill>
                <a:srgbClr val="00206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765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58152"/>
            <a:ext cx="9144000" cy="76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ko-KR" altLang="en-US" sz="4400" b="1" spc="-2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anose="020B0503020000020004" pitchFamily="50" charset="-127"/>
              </a:rPr>
              <a:t>감사합니다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291830"/>
            <a:ext cx="1512167" cy="4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0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각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1506</Words>
  <Application>Microsoft Office PowerPoint</Application>
  <PresentationFormat>화면 슬라이드 쇼(16:9)</PresentationFormat>
  <Paragraphs>168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ITCGaramondStd-Lt</vt:lpstr>
      <vt:lpstr>YDVYGOStd32</vt:lpstr>
      <vt:lpstr>YDVYMjOStd33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489</cp:revision>
  <cp:lastPrinted>2021-11-23T02:37:31Z</cp:lastPrinted>
  <dcterms:created xsi:type="dcterms:W3CDTF">2021-11-22T04:32:39Z</dcterms:created>
  <dcterms:modified xsi:type="dcterms:W3CDTF">2023-05-19T01:54:46Z</dcterms:modified>
</cp:coreProperties>
</file>
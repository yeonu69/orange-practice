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7" r:id="rId2"/>
    <p:sldId id="256" r:id="rId3"/>
    <p:sldId id="293" r:id="rId4"/>
    <p:sldId id="259" r:id="rId5"/>
    <p:sldId id="260" r:id="rId6"/>
    <p:sldId id="291" r:id="rId7"/>
    <p:sldId id="292" r:id="rId8"/>
    <p:sldId id="305" r:id="rId9"/>
    <p:sldId id="261" r:id="rId10"/>
    <p:sldId id="262" r:id="rId11"/>
    <p:sldId id="294" r:id="rId12"/>
    <p:sldId id="269" r:id="rId13"/>
    <p:sldId id="283" r:id="rId14"/>
    <p:sldId id="285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276" r:id="rId26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600B"/>
    <a:srgbClr val="FD640F"/>
    <a:srgbClr val="FFF0C7"/>
    <a:srgbClr val="FEE7B8"/>
    <a:srgbClr val="C7EFE3"/>
    <a:srgbClr val="90F8BF"/>
    <a:srgbClr val="284D13"/>
    <a:srgbClr val="FEDAE8"/>
    <a:srgbClr val="EDB9D0"/>
    <a:srgbClr val="8BF8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72" autoAdjust="0"/>
    <p:restoredTop sz="94660"/>
  </p:normalViewPr>
  <p:slideViewPr>
    <p:cSldViewPr>
      <p:cViewPr varScale="1">
        <p:scale>
          <a:sx n="218" d="100"/>
          <a:sy n="218" d="100"/>
        </p:scale>
        <p:origin x="53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02" d="100"/>
          <a:sy n="102" d="100"/>
        </p:scale>
        <p:origin x="-255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17AAF-FE03-4DAC-946A-F1B0D37E46A6}" type="datetimeFigureOut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4DD33-6877-436E-99DE-74E15368C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3474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7488F-65C3-470C-8166-AAFA05B56DAD}" type="datetimeFigureOut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A622F-1489-47B2-A050-762639A9AB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1777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A622F-1489-47B2-A050-762639A9ABE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748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A622F-1489-47B2-A050-762639A9ABE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072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A622F-1489-47B2-A050-762639A9ABE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196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A622F-1489-47B2-A050-762639A9ABE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724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A622F-1489-47B2-A050-762639A9ABE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33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gradFill>
          <a:gsLst>
            <a:gs pos="0">
              <a:srgbClr val="CAD900"/>
            </a:gs>
            <a:gs pos="100000">
              <a:srgbClr val="EBFDA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PC\Desktop\adheherh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566" y="2574197"/>
            <a:ext cx="2493834" cy="222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PC\Desktop\제목 없음-1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925" y="372277"/>
            <a:ext cx="4248471" cy="4431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C:\Users\PC\Desktop\aehdzbb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948" y="3391469"/>
            <a:ext cx="1983546" cy="149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PC\Desktop\20220607_164334.jp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096526"/>
            <a:ext cx="459358" cy="50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368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PC\Desktop\A9RA0F1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44" b="32737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PC\Desktop\A9RA0F3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263" y="354013"/>
            <a:ext cx="4435475" cy="443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397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</a:t>
            </a:r>
            <a:r>
              <a:rPr kumimoji="0" lang="en-US" altLang="ko-KR" sz="9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ⓒ2023</a:t>
            </a:r>
            <a:r>
              <a:rPr kumimoji="0" lang="en-US" altLang="ko-KR" sz="900" baseline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76" name="Picture 4" descr="C:\Users\PC\Desktop\A9RA0FA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555526"/>
            <a:ext cx="4578698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7728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</a:t>
            </a:r>
            <a:r>
              <a:rPr kumimoji="0" lang="en-US" altLang="ko-KR" sz="9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ⓒ2023</a:t>
            </a:r>
            <a:r>
              <a:rPr kumimoji="0" lang="en-US" altLang="ko-KR" sz="900" baseline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4996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</a:t>
            </a:r>
            <a:r>
              <a:rPr kumimoji="0" lang="en-US" altLang="ko-KR" sz="9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ⓒ2023</a:t>
            </a:r>
            <a:r>
              <a:rPr kumimoji="0" lang="en-US" altLang="ko-KR" sz="900" baseline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218" name="Picture 2" descr="C:\Users\PC\Desktop\20211122_162623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3"/>
          <a:stretch/>
        </p:blipFill>
        <p:spPr bwMode="auto">
          <a:xfrm>
            <a:off x="660710" y="489767"/>
            <a:ext cx="3818422" cy="56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연결선 4"/>
          <p:cNvCxnSpPr/>
          <p:nvPr userDrawn="1"/>
        </p:nvCxnSpPr>
        <p:spPr>
          <a:xfrm>
            <a:off x="4443412" y="843558"/>
            <a:ext cx="3945012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headEnd type="none"/>
            <a:tailEnd type="oval" w="lg" len="lg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630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</a:t>
            </a:r>
            <a:r>
              <a:rPr kumimoji="0" lang="en-US" altLang="ko-KR" sz="9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ⓒ2023</a:t>
            </a:r>
            <a:r>
              <a:rPr kumimoji="0" lang="en-US" altLang="ko-KR" sz="900" baseline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242" name="Picture 2" descr="C:\Users\PC\Desktop\20211122_164015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1" y="922346"/>
            <a:ext cx="3096344" cy="2585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PC\Desktop\20211122_164015.jp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3" b="-1"/>
          <a:stretch/>
        </p:blipFill>
        <p:spPr bwMode="auto">
          <a:xfrm>
            <a:off x="611561" y="2882280"/>
            <a:ext cx="3096344" cy="1856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564119" y="569814"/>
            <a:ext cx="416675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sz="3200" b="1" spc="-150" dirty="0">
                <a:solidFill>
                  <a:srgbClr val="0070C0"/>
                </a:solidFill>
              </a:rPr>
              <a:t>AI</a:t>
            </a:r>
            <a:r>
              <a:rPr lang="ko-KR" altLang="en-US" sz="2000" b="1" spc="-150" dirty="0">
                <a:solidFill>
                  <a:srgbClr val="0070C0"/>
                </a:solidFill>
              </a:rPr>
              <a:t>랑</a:t>
            </a:r>
            <a:r>
              <a:rPr lang="ko-KR" altLang="en-US" sz="24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2000" b="1" spc="-150" dirty="0">
                <a:solidFill>
                  <a:srgbClr val="2AA79F"/>
                </a:solidFill>
              </a:rPr>
              <a:t>친해지기</a:t>
            </a:r>
            <a:endParaRPr lang="ko-KR" altLang="en-US" sz="2400" b="1" spc="-150" dirty="0">
              <a:solidFill>
                <a:srgbClr val="2AA79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496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</a:t>
            </a:r>
            <a:r>
              <a:rPr kumimoji="0" lang="en-US" altLang="ko-KR" sz="9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ⓒ2023</a:t>
            </a:r>
            <a:r>
              <a:rPr kumimoji="0" lang="en-US" altLang="ko-KR" sz="900" baseline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74" name="Picture 2" descr="C:\Users\PC\Desktop\20211206_154520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909" y="259675"/>
            <a:ext cx="8305965" cy="404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 userDrawn="1"/>
        </p:nvSpPr>
        <p:spPr>
          <a:xfrm>
            <a:off x="561323" y="626972"/>
            <a:ext cx="1044116" cy="675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2400"/>
              </a:lnSpc>
            </a:pPr>
            <a:r>
              <a:rPr lang="ko-KR" altLang="en-US" sz="1600" b="1" spc="-150" dirty="0">
                <a:solidFill>
                  <a:srgbClr val="023040"/>
                </a:solidFill>
              </a:rPr>
              <a:t>전문가</a:t>
            </a:r>
            <a:endParaRPr lang="en-US" altLang="ko-KR" sz="1600" b="1" spc="-150" dirty="0">
              <a:solidFill>
                <a:srgbClr val="023040"/>
              </a:solidFill>
            </a:endParaRPr>
          </a:p>
          <a:p>
            <a:pPr algn="r">
              <a:lnSpc>
                <a:spcPts val="2400"/>
              </a:lnSpc>
            </a:pPr>
            <a:r>
              <a:rPr lang="en-US" altLang="ko-KR" sz="1600" b="1" spc="-150" baseline="0" dirty="0">
                <a:solidFill>
                  <a:srgbClr val="023040"/>
                </a:solidFill>
              </a:rPr>
              <a:t>   </a:t>
            </a:r>
            <a:r>
              <a:rPr lang="ko-KR" altLang="en-US" sz="1600" b="1" spc="-150" dirty="0">
                <a:solidFill>
                  <a:srgbClr val="023040"/>
                </a:solidFill>
              </a:rPr>
              <a:t>되기</a:t>
            </a:r>
          </a:p>
        </p:txBody>
      </p:sp>
    </p:spTree>
    <p:extLst>
      <p:ext uri="{BB962C8B-B14F-4D97-AF65-F5344CB8AC3E}">
        <p14:creationId xmlns:p14="http://schemas.microsoft.com/office/powerpoint/2010/main" val="101527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</a:t>
            </a:r>
            <a:r>
              <a:rPr kumimoji="0" lang="en-US" altLang="ko-KR" sz="9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ⓒ2023</a:t>
            </a:r>
            <a:r>
              <a:rPr kumimoji="0" lang="en-US" altLang="ko-KR" sz="900" baseline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모서리가 둥근 직사각형 3"/>
          <p:cNvSpPr/>
          <p:nvPr userDrawn="1"/>
        </p:nvSpPr>
        <p:spPr>
          <a:xfrm>
            <a:off x="748760" y="1434480"/>
            <a:ext cx="7655805" cy="3225502"/>
          </a:xfrm>
          <a:prstGeom prst="roundRect">
            <a:avLst>
              <a:gd name="adj" fmla="val 5962"/>
            </a:avLst>
          </a:prstGeom>
          <a:solidFill>
            <a:srgbClr val="E4ED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6" descr="C:\Users\PC\Desktop\dahaher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133" y="1107473"/>
            <a:ext cx="1152128" cy="50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423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PC\Desktop\A9RA0F1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44" b="32737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 descr="C:\Users\PC\Desktop\A9RA0F3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263" y="354013"/>
            <a:ext cx="4435475" cy="443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/>
          <p:cNvSpPr/>
          <p:nvPr userDrawn="1"/>
        </p:nvSpPr>
        <p:spPr>
          <a:xfrm>
            <a:off x="4211960" y="1203598"/>
            <a:ext cx="792088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024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4211960" y="1203598"/>
            <a:ext cx="792088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781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3897F-199E-4F49-AA54-E877A67F5BFF}" type="datetimeFigureOut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F2706-E937-4004-98DD-DF74E81139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122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49" r:id="rId2"/>
    <p:sldLayoutId id="2147483660" r:id="rId3"/>
    <p:sldLayoutId id="2147483661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55" r:id="rId10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youtube.com/watch?v=qbGMvMfaxHg&amp;list=PLdSz724zUrUgZG_lPNtFB8F-VBZ_gC5oL&amp;index=1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orangedatamining.com/download/#windows" TargetMode="Externa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025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79912" y="722457"/>
            <a:ext cx="179921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dirty="0">
                <a:solidFill>
                  <a:srgbClr val="78B832"/>
                </a:solidFill>
                <a:latin typeface="+mj-lt"/>
                <a:ea typeface="맑은 고딕" panose="020B0503020000020004" pitchFamily="50" charset="-127"/>
              </a:rPr>
              <a:t>Part1</a:t>
            </a:r>
            <a:endParaRPr lang="ko-KR" altLang="en-US" sz="5000" b="1" dirty="0">
              <a:solidFill>
                <a:srgbClr val="78B832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595619"/>
            <a:ext cx="9144000" cy="1472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altLang="ko-KR" sz="3800" b="1" spc="-250" dirty="0">
                <a:latin typeface="+mj-lt"/>
                <a:ea typeface="맑은 고딕" panose="020B0503020000020004" pitchFamily="50" charset="-127"/>
              </a:rPr>
              <a:t>Orange3</a:t>
            </a:r>
          </a:p>
          <a:p>
            <a:pPr algn="ctr">
              <a:lnSpc>
                <a:spcPts val="5700"/>
              </a:lnSpc>
            </a:pPr>
            <a:r>
              <a:rPr lang="ko-KR" altLang="en-US" sz="3800" b="1" spc="-250" dirty="0">
                <a:latin typeface="+mj-lt"/>
                <a:ea typeface="맑은 고딕" panose="020B0503020000020004" pitchFamily="50" charset="-127"/>
              </a:rPr>
              <a:t>제대로</a:t>
            </a:r>
            <a:r>
              <a:rPr lang="ko-KR" altLang="en-US" sz="3800" b="1" spc="-250" dirty="0">
                <a:solidFill>
                  <a:srgbClr val="619428"/>
                </a:solidFill>
                <a:latin typeface="+mj-lt"/>
                <a:ea typeface="맑은 고딕" panose="020B0503020000020004" pitchFamily="50" charset="-127"/>
              </a:rPr>
              <a:t> </a:t>
            </a:r>
            <a:r>
              <a:rPr lang="ko-KR" altLang="en-US" sz="3800" b="1" spc="-250" dirty="0">
                <a:solidFill>
                  <a:srgbClr val="EF7E01"/>
                </a:solidFill>
                <a:latin typeface="+mj-lt"/>
                <a:ea typeface="맑은 고딕" panose="020B0503020000020004" pitchFamily="50" charset="-127"/>
              </a:rPr>
              <a:t>시작</a:t>
            </a:r>
            <a:r>
              <a:rPr lang="ko-KR" altLang="en-US" sz="3800" b="1" spc="-250" dirty="0">
                <a:latin typeface="+mj-lt"/>
                <a:ea typeface="맑은 고딕" panose="020B0503020000020004" pitchFamily="50" charset="-127"/>
              </a:rPr>
              <a:t>하기</a:t>
            </a:r>
            <a:r>
              <a:rPr lang="en-US" altLang="ko-KR" sz="3800" b="1" spc="-250" dirty="0">
                <a:latin typeface="+mj-lt"/>
                <a:ea typeface="맑은 고딕" panose="020B0503020000020004" pitchFamily="50" charset="-127"/>
              </a:rPr>
              <a:t>!</a:t>
            </a:r>
            <a:endParaRPr lang="ko-KR" altLang="en-US" sz="3800" b="1" spc="-250" dirty="0"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5253" y="3215846"/>
            <a:ext cx="9144000" cy="1051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altLang="ko-KR" sz="1400" b="1" i="0" u="none" strike="noStrike" baseline="0" dirty="0">
                <a:latin typeface="+mn-ea"/>
              </a:rPr>
              <a:t>Orange3</a:t>
            </a:r>
            <a:r>
              <a:rPr lang="ko-KR" altLang="en-US" sz="1400" b="1" i="0" u="none" strike="noStrike" spc="-150" baseline="0" dirty="0">
                <a:latin typeface="+mn-ea"/>
              </a:rPr>
              <a:t>가 어떤 도구인지 알아보고</a:t>
            </a:r>
            <a:r>
              <a:rPr lang="en-US" altLang="ko-KR" sz="1400" b="1" i="0" u="none" strike="noStrike" spc="-150" baseline="0" dirty="0">
                <a:latin typeface="+mn-ea"/>
              </a:rPr>
              <a:t>,</a:t>
            </a:r>
          </a:p>
          <a:p>
            <a:pPr algn="ctr">
              <a:lnSpc>
                <a:spcPts val="2600"/>
              </a:lnSpc>
            </a:pPr>
            <a:r>
              <a:rPr lang="en-US" altLang="ko-KR" sz="1400" b="1" i="0" u="none" strike="noStrike" baseline="0">
                <a:latin typeface="+mn-ea"/>
              </a:rPr>
              <a:t>Orange3</a:t>
            </a:r>
            <a:r>
              <a:rPr lang="ko-KR" altLang="en-US" sz="1400" b="1" spc="-150">
                <a:latin typeface="+mn-ea"/>
              </a:rPr>
              <a:t>에서</a:t>
            </a:r>
            <a:r>
              <a:rPr lang="en-US" altLang="ko-KR" sz="1400" b="1" spc="-150">
                <a:latin typeface="+mn-ea"/>
              </a:rPr>
              <a:t> </a:t>
            </a:r>
            <a:r>
              <a:rPr lang="ko-KR" altLang="en-US" sz="1400" b="1" spc="-150" dirty="0">
                <a:latin typeface="+mn-ea"/>
              </a:rPr>
              <a:t>제공하는 주요 기능을 </a:t>
            </a:r>
            <a:endParaRPr lang="en-US" altLang="ko-KR" sz="1400" b="1" spc="-150" dirty="0">
              <a:latin typeface="+mn-ea"/>
            </a:endParaRPr>
          </a:p>
          <a:p>
            <a:pPr algn="ctr">
              <a:lnSpc>
                <a:spcPts val="2600"/>
              </a:lnSpc>
            </a:pPr>
            <a:r>
              <a:rPr lang="ko-KR" altLang="en-US" sz="1400" b="1" spc="-150" dirty="0">
                <a:latin typeface="+mn-ea"/>
              </a:rPr>
              <a:t>살펴보자</a:t>
            </a:r>
            <a:r>
              <a:rPr lang="en-US" altLang="ko-KR" sz="1400" b="1" spc="-150" dirty="0">
                <a:latin typeface="+mn-ea"/>
              </a:rPr>
              <a:t>.</a:t>
            </a:r>
            <a:endParaRPr lang="ko-KR" altLang="en-US" sz="1400" b="1" spc="-150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733E64-7D05-46FB-A351-969355E23036}"/>
              </a:ext>
            </a:extLst>
          </p:cNvPr>
          <p:cNvSpPr txBox="1"/>
          <p:nvPr/>
        </p:nvSpPr>
        <p:spPr>
          <a:xfrm>
            <a:off x="6300192" y="4346206"/>
            <a:ext cx="1876414" cy="63094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/>
              <a:t>참고 영상</a:t>
            </a:r>
            <a:endParaRPr lang="en-US" altLang="ko-KR" sz="1600"/>
          </a:p>
          <a:p>
            <a:r>
              <a:rPr lang="en-US" altLang="ko-KR" sz="1100">
                <a:solidFill>
                  <a:srgbClr val="F9600B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Orange3 </a:t>
            </a:r>
            <a:r>
              <a:rPr lang="ko-KR" altLang="en-US" sz="1100">
                <a:solidFill>
                  <a:srgbClr val="F9600B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제대로 시작하기</a:t>
            </a:r>
            <a:endParaRPr lang="ko-KR" altLang="en-US" sz="1100">
              <a:solidFill>
                <a:srgbClr val="F9600B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C874FD9-BD85-457B-ABF6-8E64340A4D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606" y="4153124"/>
            <a:ext cx="942865" cy="101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174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634673" y="384676"/>
            <a:ext cx="4523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3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ko-KR" altLang="en-US" sz="36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5141" y="537104"/>
            <a:ext cx="4166753" cy="420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Orange3 </a:t>
            </a:r>
            <a:r>
              <a:rPr lang="ko-KR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란</a:t>
            </a:r>
            <a:r>
              <a:rPr lang="en-US" altLang="ko-KR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22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AA85717-614E-4AB4-B2AA-E1641735B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203598"/>
            <a:ext cx="6336705" cy="35552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3" descr="D:\Choihaitnim\2. 정보\!!정보단행본\오렌지\!교수학습자료\PPT\!이전 파일\PPT용 도비라 캐릭터 취합\활동1\20211206_131217.jpg">
            <a:extLst>
              <a:ext uri="{FF2B5EF4-FFF2-40B4-BE49-F238E27FC236}">
                <a16:creationId xmlns:a16="http://schemas.microsoft.com/office/drawing/2014/main" id="{BCBD9CD9-3494-4B70-B8F2-DF1EC6ACA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6660" y="3866669"/>
            <a:ext cx="1231393" cy="93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말풍선: 타원형 6">
            <a:extLst>
              <a:ext uri="{FF2B5EF4-FFF2-40B4-BE49-F238E27FC236}">
                <a16:creationId xmlns:a16="http://schemas.microsoft.com/office/drawing/2014/main" id="{E67EAB76-9BE4-4397-908D-ECFFF3CE1D46}"/>
              </a:ext>
            </a:extLst>
          </p:cNvPr>
          <p:cNvSpPr/>
          <p:nvPr/>
        </p:nvSpPr>
        <p:spPr>
          <a:xfrm flipH="1">
            <a:off x="6778221" y="3003797"/>
            <a:ext cx="1839832" cy="686702"/>
          </a:xfrm>
          <a:prstGeom prst="wedgeEllipseCallout">
            <a:avLst>
              <a:gd name="adj1" fmla="val -2132"/>
              <a:gd name="adj2" fmla="val 90642"/>
            </a:avLst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5D1954-1AC5-46F2-BB9E-2FDC5B4EF70A}"/>
              </a:ext>
            </a:extLst>
          </p:cNvPr>
          <p:cNvSpPr txBox="1"/>
          <p:nvPr/>
        </p:nvSpPr>
        <p:spPr>
          <a:xfrm>
            <a:off x="6908632" y="3116316"/>
            <a:ext cx="2055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pc="3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Orange3</a:t>
            </a:r>
            <a:r>
              <a:rPr lang="ko-KR" altLang="en-US" sz="1200" b="1" dirty="0">
                <a:latin typeface="+mn-ea"/>
              </a:rPr>
              <a:t>가 어떤 </a:t>
            </a:r>
            <a:endParaRPr lang="en-US" altLang="ko-KR" sz="1200" b="1" dirty="0">
              <a:latin typeface="+mn-ea"/>
            </a:endParaRPr>
          </a:p>
          <a:p>
            <a:r>
              <a:rPr lang="ko-KR" altLang="en-US" sz="1200" b="1" dirty="0">
                <a:latin typeface="+mn-ea"/>
              </a:rPr>
              <a:t>도구인지 알아보자</a:t>
            </a:r>
            <a:r>
              <a:rPr lang="en-US" altLang="ko-KR" sz="1200" b="1" dirty="0">
                <a:latin typeface="+mn-ea"/>
              </a:rPr>
              <a:t>!</a:t>
            </a:r>
            <a:endParaRPr lang="ko-KR" altLang="en-US" sz="1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42241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634673" y="384676"/>
            <a:ext cx="4523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3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ko-KR" altLang="en-US" sz="36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5141" y="537104"/>
            <a:ext cx="4166753" cy="420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Orange3 </a:t>
            </a:r>
            <a:r>
              <a:rPr lang="ko-KR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설치하기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C109E7-EEAF-4256-8A6E-6BBEB792D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71" y="1203598"/>
            <a:ext cx="5904678" cy="36441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1B38E01-B3C6-4F05-A1B5-D9D70EF1C7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3435846"/>
            <a:ext cx="1152149" cy="125097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98914C6-9E17-4E25-BDAF-16B3FDE7C0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89578">
            <a:off x="6985400" y="3173919"/>
            <a:ext cx="335685" cy="4503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E6C56F-0116-48E9-9205-EDA371B9CBEE}"/>
              </a:ext>
            </a:extLst>
          </p:cNvPr>
          <p:cNvSpPr txBox="1"/>
          <p:nvPr/>
        </p:nvSpPr>
        <p:spPr>
          <a:xfrm>
            <a:off x="2339752" y="1862703"/>
            <a:ext cx="396044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/>
              <a:t>(</a:t>
            </a:r>
            <a:r>
              <a:rPr lang="en-US" altLang="ko-KR" sz="1200">
                <a:hlinkClick r:id="rId5"/>
              </a:rPr>
              <a:t>https://orangedatamining.com/download/#windows</a:t>
            </a:r>
            <a:r>
              <a:rPr lang="en-US" altLang="ko-KR" sz="1200"/>
              <a:t>)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448449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359D1DE-2859-4D6A-994C-72EC8DD78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411510"/>
            <a:ext cx="7200799" cy="424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798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6672F49-51CC-41D0-8421-8F0BF291E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843558"/>
            <a:ext cx="8157480" cy="304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414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83B063B-1465-4C56-ACA0-CA5D0E424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1851670"/>
            <a:ext cx="3147286" cy="266429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7FC2421-F7C0-4D1C-AD97-874AF8791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7" y="771550"/>
            <a:ext cx="6785248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94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0BD4F21-2DCD-4AD1-9907-F8076A9E2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1635646"/>
            <a:ext cx="3584850" cy="266429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CBD2A5F-B12E-4F84-A57E-8241DF5E5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699542"/>
            <a:ext cx="7015342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078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34673" y="384676"/>
            <a:ext cx="4523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3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ko-KR" altLang="en-US" sz="36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5141" y="537104"/>
            <a:ext cx="4166753" cy="420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Orange3</a:t>
            </a:r>
            <a:r>
              <a:rPr lang="ko-KR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플랫폼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C2569E9-BC6D-469C-8304-C17D65BF9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131590"/>
            <a:ext cx="3960440" cy="3627234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E7D51CC5-4358-42E5-8666-CA23B3CEE63A}"/>
              </a:ext>
            </a:extLst>
          </p:cNvPr>
          <p:cNvSpPr/>
          <p:nvPr/>
        </p:nvSpPr>
        <p:spPr>
          <a:xfrm>
            <a:off x="827584" y="1224000"/>
            <a:ext cx="1260000" cy="994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B7CF7EE-660E-41DA-9F87-A5BB918BF7BC}"/>
              </a:ext>
            </a:extLst>
          </p:cNvPr>
          <p:cNvCxnSpPr>
            <a:cxnSpLocks/>
          </p:cNvCxnSpPr>
          <p:nvPr/>
        </p:nvCxnSpPr>
        <p:spPr>
          <a:xfrm>
            <a:off x="2087584" y="1273702"/>
            <a:ext cx="39618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99FA884-97A1-44F6-83AF-982182A4D76F}"/>
              </a:ext>
            </a:extLst>
          </p:cNvPr>
          <p:cNvSpPr txBox="1"/>
          <p:nvPr/>
        </p:nvSpPr>
        <p:spPr>
          <a:xfrm>
            <a:off x="2452496" y="1142270"/>
            <a:ext cx="1115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  <a:latin typeface="+mj-ea"/>
                <a:ea typeface="+mj-ea"/>
              </a:rPr>
              <a:t>Orange3 </a:t>
            </a:r>
            <a:r>
              <a:rPr lang="ko-KR" altLang="en-US" sz="900" dirty="0">
                <a:highlight>
                  <a:srgbClr val="FFFF00"/>
                </a:highlight>
                <a:latin typeface="+mj-ea"/>
                <a:ea typeface="+mj-ea"/>
              </a:rPr>
              <a:t>작업에</a:t>
            </a:r>
            <a:r>
              <a:rPr lang="en-US" altLang="ko-KR" sz="900" dirty="0">
                <a:highlight>
                  <a:srgbClr val="FFFF00"/>
                </a:highlight>
                <a:latin typeface="+mj-ea"/>
                <a:ea typeface="+mj-ea"/>
              </a:rPr>
              <a:t> </a:t>
            </a:r>
          </a:p>
          <a:p>
            <a:r>
              <a:rPr lang="ko-KR" altLang="en-US" sz="900" dirty="0">
                <a:highlight>
                  <a:srgbClr val="FFFF00"/>
                </a:highlight>
                <a:latin typeface="+mj-ea"/>
                <a:ea typeface="+mj-ea"/>
              </a:rPr>
              <a:t>필요한 기능 지원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3819A57-9DFB-4E85-BAA2-42B7E1CFDC78}"/>
              </a:ext>
            </a:extLst>
          </p:cNvPr>
          <p:cNvSpPr/>
          <p:nvPr/>
        </p:nvSpPr>
        <p:spPr>
          <a:xfrm>
            <a:off x="827584" y="1368000"/>
            <a:ext cx="1116000" cy="271591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D9C52D1-46ED-4DD2-82F9-94F9AC3A3725}"/>
              </a:ext>
            </a:extLst>
          </p:cNvPr>
          <p:cNvCxnSpPr>
            <a:cxnSpLocks/>
          </p:cNvCxnSpPr>
          <p:nvPr/>
        </p:nvCxnSpPr>
        <p:spPr>
          <a:xfrm>
            <a:off x="1961500" y="3651870"/>
            <a:ext cx="486404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C596D55-59DD-4F96-BA92-7F644D9A2399}"/>
              </a:ext>
            </a:extLst>
          </p:cNvPr>
          <p:cNvSpPr txBox="1"/>
          <p:nvPr/>
        </p:nvSpPr>
        <p:spPr>
          <a:xfrm>
            <a:off x="2416076" y="3489270"/>
            <a:ext cx="1075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highlight>
                  <a:srgbClr val="FFFF00"/>
                </a:highlight>
                <a:latin typeface="+mj-ea"/>
                <a:ea typeface="+mj-ea"/>
              </a:rPr>
              <a:t>위젯이 정렬 되어있는 카테고리</a:t>
            </a:r>
            <a:endParaRPr lang="en-US" altLang="ko-KR" sz="900" dirty="0">
              <a:highlight>
                <a:srgbClr val="FFFF00"/>
              </a:highlight>
              <a:latin typeface="+mj-ea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D52A234-4CB5-4EA1-8E6A-72421DC59EBC}"/>
              </a:ext>
            </a:extLst>
          </p:cNvPr>
          <p:cNvSpPr/>
          <p:nvPr/>
        </p:nvSpPr>
        <p:spPr>
          <a:xfrm>
            <a:off x="827584" y="4140001"/>
            <a:ext cx="1133916" cy="46639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37B4A6CD-868E-4331-9E4E-3242A5FE988B}"/>
              </a:ext>
            </a:extLst>
          </p:cNvPr>
          <p:cNvCxnSpPr/>
          <p:nvPr/>
        </p:nvCxnSpPr>
        <p:spPr>
          <a:xfrm>
            <a:off x="1976758" y="4227934"/>
            <a:ext cx="252168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192E932-539F-4B22-800A-5BC05E918077}"/>
              </a:ext>
            </a:extLst>
          </p:cNvPr>
          <p:cNvSpPr txBox="1"/>
          <p:nvPr/>
        </p:nvSpPr>
        <p:spPr>
          <a:xfrm>
            <a:off x="2204702" y="4043268"/>
            <a:ext cx="155034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highlight>
                  <a:srgbClr val="FFFF00"/>
                </a:highlight>
                <a:latin typeface="+mj-ea"/>
                <a:ea typeface="+mj-ea"/>
              </a:rPr>
              <a:t>위젯 위에 마우스 커서를 올리면 위젯 이름과 위젯 설명 출력</a:t>
            </a:r>
            <a:endParaRPr lang="en-US" altLang="ko-KR" sz="900" dirty="0">
              <a:highlight>
                <a:srgbClr val="FFFF00"/>
              </a:highlight>
              <a:latin typeface="+mj-ea"/>
              <a:ea typeface="+mj-ea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FE85AE3-17AD-43C7-AD06-1B1568474419}"/>
              </a:ext>
            </a:extLst>
          </p:cNvPr>
          <p:cNvSpPr/>
          <p:nvPr/>
        </p:nvSpPr>
        <p:spPr>
          <a:xfrm>
            <a:off x="827584" y="4636800"/>
            <a:ext cx="1133916" cy="1260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1BB271-B884-4FAB-9800-AFBBC514406C}"/>
              </a:ext>
            </a:extLst>
          </p:cNvPr>
          <p:cNvSpPr txBox="1"/>
          <p:nvPr/>
        </p:nvSpPr>
        <p:spPr>
          <a:xfrm>
            <a:off x="5400961" y="4127971"/>
            <a:ext cx="233939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highlight>
                  <a:srgbClr val="FFFF00"/>
                </a:highlight>
                <a:latin typeface="+mj-ea"/>
                <a:ea typeface="+mj-ea"/>
              </a:rPr>
              <a:t>작업 정보 작성</a:t>
            </a:r>
            <a:r>
              <a:rPr lang="en-US" altLang="ko-KR" sz="900" dirty="0">
                <a:highlight>
                  <a:srgbClr val="FFFF00"/>
                </a:highlight>
                <a:latin typeface="+mj-ea"/>
                <a:ea typeface="+mj-ea"/>
              </a:rPr>
              <a:t>, </a:t>
            </a:r>
            <a:r>
              <a:rPr lang="ko-KR" altLang="en-US" sz="900" dirty="0">
                <a:highlight>
                  <a:srgbClr val="FFFF00"/>
                </a:highlight>
                <a:latin typeface="+mj-ea"/>
                <a:ea typeface="+mj-ea"/>
              </a:rPr>
              <a:t>위젯 정렬</a:t>
            </a:r>
            <a:r>
              <a:rPr lang="en-US" altLang="ko-KR" sz="900" dirty="0">
                <a:highlight>
                  <a:srgbClr val="FFFF00"/>
                </a:highlight>
                <a:latin typeface="+mj-ea"/>
                <a:ea typeface="+mj-ea"/>
              </a:rPr>
              <a:t>, </a:t>
            </a:r>
            <a:r>
              <a:rPr lang="ko-KR" altLang="en-US" sz="900" dirty="0">
                <a:highlight>
                  <a:srgbClr val="FFFF00"/>
                </a:highlight>
                <a:latin typeface="+mj-ea"/>
                <a:ea typeface="+mj-ea"/>
              </a:rPr>
              <a:t>텍스트 주석</a:t>
            </a:r>
            <a:r>
              <a:rPr lang="en-US" altLang="ko-KR" sz="900" dirty="0">
                <a:highlight>
                  <a:srgbClr val="FFFF00"/>
                </a:highlight>
                <a:latin typeface="+mj-ea"/>
                <a:ea typeface="+mj-ea"/>
              </a:rPr>
              <a:t>, </a:t>
            </a:r>
            <a:r>
              <a:rPr lang="ko-KR" altLang="en-US" sz="900" dirty="0">
                <a:highlight>
                  <a:srgbClr val="FFFF00"/>
                </a:highlight>
                <a:latin typeface="+mj-ea"/>
                <a:ea typeface="+mj-ea"/>
              </a:rPr>
              <a:t>화살표추가</a:t>
            </a:r>
            <a:r>
              <a:rPr lang="en-US" altLang="ko-KR" sz="900" dirty="0">
                <a:highlight>
                  <a:srgbClr val="FFFF00"/>
                </a:highlight>
                <a:latin typeface="+mj-ea"/>
                <a:ea typeface="+mj-ea"/>
              </a:rPr>
              <a:t>, </a:t>
            </a:r>
            <a:r>
              <a:rPr lang="ko-KR" altLang="en-US" sz="900" dirty="0">
                <a:highlight>
                  <a:srgbClr val="FFFF00"/>
                </a:highlight>
                <a:latin typeface="+mj-ea"/>
                <a:ea typeface="+mj-ea"/>
              </a:rPr>
              <a:t>작업 실행 일시 정지</a:t>
            </a:r>
            <a:r>
              <a:rPr lang="en-US" altLang="ko-KR" sz="900" dirty="0">
                <a:highlight>
                  <a:srgbClr val="FFFF00"/>
                </a:highlight>
                <a:latin typeface="+mj-ea"/>
                <a:ea typeface="+mj-ea"/>
              </a:rPr>
              <a:t>, </a:t>
            </a:r>
            <a:r>
              <a:rPr lang="ko-KR" altLang="en-US" sz="900" dirty="0">
                <a:highlight>
                  <a:srgbClr val="FFFF00"/>
                </a:highlight>
                <a:latin typeface="+mj-ea"/>
                <a:ea typeface="+mj-ea"/>
              </a:rPr>
              <a:t>도움 창 활성화 등의 기능 지원</a:t>
            </a:r>
            <a:endParaRPr lang="en-US" altLang="ko-KR" sz="900" dirty="0">
              <a:highlight>
                <a:srgbClr val="FFFF00"/>
              </a:highlight>
              <a:latin typeface="+mj-ea"/>
              <a:ea typeface="+mj-ea"/>
            </a:endParaRPr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210256D8-E3DC-43DF-8B50-629A520ED6DB}"/>
              </a:ext>
            </a:extLst>
          </p:cNvPr>
          <p:cNvCxnSpPr>
            <a:cxnSpLocks/>
            <a:stCxn id="30" idx="3"/>
            <a:endCxn id="32" idx="1"/>
          </p:cNvCxnSpPr>
          <p:nvPr/>
        </p:nvCxnSpPr>
        <p:spPr>
          <a:xfrm flipV="1">
            <a:off x="1961500" y="4381887"/>
            <a:ext cx="3439461" cy="317913"/>
          </a:xfrm>
          <a:prstGeom prst="bentConnector3">
            <a:avLst>
              <a:gd name="adj1" fmla="val 50000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그림 41">
            <a:extLst>
              <a:ext uri="{FF2B5EF4-FFF2-40B4-BE49-F238E27FC236}">
                <a16:creationId xmlns:a16="http://schemas.microsoft.com/office/drawing/2014/main" id="{7903BD36-7D24-4118-A195-211B6CDF5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088" y="1032882"/>
            <a:ext cx="3096344" cy="2186940"/>
          </a:xfrm>
          <a:prstGeom prst="rect">
            <a:avLst/>
          </a:prstGeom>
        </p:spPr>
      </p:pic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53312A0A-0AF2-4DDA-BF6A-79D69443123C}"/>
              </a:ext>
            </a:extLst>
          </p:cNvPr>
          <p:cNvSpPr/>
          <p:nvPr/>
        </p:nvSpPr>
        <p:spPr>
          <a:xfrm>
            <a:off x="4691822" y="2139701"/>
            <a:ext cx="568734" cy="387163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6FA3EC-E813-4341-B4C7-360CC3F151EE}"/>
              </a:ext>
            </a:extLst>
          </p:cNvPr>
          <p:cNvSpPr txBox="1"/>
          <p:nvPr/>
        </p:nvSpPr>
        <p:spPr>
          <a:xfrm>
            <a:off x="7058726" y="392655"/>
            <a:ext cx="1450601" cy="287715"/>
          </a:xfrm>
          <a:prstGeom prst="roundRect">
            <a:avLst>
              <a:gd name="adj" fmla="val 7104"/>
            </a:avLst>
          </a:prstGeom>
          <a:solidFill>
            <a:srgbClr val="E2ECAE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>
                <a:latin typeface="+mj-ea"/>
                <a:ea typeface="+mj-ea"/>
              </a:rPr>
              <a:t>기본 화면 </a:t>
            </a:r>
            <a:r>
              <a:rPr lang="ko-KR" altLang="en-US" sz="1200" b="1" dirty="0">
                <a:latin typeface="+mj-ea"/>
                <a:ea typeface="+mj-ea"/>
              </a:rPr>
              <a:t>구성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C16E4668-1AC8-4942-89B9-DE8448118AFA}"/>
              </a:ext>
            </a:extLst>
          </p:cNvPr>
          <p:cNvSpPr/>
          <p:nvPr/>
        </p:nvSpPr>
        <p:spPr>
          <a:xfrm>
            <a:off x="5925600" y="1432800"/>
            <a:ext cx="360000" cy="360000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5554CDD8-35EF-4107-B90C-E99713E918FF}"/>
              </a:ext>
            </a:extLst>
          </p:cNvPr>
          <p:cNvSpPr/>
          <p:nvPr/>
        </p:nvSpPr>
        <p:spPr>
          <a:xfrm>
            <a:off x="6740313" y="1427044"/>
            <a:ext cx="360000" cy="360000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55039696-B388-4202-B211-FF7C7ED58559}"/>
              </a:ext>
            </a:extLst>
          </p:cNvPr>
          <p:cNvSpPr/>
          <p:nvPr/>
        </p:nvSpPr>
        <p:spPr>
          <a:xfrm>
            <a:off x="7545600" y="1432800"/>
            <a:ext cx="360000" cy="360000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7A36A15-6E8D-4014-8571-60B1E954803E}"/>
              </a:ext>
            </a:extLst>
          </p:cNvPr>
          <p:cNvCxnSpPr>
            <a:cxnSpLocks/>
            <a:stCxn id="45" idx="5"/>
          </p:cNvCxnSpPr>
          <p:nvPr/>
        </p:nvCxnSpPr>
        <p:spPr>
          <a:xfrm>
            <a:off x="6232879" y="1740079"/>
            <a:ext cx="0" cy="27000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65570B0-5AEA-4B85-97BC-C9FB0A2EB84B}"/>
              </a:ext>
            </a:extLst>
          </p:cNvPr>
          <p:cNvSpPr txBox="1"/>
          <p:nvPr/>
        </p:nvSpPr>
        <p:spPr>
          <a:xfrm>
            <a:off x="5771942" y="1973923"/>
            <a:ext cx="7478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highlight>
                  <a:srgbClr val="E6F3DD"/>
                </a:highlight>
                <a:latin typeface="+mj-ea"/>
                <a:ea typeface="+mj-ea"/>
              </a:rPr>
              <a:t>새로 만들기</a:t>
            </a: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5AF89BDE-402A-449A-AA48-8812B3FCBD8A}"/>
              </a:ext>
            </a:extLst>
          </p:cNvPr>
          <p:cNvCxnSpPr>
            <a:cxnSpLocks/>
          </p:cNvCxnSpPr>
          <p:nvPr/>
        </p:nvCxnSpPr>
        <p:spPr>
          <a:xfrm>
            <a:off x="7884368" y="1697044"/>
            <a:ext cx="0" cy="298642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54BF80D-A8E3-4BA3-800F-8FCD81236B6A}"/>
              </a:ext>
            </a:extLst>
          </p:cNvPr>
          <p:cNvSpPr txBox="1"/>
          <p:nvPr/>
        </p:nvSpPr>
        <p:spPr>
          <a:xfrm>
            <a:off x="6590687" y="1968635"/>
            <a:ext cx="8991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highlight>
                  <a:srgbClr val="E6F3DD"/>
                </a:highlight>
                <a:latin typeface="+mn-ea"/>
              </a:rPr>
              <a:t>기존 파일 열기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24CE7729-396C-4F9B-928D-C919D5912C67}"/>
              </a:ext>
            </a:extLst>
          </p:cNvPr>
          <p:cNvCxnSpPr>
            <a:cxnSpLocks/>
          </p:cNvCxnSpPr>
          <p:nvPr/>
        </p:nvCxnSpPr>
        <p:spPr>
          <a:xfrm>
            <a:off x="7068570" y="1708279"/>
            <a:ext cx="0" cy="28800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6C584BF3-D9A0-4EAA-B42D-6D1083CE0F48}"/>
              </a:ext>
            </a:extLst>
          </p:cNvPr>
          <p:cNvSpPr txBox="1"/>
          <p:nvPr/>
        </p:nvSpPr>
        <p:spPr>
          <a:xfrm>
            <a:off x="7511029" y="1968635"/>
            <a:ext cx="8991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highlight>
                  <a:srgbClr val="E6F3DD"/>
                </a:highlight>
                <a:latin typeface="+mn-ea"/>
              </a:rPr>
              <a:t>최근 파일 열기</a:t>
            </a: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23A08D3C-AC81-43DE-A8BC-ADFBCF39EC5C}"/>
              </a:ext>
            </a:extLst>
          </p:cNvPr>
          <p:cNvSpPr/>
          <p:nvPr/>
        </p:nvSpPr>
        <p:spPr>
          <a:xfrm>
            <a:off x="5652120" y="2278800"/>
            <a:ext cx="360000" cy="360000"/>
          </a:xfrm>
          <a:prstGeom prst="ellipse">
            <a:avLst/>
          </a:prstGeom>
          <a:noFill/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C2B0C889-6DB4-4492-BB7B-5EC30CF0B834}"/>
              </a:ext>
            </a:extLst>
          </p:cNvPr>
          <p:cNvSpPr/>
          <p:nvPr/>
        </p:nvSpPr>
        <p:spPr>
          <a:xfrm>
            <a:off x="6408000" y="2278800"/>
            <a:ext cx="360000" cy="360000"/>
          </a:xfrm>
          <a:prstGeom prst="ellipse">
            <a:avLst/>
          </a:prstGeom>
          <a:noFill/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069D38AA-D9C8-4EB5-9D9B-B265EBC9E32B}"/>
              </a:ext>
            </a:extLst>
          </p:cNvPr>
          <p:cNvSpPr/>
          <p:nvPr/>
        </p:nvSpPr>
        <p:spPr>
          <a:xfrm>
            <a:off x="7146000" y="2278800"/>
            <a:ext cx="360000" cy="360000"/>
          </a:xfrm>
          <a:prstGeom prst="ellipse">
            <a:avLst/>
          </a:prstGeom>
          <a:noFill/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78DA940F-CF64-45CD-BF65-C7CBA13E3806}"/>
              </a:ext>
            </a:extLst>
          </p:cNvPr>
          <p:cNvSpPr/>
          <p:nvPr/>
        </p:nvSpPr>
        <p:spPr>
          <a:xfrm>
            <a:off x="7884408" y="2278800"/>
            <a:ext cx="360000" cy="360000"/>
          </a:xfrm>
          <a:prstGeom prst="ellipse">
            <a:avLst/>
          </a:prstGeom>
          <a:noFill/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3E407588-1C61-468E-9EBE-C707C44936D6}"/>
              </a:ext>
            </a:extLst>
          </p:cNvPr>
          <p:cNvCxnSpPr>
            <a:cxnSpLocks/>
          </p:cNvCxnSpPr>
          <p:nvPr/>
        </p:nvCxnSpPr>
        <p:spPr>
          <a:xfrm>
            <a:off x="5832000" y="2641031"/>
            <a:ext cx="0" cy="72280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E7FF08B8-24CB-468D-A6B2-08F9260E266F}"/>
              </a:ext>
            </a:extLst>
          </p:cNvPr>
          <p:cNvCxnSpPr>
            <a:cxnSpLocks/>
          </p:cNvCxnSpPr>
          <p:nvPr/>
        </p:nvCxnSpPr>
        <p:spPr>
          <a:xfrm>
            <a:off x="6588224" y="2643758"/>
            <a:ext cx="0" cy="72280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9F6DF82A-ECF5-47B7-B76A-A1CE24D11E94}"/>
              </a:ext>
            </a:extLst>
          </p:cNvPr>
          <p:cNvCxnSpPr>
            <a:cxnSpLocks/>
          </p:cNvCxnSpPr>
          <p:nvPr/>
        </p:nvCxnSpPr>
        <p:spPr>
          <a:xfrm>
            <a:off x="7344000" y="2641031"/>
            <a:ext cx="0" cy="72280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850AA7A7-AE69-47F6-A8CB-9187E184681C}"/>
              </a:ext>
            </a:extLst>
          </p:cNvPr>
          <p:cNvCxnSpPr>
            <a:cxnSpLocks/>
          </p:cNvCxnSpPr>
          <p:nvPr/>
        </p:nvCxnSpPr>
        <p:spPr>
          <a:xfrm>
            <a:off x="8064000" y="2628000"/>
            <a:ext cx="0" cy="72280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D266930-E24B-4F11-A343-D7BCE01F135A}"/>
              </a:ext>
            </a:extLst>
          </p:cNvPr>
          <p:cNvSpPr txBox="1"/>
          <p:nvPr/>
        </p:nvSpPr>
        <p:spPr>
          <a:xfrm>
            <a:off x="5436096" y="3349030"/>
            <a:ext cx="7967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highlight>
                  <a:srgbClr val="FEE9DE"/>
                </a:highlight>
                <a:latin typeface="+mn-ea"/>
              </a:rPr>
              <a:t>사용법 영상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C9B2BF5-CB7B-48CE-ACA2-7A0740AA2DCB}"/>
              </a:ext>
            </a:extLst>
          </p:cNvPr>
          <p:cNvSpPr txBox="1"/>
          <p:nvPr/>
        </p:nvSpPr>
        <p:spPr>
          <a:xfrm>
            <a:off x="6093297" y="3363838"/>
            <a:ext cx="9894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highlight>
                  <a:srgbClr val="FEE9DE"/>
                </a:highlight>
                <a:latin typeface="+mj-ea"/>
                <a:ea typeface="+mj-ea"/>
              </a:rPr>
              <a:t>안내 사이트 </a:t>
            </a:r>
            <a:endParaRPr lang="en-US" altLang="ko-KR" sz="800" b="1" dirty="0">
              <a:highlight>
                <a:srgbClr val="FEE9DE"/>
              </a:highlight>
              <a:latin typeface="+mj-ea"/>
              <a:ea typeface="+mj-ea"/>
            </a:endParaRPr>
          </a:p>
          <a:p>
            <a:pPr algn="ctr"/>
            <a:r>
              <a:rPr lang="ko-KR" altLang="en-US" sz="800" b="1" dirty="0">
                <a:highlight>
                  <a:srgbClr val="FEE9DE"/>
                </a:highlight>
                <a:latin typeface="+mj-ea"/>
                <a:ea typeface="+mj-ea"/>
              </a:rPr>
              <a:t>연결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CEB65B0-C033-4D69-9C0E-AD47DFE29E44}"/>
              </a:ext>
            </a:extLst>
          </p:cNvPr>
          <p:cNvSpPr txBox="1"/>
          <p:nvPr/>
        </p:nvSpPr>
        <p:spPr>
          <a:xfrm>
            <a:off x="7164329" y="3363838"/>
            <a:ext cx="4136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highlight>
                  <a:srgbClr val="FEE9DE"/>
                </a:highlight>
                <a:latin typeface="+mn-ea"/>
              </a:rPr>
              <a:t>예제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262DA13-0E9C-429F-8B59-B5A90E0FDEDB}"/>
              </a:ext>
            </a:extLst>
          </p:cNvPr>
          <p:cNvSpPr txBox="1"/>
          <p:nvPr/>
        </p:nvSpPr>
        <p:spPr>
          <a:xfrm>
            <a:off x="7848055" y="3363838"/>
            <a:ext cx="4999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highlight>
                  <a:srgbClr val="FEE9DE"/>
                </a:highlight>
                <a:latin typeface="+mn-ea"/>
              </a:rPr>
              <a:t>설명서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9B7E8210-A8E5-408F-AEFA-0727F3AA9F64}"/>
              </a:ext>
            </a:extLst>
          </p:cNvPr>
          <p:cNvSpPr/>
          <p:nvPr/>
        </p:nvSpPr>
        <p:spPr>
          <a:xfrm>
            <a:off x="2123728" y="1663200"/>
            <a:ext cx="2406095" cy="1440000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798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2B1E16C-C927-45BA-BA22-DC74BF0A75E0}"/>
              </a:ext>
            </a:extLst>
          </p:cNvPr>
          <p:cNvSpPr txBox="1"/>
          <p:nvPr/>
        </p:nvSpPr>
        <p:spPr>
          <a:xfrm>
            <a:off x="881317" y="446120"/>
            <a:ext cx="1777087" cy="287715"/>
          </a:xfrm>
          <a:prstGeom prst="roundRect">
            <a:avLst>
              <a:gd name="adj" fmla="val 7104"/>
            </a:avLst>
          </a:prstGeom>
          <a:solidFill>
            <a:srgbClr val="E2ECAE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+mj-ea"/>
                <a:ea typeface="+mj-ea"/>
              </a:rPr>
              <a:t>새로운 작업 창 열기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C8BB96F-8BDC-4F44-8FC2-85E3E04DE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64" y="1131590"/>
            <a:ext cx="3096344" cy="2186940"/>
          </a:xfrm>
          <a:prstGeom prst="rect">
            <a:avLst/>
          </a:prstGeom>
        </p:spPr>
      </p:pic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5F3C4CDA-D7D7-401B-B640-A9F21C9A7DBB}"/>
              </a:ext>
            </a:extLst>
          </p:cNvPr>
          <p:cNvSpPr/>
          <p:nvPr/>
        </p:nvSpPr>
        <p:spPr>
          <a:xfrm>
            <a:off x="4211960" y="2039230"/>
            <a:ext cx="568734" cy="388503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0D0E8B-8127-45F8-B511-E1512558E65E}"/>
              </a:ext>
            </a:extLst>
          </p:cNvPr>
          <p:cNvSpPr txBox="1"/>
          <p:nvPr/>
        </p:nvSpPr>
        <p:spPr>
          <a:xfrm>
            <a:off x="1151620" y="3918942"/>
            <a:ext cx="6948772" cy="742960"/>
          </a:xfrm>
          <a:prstGeom prst="rect">
            <a:avLst/>
          </a:prstGeom>
          <a:ln>
            <a:solidFill>
              <a:srgbClr val="284D1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sz="1600" dirty="0">
                <a:latin typeface="+mn-ea"/>
              </a:rPr>
              <a:t>Welcome to Orange </a:t>
            </a:r>
            <a:r>
              <a:rPr lang="ko-KR" altLang="en-US" sz="1600" dirty="0">
                <a:latin typeface="+mn-ea"/>
              </a:rPr>
              <a:t>창에서 </a:t>
            </a:r>
            <a:r>
              <a:rPr lang="en-US" altLang="ko-KR" sz="1600" dirty="0">
                <a:latin typeface="+mn-ea"/>
              </a:rPr>
              <a:t>[New]</a:t>
            </a:r>
            <a:r>
              <a:rPr lang="ko-KR" altLang="en-US" sz="1600" dirty="0">
                <a:latin typeface="+mn-ea"/>
              </a:rPr>
              <a:t>를 클릭하면 새로운 작업을 할 수 있는 </a:t>
            </a:r>
            <a:r>
              <a:rPr lang="ko-KR" altLang="en-US" sz="1600">
                <a:latin typeface="+mn-ea"/>
              </a:rPr>
              <a:t>캔버스가 나타납니다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077ED4A-2729-4221-9E97-EC83CC7E6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9" y="555525"/>
            <a:ext cx="3275714" cy="319408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BDF02C6-F82F-4879-A5B8-5A669644B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4288" y="2355726"/>
            <a:ext cx="1206051" cy="130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798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9F7105-E2A9-416A-B90C-F81FA1FF6A1E}"/>
              </a:ext>
            </a:extLst>
          </p:cNvPr>
          <p:cNvSpPr txBox="1"/>
          <p:nvPr/>
        </p:nvSpPr>
        <p:spPr>
          <a:xfrm>
            <a:off x="6876256" y="343086"/>
            <a:ext cx="1777087" cy="287715"/>
          </a:xfrm>
          <a:prstGeom prst="roundRect">
            <a:avLst>
              <a:gd name="adj" fmla="val 7104"/>
            </a:avLst>
          </a:prstGeom>
          <a:solidFill>
            <a:srgbClr val="E2ECAE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+mn-ea"/>
              </a:rPr>
              <a:t>위젯 카테고리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FEE3EB7-F328-4826-9232-95861ECE65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55" y="343086"/>
            <a:ext cx="3933426" cy="44573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309D6DB-70C2-4017-B834-837491CF13CE}"/>
              </a:ext>
            </a:extLst>
          </p:cNvPr>
          <p:cNvCxnSpPr/>
          <p:nvPr/>
        </p:nvCxnSpPr>
        <p:spPr>
          <a:xfrm>
            <a:off x="2123816" y="843558"/>
            <a:ext cx="756000" cy="0"/>
          </a:xfrm>
          <a:prstGeom prst="straightConnector1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  <a:prstDash val="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F2EB408D-ED03-4433-A0E5-E59EDA382528}"/>
              </a:ext>
            </a:extLst>
          </p:cNvPr>
          <p:cNvCxnSpPr/>
          <p:nvPr/>
        </p:nvCxnSpPr>
        <p:spPr>
          <a:xfrm>
            <a:off x="2123816" y="1026000"/>
            <a:ext cx="756000" cy="0"/>
          </a:xfrm>
          <a:prstGeom prst="straightConnector1">
            <a:avLst/>
          </a:prstGeom>
          <a:ln>
            <a:solidFill>
              <a:schemeClr val="accent2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0E1F6EB-F0C6-4B3E-9D99-FA0978EAE657}"/>
              </a:ext>
            </a:extLst>
          </p:cNvPr>
          <p:cNvCxnSpPr/>
          <p:nvPr/>
        </p:nvCxnSpPr>
        <p:spPr>
          <a:xfrm>
            <a:off x="2123816" y="1203598"/>
            <a:ext cx="756000" cy="0"/>
          </a:xfrm>
          <a:prstGeom prst="straightConnector1">
            <a:avLst/>
          </a:prstGeom>
          <a:ln>
            <a:solidFill>
              <a:srgbClr val="FEB6A8"/>
            </a:solidFill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22C16034-A066-4027-973F-C1AF999E75DF}"/>
              </a:ext>
            </a:extLst>
          </p:cNvPr>
          <p:cNvCxnSpPr/>
          <p:nvPr/>
        </p:nvCxnSpPr>
        <p:spPr>
          <a:xfrm>
            <a:off x="2123816" y="1386000"/>
            <a:ext cx="756000" cy="0"/>
          </a:xfrm>
          <a:prstGeom prst="straightConnector1">
            <a:avLst/>
          </a:prstGeom>
          <a:ln>
            <a:solidFill>
              <a:srgbClr val="EDA9BC"/>
            </a:solidFill>
            <a:prstDash val="lgDashDotDot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66360DF-ACF4-4B21-A997-23A9F8A95E34}"/>
              </a:ext>
            </a:extLst>
          </p:cNvPr>
          <p:cNvCxnSpPr/>
          <p:nvPr/>
        </p:nvCxnSpPr>
        <p:spPr>
          <a:xfrm>
            <a:off x="2123816" y="1563638"/>
            <a:ext cx="792000" cy="0"/>
          </a:xfrm>
          <a:prstGeom prst="straightConnector1">
            <a:avLst/>
          </a:prstGeom>
          <a:ln>
            <a:solidFill>
              <a:srgbClr val="94F4FE"/>
            </a:solidFill>
            <a:prstDash val="sysDot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2728935-05B1-4B7B-ABBF-085E7C41657E}"/>
              </a:ext>
            </a:extLst>
          </p:cNvPr>
          <p:cNvCxnSpPr/>
          <p:nvPr/>
        </p:nvCxnSpPr>
        <p:spPr>
          <a:xfrm>
            <a:off x="2123816" y="1735200"/>
            <a:ext cx="792000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D011101-3539-472C-8721-39C7A7710F55}"/>
              </a:ext>
            </a:extLst>
          </p:cNvPr>
          <p:cNvSpPr txBox="1"/>
          <p:nvPr/>
        </p:nvSpPr>
        <p:spPr>
          <a:xfrm>
            <a:off x="2941575" y="735882"/>
            <a:ext cx="20162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데이터 입출력 및 정보 관련 위젯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751789-1EE3-4F3B-9EAB-F308AC5387AF}"/>
              </a:ext>
            </a:extLst>
          </p:cNvPr>
          <p:cNvSpPr txBox="1"/>
          <p:nvPr/>
        </p:nvSpPr>
        <p:spPr>
          <a:xfrm>
            <a:off x="2941575" y="902889"/>
            <a:ext cx="20162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데이터 처리 관련 위젯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788BD3-93C8-48D8-8025-1F961B3929B0}"/>
              </a:ext>
            </a:extLst>
          </p:cNvPr>
          <p:cNvSpPr txBox="1"/>
          <p:nvPr/>
        </p:nvSpPr>
        <p:spPr>
          <a:xfrm>
            <a:off x="2941575" y="1101393"/>
            <a:ext cx="20162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데이터 시각화 관련 위젯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19B9DF-59AC-4C9B-B4FF-EB3CD66CD139}"/>
              </a:ext>
            </a:extLst>
          </p:cNvPr>
          <p:cNvSpPr txBox="1"/>
          <p:nvPr/>
        </p:nvSpPr>
        <p:spPr>
          <a:xfrm>
            <a:off x="2941575" y="1253793"/>
            <a:ext cx="20162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모델 관련 위젯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CA33AD-51E7-4CA4-AE31-78A74D2555AE}"/>
              </a:ext>
            </a:extLst>
          </p:cNvPr>
          <p:cNvSpPr txBox="1"/>
          <p:nvPr/>
        </p:nvSpPr>
        <p:spPr>
          <a:xfrm>
            <a:off x="2941487" y="1427665"/>
            <a:ext cx="20162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모델 성능 평가 관련 위젯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A6E5F6-F09A-4751-8B78-8DE714C7E828}"/>
              </a:ext>
            </a:extLst>
          </p:cNvPr>
          <p:cNvSpPr txBox="1"/>
          <p:nvPr/>
        </p:nvSpPr>
        <p:spPr>
          <a:xfrm>
            <a:off x="2941575" y="1635646"/>
            <a:ext cx="20162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비지도 학습 관련 위젯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363D3650-91B4-4B94-88FA-DDDAB5C5C744}"/>
              </a:ext>
            </a:extLst>
          </p:cNvPr>
          <p:cNvCxnSpPr/>
          <p:nvPr/>
        </p:nvCxnSpPr>
        <p:spPr>
          <a:xfrm>
            <a:off x="2123816" y="1923678"/>
            <a:ext cx="756000" cy="0"/>
          </a:xfrm>
          <a:prstGeom prst="straightConnector1">
            <a:avLst/>
          </a:prstGeom>
          <a:ln w="12700">
            <a:solidFill>
              <a:srgbClr val="FFFF00"/>
            </a:solidFill>
            <a:prstDash val="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DF5BB2E-11A1-4708-9A78-168DDA8AD4FF}"/>
              </a:ext>
            </a:extLst>
          </p:cNvPr>
          <p:cNvCxnSpPr/>
          <p:nvPr/>
        </p:nvCxnSpPr>
        <p:spPr>
          <a:xfrm>
            <a:off x="2123816" y="2106120"/>
            <a:ext cx="756000" cy="0"/>
          </a:xfrm>
          <a:prstGeom prst="straightConnector1">
            <a:avLst/>
          </a:prstGeom>
          <a:ln>
            <a:solidFill>
              <a:srgbClr val="EFD725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E59105E-BE1A-4B67-A750-811B8893D0B9}"/>
              </a:ext>
            </a:extLst>
          </p:cNvPr>
          <p:cNvCxnSpPr/>
          <p:nvPr/>
        </p:nvCxnSpPr>
        <p:spPr>
          <a:xfrm>
            <a:off x="2123816" y="2283718"/>
            <a:ext cx="756000" cy="0"/>
          </a:xfrm>
          <a:prstGeom prst="straightConnector1">
            <a:avLst/>
          </a:prstGeom>
          <a:ln>
            <a:solidFill>
              <a:srgbClr val="92D050"/>
            </a:solidFill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97D7EC0-15BC-4578-B0E9-84EE5F8BE8D6}"/>
              </a:ext>
            </a:extLst>
          </p:cNvPr>
          <p:cNvCxnSpPr/>
          <p:nvPr/>
        </p:nvCxnSpPr>
        <p:spPr>
          <a:xfrm>
            <a:off x="2123816" y="2466120"/>
            <a:ext cx="756000" cy="0"/>
          </a:xfrm>
          <a:prstGeom prst="straightConnector1">
            <a:avLst/>
          </a:prstGeom>
          <a:ln>
            <a:solidFill>
              <a:srgbClr val="FDD3A5"/>
            </a:solidFill>
            <a:prstDash val="lgDashDotDot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67D1E00-1DF1-4D21-8E3C-85B1104BDA0C}"/>
              </a:ext>
            </a:extLst>
          </p:cNvPr>
          <p:cNvCxnSpPr/>
          <p:nvPr/>
        </p:nvCxnSpPr>
        <p:spPr>
          <a:xfrm>
            <a:off x="2123816" y="2643758"/>
            <a:ext cx="792000" cy="0"/>
          </a:xfrm>
          <a:prstGeom prst="straightConnector1">
            <a:avLst/>
          </a:prstGeom>
          <a:ln>
            <a:solidFill>
              <a:srgbClr val="00B050"/>
            </a:solidFill>
            <a:prstDash val="sysDot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E6EFB29-DF20-4B9C-98CC-D7E51553BAB0}"/>
              </a:ext>
            </a:extLst>
          </p:cNvPr>
          <p:cNvCxnSpPr/>
          <p:nvPr/>
        </p:nvCxnSpPr>
        <p:spPr>
          <a:xfrm>
            <a:off x="2123816" y="2815320"/>
            <a:ext cx="792000" cy="0"/>
          </a:xfrm>
          <a:prstGeom prst="straightConnector1">
            <a:avLst/>
          </a:prstGeom>
          <a:ln>
            <a:solidFill>
              <a:srgbClr val="B3E27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F9E25E2-7091-440C-9858-F0DA0B480C41}"/>
              </a:ext>
            </a:extLst>
          </p:cNvPr>
          <p:cNvCxnSpPr/>
          <p:nvPr/>
        </p:nvCxnSpPr>
        <p:spPr>
          <a:xfrm>
            <a:off x="2123816" y="3003798"/>
            <a:ext cx="756000" cy="0"/>
          </a:xfrm>
          <a:prstGeom prst="straightConnector1">
            <a:avLst/>
          </a:prstGeom>
          <a:ln w="12700">
            <a:solidFill>
              <a:srgbClr val="B1CFF1"/>
            </a:solidFill>
            <a:prstDash val="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F7EA9B4-0962-4B3F-9658-DE7A0D9893AD}"/>
              </a:ext>
            </a:extLst>
          </p:cNvPr>
          <p:cNvCxnSpPr/>
          <p:nvPr/>
        </p:nvCxnSpPr>
        <p:spPr>
          <a:xfrm>
            <a:off x="2123816" y="3186240"/>
            <a:ext cx="756000" cy="0"/>
          </a:xfrm>
          <a:prstGeom prst="straightConnector1">
            <a:avLst/>
          </a:prstGeom>
          <a:ln>
            <a:solidFill>
              <a:srgbClr val="EDD4FC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33ACC99-E203-4A76-ABDC-3AFA4CB9FE27}"/>
              </a:ext>
            </a:extLst>
          </p:cNvPr>
          <p:cNvCxnSpPr/>
          <p:nvPr/>
        </p:nvCxnSpPr>
        <p:spPr>
          <a:xfrm>
            <a:off x="2123816" y="3363838"/>
            <a:ext cx="756000" cy="0"/>
          </a:xfrm>
          <a:prstGeom prst="straightConnector1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929394FF-BA00-4250-9B55-382124E80297}"/>
              </a:ext>
            </a:extLst>
          </p:cNvPr>
          <p:cNvCxnSpPr/>
          <p:nvPr/>
        </p:nvCxnSpPr>
        <p:spPr>
          <a:xfrm>
            <a:off x="2123816" y="3546240"/>
            <a:ext cx="756000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prstDash val="lgDashDotDot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B4BF8CF0-3658-49C0-A86D-8AA7D7BF956F}"/>
              </a:ext>
            </a:extLst>
          </p:cNvPr>
          <p:cNvCxnSpPr/>
          <p:nvPr/>
        </p:nvCxnSpPr>
        <p:spPr>
          <a:xfrm>
            <a:off x="2123816" y="3723878"/>
            <a:ext cx="792000" cy="0"/>
          </a:xfrm>
          <a:prstGeom prst="straightConnector1">
            <a:avLst/>
          </a:prstGeom>
          <a:ln>
            <a:solidFill>
              <a:srgbClr val="95AEFD"/>
            </a:solidFill>
            <a:prstDash val="sysDot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CCAD70E-8FE8-49E5-B403-1EE3C6D6DD4D}"/>
              </a:ext>
            </a:extLst>
          </p:cNvPr>
          <p:cNvSpPr txBox="1"/>
          <p:nvPr/>
        </p:nvSpPr>
        <p:spPr>
          <a:xfrm>
            <a:off x="2941487" y="1833851"/>
            <a:ext cx="20162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이미지 분석 관련 위젯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A7F780-3FB3-490D-B3D5-2F747B73C827}"/>
              </a:ext>
            </a:extLst>
          </p:cNvPr>
          <p:cNvSpPr txBox="1"/>
          <p:nvPr/>
        </p:nvSpPr>
        <p:spPr>
          <a:xfrm>
            <a:off x="2941399" y="1998260"/>
            <a:ext cx="20162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연관 분석 위젯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BC4DB9-EEE9-4BCF-8500-FE6F840E9656}"/>
              </a:ext>
            </a:extLst>
          </p:cNvPr>
          <p:cNvSpPr txBox="1"/>
          <p:nvPr/>
        </p:nvSpPr>
        <p:spPr>
          <a:xfrm>
            <a:off x="2937756" y="2185768"/>
            <a:ext cx="20162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생물정보학 관련 위젯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B127BB-9B6D-4C2A-9686-DFC5498C2B0C}"/>
              </a:ext>
            </a:extLst>
          </p:cNvPr>
          <p:cNvSpPr txBox="1"/>
          <p:nvPr/>
        </p:nvSpPr>
        <p:spPr>
          <a:xfrm>
            <a:off x="2934113" y="2361202"/>
            <a:ext cx="20162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교육적 활용 관련 위젯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346C56-0A92-4361-9654-231A27AF51FD}"/>
              </a:ext>
            </a:extLst>
          </p:cNvPr>
          <p:cNvSpPr txBox="1"/>
          <p:nvPr/>
        </p:nvSpPr>
        <p:spPr>
          <a:xfrm>
            <a:off x="2926786" y="2527217"/>
            <a:ext cx="20162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지역 분석 관련 위젯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0CAF87-FD4E-47B7-AD11-6FBB66B8365F}"/>
              </a:ext>
            </a:extLst>
          </p:cNvPr>
          <p:cNvSpPr txBox="1"/>
          <p:nvPr/>
        </p:nvSpPr>
        <p:spPr>
          <a:xfrm>
            <a:off x="2915816" y="2724035"/>
            <a:ext cx="20162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네트워크 시각화 및 분석 관련 위젯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B0432C-9F1D-45B0-AE53-F79EA9A2C73C}"/>
              </a:ext>
            </a:extLst>
          </p:cNvPr>
          <p:cNvSpPr txBox="1"/>
          <p:nvPr/>
        </p:nvSpPr>
        <p:spPr>
          <a:xfrm>
            <a:off x="2926145" y="2905559"/>
            <a:ext cx="20162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단일 세포 분석 관련 위젯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FE9FF8-D0E2-4D8D-95F5-734BD5031841}"/>
              </a:ext>
            </a:extLst>
          </p:cNvPr>
          <p:cNvSpPr txBox="1"/>
          <p:nvPr/>
        </p:nvSpPr>
        <p:spPr>
          <a:xfrm>
            <a:off x="2926145" y="3080812"/>
            <a:ext cx="20162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err="1">
                <a:latin typeface="+mn-ea"/>
              </a:rPr>
              <a:t>카플란</a:t>
            </a:r>
            <a:r>
              <a:rPr lang="ko-KR" altLang="en-US" sz="900" b="1" dirty="0">
                <a:latin typeface="+mn-ea"/>
              </a:rPr>
              <a:t> </a:t>
            </a:r>
            <a:r>
              <a:rPr lang="ko-KR" altLang="en-US" sz="900" b="1" dirty="0" err="1">
                <a:latin typeface="+mn-ea"/>
              </a:rPr>
              <a:t>마이어</a:t>
            </a:r>
            <a:r>
              <a:rPr lang="ko-KR" altLang="en-US" sz="900" b="1" dirty="0">
                <a:latin typeface="+mn-ea"/>
              </a:rPr>
              <a:t> 생존 관련 위젯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7B50EF-EA78-4F26-82B0-21CC864227C4}"/>
              </a:ext>
            </a:extLst>
          </p:cNvPr>
          <p:cNvSpPr txBox="1"/>
          <p:nvPr/>
        </p:nvSpPr>
        <p:spPr>
          <a:xfrm>
            <a:off x="2926145" y="3262302"/>
            <a:ext cx="20162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텍스트 마이닝 관련 위젯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F7809B-854C-4C2E-B5C2-8CC33BA824FD}"/>
              </a:ext>
            </a:extLst>
          </p:cNvPr>
          <p:cNvSpPr txBox="1"/>
          <p:nvPr/>
        </p:nvSpPr>
        <p:spPr>
          <a:xfrm>
            <a:off x="2915816" y="3427112"/>
            <a:ext cx="20162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시계열 데이터 분석 관련 위젯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A8D04C-CEC3-45B4-AD4F-C7475B210F02}"/>
              </a:ext>
            </a:extLst>
          </p:cNvPr>
          <p:cNvSpPr txBox="1"/>
          <p:nvPr/>
        </p:nvSpPr>
        <p:spPr>
          <a:xfrm>
            <a:off x="2915816" y="3609554"/>
            <a:ext cx="20162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err="1">
                <a:latin typeface="+mn-ea"/>
              </a:rPr>
              <a:t>분광학</a:t>
            </a:r>
            <a:r>
              <a:rPr lang="ko-KR" altLang="en-US" sz="900" b="1" dirty="0">
                <a:latin typeface="+mn-ea"/>
              </a:rPr>
              <a:t> 관련 위젯</a:t>
            </a: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9C0BDF01-4B32-467D-849E-6CC00FC94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430" y="1045868"/>
            <a:ext cx="2619375" cy="285750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6E5BF07B-6098-412A-9463-FB83298CE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3430" y="1402607"/>
            <a:ext cx="2619375" cy="295275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9F90432B-4F5D-46C7-99E3-533AAFC200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3430" y="1797961"/>
            <a:ext cx="2609850" cy="3048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F3E218C6-A4F5-4912-A994-4E585A59C6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2040" y="2191723"/>
            <a:ext cx="2609850" cy="295275"/>
          </a:xfrm>
          <a:prstGeom prst="rect">
            <a:avLst/>
          </a:prstGeom>
        </p:spPr>
      </p:pic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B265B0B1-74F3-4DE0-A40E-5BE9684E982B}"/>
              </a:ext>
            </a:extLst>
          </p:cNvPr>
          <p:cNvCxnSpPr>
            <a:cxnSpLocks/>
          </p:cNvCxnSpPr>
          <p:nvPr/>
        </p:nvCxnSpPr>
        <p:spPr>
          <a:xfrm>
            <a:off x="6304310" y="1203598"/>
            <a:ext cx="575976" cy="0"/>
          </a:xfrm>
          <a:prstGeom prst="straightConnector1">
            <a:avLst/>
          </a:prstGeom>
          <a:ln>
            <a:solidFill>
              <a:srgbClr val="8BF5C5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7CE7B3A1-EB84-4EAE-8F55-09CF68BF84C0}"/>
              </a:ext>
            </a:extLst>
          </p:cNvPr>
          <p:cNvCxnSpPr>
            <a:cxnSpLocks/>
          </p:cNvCxnSpPr>
          <p:nvPr/>
        </p:nvCxnSpPr>
        <p:spPr>
          <a:xfrm>
            <a:off x="6304222" y="1550244"/>
            <a:ext cx="576064" cy="0"/>
          </a:xfrm>
          <a:prstGeom prst="straightConnector1">
            <a:avLst/>
          </a:prstGeom>
          <a:ln>
            <a:solidFill>
              <a:srgbClr val="00B0F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DF0CCFA9-EFB5-49DE-91AD-FB91C7120800}"/>
              </a:ext>
            </a:extLst>
          </p:cNvPr>
          <p:cNvCxnSpPr>
            <a:cxnSpLocks/>
          </p:cNvCxnSpPr>
          <p:nvPr/>
        </p:nvCxnSpPr>
        <p:spPr>
          <a:xfrm>
            <a:off x="6304222" y="1956961"/>
            <a:ext cx="576064" cy="0"/>
          </a:xfrm>
          <a:prstGeom prst="straightConnector1">
            <a:avLst/>
          </a:prstGeom>
          <a:ln>
            <a:solidFill>
              <a:srgbClr val="E793ED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F93AD65E-6BE5-437F-B973-060738421DC6}"/>
              </a:ext>
            </a:extLst>
          </p:cNvPr>
          <p:cNvCxnSpPr>
            <a:cxnSpLocks/>
          </p:cNvCxnSpPr>
          <p:nvPr/>
        </p:nvCxnSpPr>
        <p:spPr>
          <a:xfrm>
            <a:off x="6520246" y="2361202"/>
            <a:ext cx="432048" cy="0"/>
          </a:xfrm>
          <a:prstGeom prst="straightConnector1">
            <a:avLst/>
          </a:prstGeom>
          <a:ln>
            <a:solidFill>
              <a:srgbClr val="89C5F7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34794EC-BDCB-410D-846F-781BFE627873}"/>
              </a:ext>
            </a:extLst>
          </p:cNvPr>
          <p:cNvSpPr txBox="1"/>
          <p:nvPr/>
        </p:nvSpPr>
        <p:spPr>
          <a:xfrm>
            <a:off x="6866577" y="1085397"/>
            <a:ext cx="13098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프로토 타입의 위젯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1BFF1E5-76D7-471D-BE22-81DB75B05118}"/>
              </a:ext>
            </a:extLst>
          </p:cNvPr>
          <p:cNvSpPr txBox="1"/>
          <p:nvPr/>
        </p:nvSpPr>
        <p:spPr>
          <a:xfrm>
            <a:off x="6866576" y="1440527"/>
            <a:ext cx="13498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j-ea"/>
                <a:ea typeface="+mj-ea"/>
              </a:rPr>
              <a:t>텍스트 분석 관련 위젯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589F43D-4228-42C0-B63C-B994C7F3CA7C}"/>
              </a:ext>
            </a:extLst>
          </p:cNvPr>
          <p:cNvSpPr txBox="1"/>
          <p:nvPr/>
        </p:nvSpPr>
        <p:spPr>
          <a:xfrm>
            <a:off x="6866576" y="1856227"/>
            <a:ext cx="17378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시계열 데이터 분석 관련 위젯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4F76CF4-C90D-4097-B845-6C1AD4741378}"/>
              </a:ext>
            </a:extLst>
          </p:cNvPr>
          <p:cNvSpPr txBox="1"/>
          <p:nvPr/>
        </p:nvSpPr>
        <p:spPr>
          <a:xfrm>
            <a:off x="6922859" y="2231550"/>
            <a:ext cx="20162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사회 경제적 지표 관련 데이터 위젯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B6F4B9D-7CFE-4893-B577-A2DB5C081BCD}"/>
              </a:ext>
            </a:extLst>
          </p:cNvPr>
          <p:cNvSpPr txBox="1"/>
          <p:nvPr/>
        </p:nvSpPr>
        <p:spPr>
          <a:xfrm>
            <a:off x="4924611" y="3036796"/>
            <a:ext cx="3728731" cy="1435458"/>
          </a:xfrm>
          <a:prstGeom prst="rect">
            <a:avLst/>
          </a:prstGeom>
          <a:ln>
            <a:solidFill>
              <a:srgbClr val="284D1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sz="1600" dirty="0">
                <a:latin typeface="+mn-ea"/>
              </a:rPr>
              <a:t>Orange3 </a:t>
            </a:r>
            <a:r>
              <a:rPr lang="ko-KR" altLang="en-US" sz="1600" dirty="0">
                <a:latin typeface="+mn-ea"/>
              </a:rPr>
              <a:t>공식 홈페이지에서 소개하지 않은 일부 카테고리는 프로그램의 </a:t>
            </a:r>
            <a:r>
              <a:rPr lang="en-US" altLang="ko-KR" sz="1600" dirty="0">
                <a:solidFill>
                  <a:srgbClr val="FF0000"/>
                </a:solidFill>
                <a:latin typeface="+mn-ea"/>
              </a:rPr>
              <a:t>[Options] – [Add-ons…]</a:t>
            </a:r>
            <a:r>
              <a:rPr lang="ko-KR" altLang="en-US" sz="1600" dirty="0">
                <a:latin typeface="+mn-ea"/>
              </a:rPr>
              <a:t>에서 추가할 </a:t>
            </a:r>
            <a:r>
              <a:rPr lang="ko-KR" altLang="en-US" sz="1600">
                <a:latin typeface="+mn-ea"/>
              </a:rPr>
              <a:t>수 있습니다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962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34673" y="384676"/>
            <a:ext cx="4523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3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ko-KR" altLang="en-US" sz="36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5141" y="537104"/>
            <a:ext cx="4166753" cy="420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Orange3 </a:t>
            </a:r>
            <a:r>
              <a:rPr lang="ko-KR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기본 사용법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23874-3428-467E-94A4-11A4C0FA04D5}"/>
              </a:ext>
            </a:extLst>
          </p:cNvPr>
          <p:cNvSpPr txBox="1"/>
          <p:nvPr/>
        </p:nvSpPr>
        <p:spPr>
          <a:xfrm>
            <a:off x="6804248" y="448183"/>
            <a:ext cx="1777087" cy="287715"/>
          </a:xfrm>
          <a:prstGeom prst="roundRect">
            <a:avLst>
              <a:gd name="adj" fmla="val 7104"/>
            </a:avLst>
          </a:prstGeom>
          <a:solidFill>
            <a:srgbClr val="E2ECAE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+mn-ea"/>
              </a:rPr>
              <a:t>위젯 다루기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C48624-2E8F-450C-8610-0E283647DBA3}"/>
              </a:ext>
            </a:extLst>
          </p:cNvPr>
          <p:cNvSpPr txBox="1"/>
          <p:nvPr/>
        </p:nvSpPr>
        <p:spPr>
          <a:xfrm>
            <a:off x="883903" y="1178580"/>
            <a:ext cx="4166753" cy="408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dirty="0">
                <a:solidFill>
                  <a:srgbClr val="005957"/>
                </a:solidFill>
                <a:latin typeface="+mn-ea"/>
              </a:rPr>
              <a:t>위젯이란</a:t>
            </a:r>
            <a:r>
              <a:rPr lang="en-US" altLang="ko-KR" b="1" dirty="0">
                <a:solidFill>
                  <a:srgbClr val="005957"/>
                </a:solidFill>
                <a:latin typeface="+mn-ea"/>
              </a:rPr>
              <a:t>?</a:t>
            </a:r>
            <a:endParaRPr lang="ko-KR" altLang="en-US" b="1" dirty="0">
              <a:solidFill>
                <a:srgbClr val="005957"/>
              </a:solidFill>
              <a:latin typeface="+mn-ea"/>
            </a:endParaRPr>
          </a:p>
        </p:txBody>
      </p:sp>
      <p:sp>
        <p:nvSpPr>
          <p:cNvPr id="13" name="모서리가 둥근 직사각형 5">
            <a:extLst>
              <a:ext uri="{FF2B5EF4-FFF2-40B4-BE49-F238E27FC236}">
                <a16:creationId xmlns:a16="http://schemas.microsoft.com/office/drawing/2014/main" id="{B978D0A1-A322-44A6-A1B4-B03A948B999A}"/>
              </a:ext>
            </a:extLst>
          </p:cNvPr>
          <p:cNvSpPr/>
          <p:nvPr/>
        </p:nvSpPr>
        <p:spPr>
          <a:xfrm>
            <a:off x="663438" y="1285467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1</a:t>
            </a:r>
            <a:endParaRPr lang="ko-KR" altLang="en-US" b="1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D3E57E8-5707-4948-9437-DC9E15851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837" y="2884109"/>
            <a:ext cx="5218325" cy="193169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C395F5D-F0A3-4FD8-BF16-A4E1F3BA6D2E}"/>
              </a:ext>
            </a:extLst>
          </p:cNvPr>
          <p:cNvSpPr txBox="1"/>
          <p:nvPr/>
        </p:nvSpPr>
        <p:spPr>
          <a:xfrm>
            <a:off x="664438" y="1693527"/>
            <a:ext cx="7848872" cy="1083695"/>
          </a:xfrm>
          <a:prstGeom prst="rect">
            <a:avLst/>
          </a:prstGeom>
          <a:ln>
            <a:solidFill>
              <a:srgbClr val="284D1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sz="1400" dirty="0">
                <a:latin typeface="+mn-ea"/>
              </a:rPr>
              <a:t>위젯은 </a:t>
            </a:r>
            <a:r>
              <a:rPr lang="en-US" altLang="ko-KR" sz="1400" dirty="0">
                <a:latin typeface="+mn-ea"/>
              </a:rPr>
              <a:t>Orange3 </a:t>
            </a:r>
            <a:r>
              <a:rPr lang="ko-KR" altLang="en-US" sz="1400" dirty="0">
                <a:latin typeface="+mn-ea"/>
              </a:rPr>
              <a:t>카테고리 안에 있는 각각의 아이콘을 가리키는 단어로 캔버스에 위젯을 불러와 추가하고 연결하는 과정을 통해 데이터 처리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데이터 시각화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인공지능 모델 적용 등의 작업을 수행할 수 있다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656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00062B06-87DC-4ED9-B998-649C30C134A5}"/>
              </a:ext>
            </a:extLst>
          </p:cNvPr>
          <p:cNvSpPr txBox="1"/>
          <p:nvPr/>
        </p:nvSpPr>
        <p:spPr>
          <a:xfrm>
            <a:off x="883903" y="587514"/>
            <a:ext cx="4166753" cy="408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dirty="0">
                <a:solidFill>
                  <a:srgbClr val="005957"/>
                </a:solidFill>
                <a:latin typeface="+mn-ea"/>
              </a:rPr>
              <a:t>위젯의 입출력 가능 표시</a:t>
            </a:r>
          </a:p>
        </p:txBody>
      </p:sp>
      <p:sp>
        <p:nvSpPr>
          <p:cNvPr id="20" name="모서리가 둥근 직사각형 5">
            <a:extLst>
              <a:ext uri="{FF2B5EF4-FFF2-40B4-BE49-F238E27FC236}">
                <a16:creationId xmlns:a16="http://schemas.microsoft.com/office/drawing/2014/main" id="{988EAC3B-CF4D-473D-BF4D-EA5F84320664}"/>
              </a:ext>
            </a:extLst>
          </p:cNvPr>
          <p:cNvSpPr/>
          <p:nvPr/>
        </p:nvSpPr>
        <p:spPr>
          <a:xfrm>
            <a:off x="663438" y="694401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2</a:t>
            </a:r>
            <a:endParaRPr lang="ko-KR" altLang="en-US" b="1" dirty="0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34A368-822A-4886-9833-732C96989AD9}"/>
              </a:ext>
            </a:extLst>
          </p:cNvPr>
          <p:cNvSpPr txBox="1"/>
          <p:nvPr/>
        </p:nvSpPr>
        <p:spPr>
          <a:xfrm>
            <a:off x="1043608" y="1161117"/>
            <a:ext cx="7020780" cy="1089209"/>
          </a:xfrm>
          <a:prstGeom prst="rect">
            <a:avLst/>
          </a:prstGeom>
          <a:ln>
            <a:solidFill>
              <a:srgbClr val="284D1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sz="1600" dirty="0">
                <a:latin typeface="+mn-ea"/>
              </a:rPr>
              <a:t>위젯을 캔버스에 추가하면 아래와 같이 위젯의 오른쪽과 왼쪽에 다른 위젯을 연결할 수 있는 표시가 나타난다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highlight>
                  <a:srgbClr val="FFFF00"/>
                </a:highlight>
                <a:latin typeface="+mn-ea"/>
              </a:rPr>
              <a:t>위젯끼리 연결되면 점선이 실선으로 바뀐다</a:t>
            </a:r>
            <a:r>
              <a:rPr lang="en-US" altLang="ko-KR" sz="1600" dirty="0">
                <a:highlight>
                  <a:srgbClr val="FFFF00"/>
                </a:highlight>
                <a:latin typeface="+mn-ea"/>
              </a:rPr>
              <a:t>.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158184E-10DF-4748-B3F3-91088563B353}"/>
              </a:ext>
            </a:extLst>
          </p:cNvPr>
          <p:cNvGrpSpPr/>
          <p:nvPr/>
        </p:nvGrpSpPr>
        <p:grpSpPr>
          <a:xfrm>
            <a:off x="1005446" y="2499742"/>
            <a:ext cx="7133110" cy="2128252"/>
            <a:chOff x="1180444" y="2283718"/>
            <a:chExt cx="6566008" cy="1912228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2B462CD6-C557-4BBE-9CA3-EE3C3E2CCD58}"/>
                </a:ext>
              </a:extLst>
            </p:cNvPr>
            <p:cNvGrpSpPr/>
            <p:nvPr/>
          </p:nvGrpSpPr>
          <p:grpSpPr>
            <a:xfrm>
              <a:off x="1181520" y="2283718"/>
              <a:ext cx="6486823" cy="1912228"/>
              <a:chOff x="1181520" y="2047684"/>
              <a:chExt cx="6486823" cy="1912228"/>
            </a:xfrm>
          </p:grpSpPr>
          <p:sp>
            <p:nvSpPr>
              <p:cNvPr id="4" name="사각형: 둥근 모서리 3">
                <a:extLst>
                  <a:ext uri="{FF2B5EF4-FFF2-40B4-BE49-F238E27FC236}">
                    <a16:creationId xmlns:a16="http://schemas.microsoft.com/office/drawing/2014/main" id="{5B939226-ADDF-4BEF-AA1A-6C00027254B0}"/>
                  </a:ext>
                </a:extLst>
              </p:cNvPr>
              <p:cNvSpPr/>
              <p:nvPr/>
            </p:nvSpPr>
            <p:spPr>
              <a:xfrm>
                <a:off x="1181520" y="2067694"/>
                <a:ext cx="1722088" cy="1872208"/>
              </a:xfrm>
              <a:prstGeom prst="roundRect">
                <a:avLst/>
              </a:prstGeom>
              <a:noFill/>
              <a:ln>
                <a:solidFill>
                  <a:srgbClr val="EF7E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815289C6-E7A1-4FF1-8462-AD0D1870BA41}"/>
                  </a:ext>
                </a:extLst>
              </p:cNvPr>
              <p:cNvSpPr/>
              <p:nvPr/>
            </p:nvSpPr>
            <p:spPr>
              <a:xfrm>
                <a:off x="3557784" y="2047684"/>
                <a:ext cx="1722088" cy="1892218"/>
              </a:xfrm>
              <a:prstGeom prst="roundRect">
                <a:avLst/>
              </a:prstGeom>
              <a:noFill/>
              <a:ln>
                <a:solidFill>
                  <a:srgbClr val="EDB9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6AE6203F-DE0E-43C3-A1AF-DD0886DCA439}"/>
                  </a:ext>
                </a:extLst>
              </p:cNvPr>
              <p:cNvSpPr/>
              <p:nvPr/>
            </p:nvSpPr>
            <p:spPr>
              <a:xfrm>
                <a:off x="5946252" y="2067694"/>
                <a:ext cx="1722091" cy="1892218"/>
              </a:xfrm>
              <a:prstGeom prst="roundRect">
                <a:avLst/>
              </a:prstGeom>
              <a:noFill/>
              <a:ln>
                <a:solidFill>
                  <a:srgbClr val="8BF8F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44965C78-07C6-4A35-9C33-1FE0F08B75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21766" y="2283718"/>
                <a:ext cx="647700" cy="752475"/>
              </a:xfrm>
              <a:prstGeom prst="rect">
                <a:avLst/>
              </a:prstGeom>
            </p:spPr>
          </p:pic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8DDC8082-E106-4B62-85AC-15C661508A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59905" y="2274192"/>
                <a:ext cx="1123950" cy="771525"/>
              </a:xfrm>
              <a:prstGeom prst="rect">
                <a:avLst/>
              </a:prstGeom>
            </p:spPr>
          </p:pic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093587C7-BBC0-4C13-8B12-70F5053D10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75623" y="2291377"/>
                <a:ext cx="857250" cy="781050"/>
              </a:xfrm>
              <a:prstGeom prst="rect">
                <a:avLst/>
              </a:prstGeom>
            </p:spPr>
          </p:pic>
          <p:sp>
            <p:nvSpPr>
              <p:cNvPr id="28" name="사각형: 둥근 위쪽 모서리 27">
                <a:extLst>
                  <a:ext uri="{FF2B5EF4-FFF2-40B4-BE49-F238E27FC236}">
                    <a16:creationId xmlns:a16="http://schemas.microsoft.com/office/drawing/2014/main" id="{E944E37D-5134-488F-B99E-EC9D51BDBAA4}"/>
                  </a:ext>
                </a:extLst>
              </p:cNvPr>
              <p:cNvSpPr/>
              <p:nvPr/>
            </p:nvSpPr>
            <p:spPr>
              <a:xfrm rot="10800000">
                <a:off x="1181520" y="3252216"/>
                <a:ext cx="1722088" cy="687684"/>
              </a:xfrm>
              <a:prstGeom prst="round2Same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rgbClr val="EF7E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accent2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29" name="사각형: 둥근 위쪽 모서리 28">
                <a:extLst>
                  <a:ext uri="{FF2B5EF4-FFF2-40B4-BE49-F238E27FC236}">
                    <a16:creationId xmlns:a16="http://schemas.microsoft.com/office/drawing/2014/main" id="{42464CAF-9D98-4750-86F0-8A8751822406}"/>
                  </a:ext>
                </a:extLst>
              </p:cNvPr>
              <p:cNvSpPr/>
              <p:nvPr/>
            </p:nvSpPr>
            <p:spPr>
              <a:xfrm rot="10800000">
                <a:off x="3557784" y="3252247"/>
                <a:ext cx="1722088" cy="687654"/>
              </a:xfrm>
              <a:prstGeom prst="round2SameRect">
                <a:avLst/>
              </a:prstGeom>
              <a:solidFill>
                <a:srgbClr val="FEDAE8"/>
              </a:solidFill>
              <a:ln>
                <a:solidFill>
                  <a:srgbClr val="EDB9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accent2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30" name="사각형: 둥근 위쪽 모서리 29">
                <a:extLst>
                  <a:ext uri="{FF2B5EF4-FFF2-40B4-BE49-F238E27FC236}">
                    <a16:creationId xmlns:a16="http://schemas.microsoft.com/office/drawing/2014/main" id="{229CCC98-B75C-43E9-A406-4B375D128C88}"/>
                  </a:ext>
                </a:extLst>
              </p:cNvPr>
              <p:cNvSpPr/>
              <p:nvPr/>
            </p:nvSpPr>
            <p:spPr>
              <a:xfrm rot="10800000">
                <a:off x="5946254" y="3272258"/>
                <a:ext cx="1722089" cy="687654"/>
              </a:xfrm>
              <a:prstGeom prst="round2Same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rgbClr val="8BF8F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accent2">
                      <a:lumMod val="20000"/>
                      <a:lumOff val="80000"/>
                    </a:schemeClr>
                  </a:solidFill>
                </a:endParaRP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9BE09AD-E588-45E4-8FF6-D3EF3BFFB241}"/>
                </a:ext>
              </a:extLst>
            </p:cNvPr>
            <p:cNvSpPr txBox="1"/>
            <p:nvPr/>
          </p:nvSpPr>
          <p:spPr>
            <a:xfrm>
              <a:off x="1180444" y="3615866"/>
              <a:ext cx="18405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latin typeface="+mn-ea"/>
                </a:rPr>
                <a:t>출력만 지원하는 위젯으로</a:t>
              </a:r>
              <a:r>
                <a:rPr lang="en-US" altLang="ko-KR" sz="1000" b="1" dirty="0">
                  <a:latin typeface="+mn-ea"/>
                </a:rPr>
                <a:t>,</a:t>
              </a:r>
            </a:p>
            <a:p>
              <a:r>
                <a:rPr lang="ko-KR" altLang="en-US" sz="1000" b="1" dirty="0">
                  <a:latin typeface="+mn-ea"/>
                </a:rPr>
                <a:t>위젯 오른쪽에 표시가 나타남</a:t>
              </a:r>
              <a:r>
                <a:rPr lang="en-US" altLang="ko-KR" sz="1000" b="1" dirty="0">
                  <a:latin typeface="+mn-ea"/>
                </a:rPr>
                <a:t>.</a:t>
              </a:r>
              <a:endParaRPr lang="ko-KR" altLang="en-US" sz="1000" b="1" dirty="0">
                <a:latin typeface="+mn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3BBB501-8CF0-4729-8693-9C72D7812985}"/>
                </a:ext>
              </a:extLst>
            </p:cNvPr>
            <p:cNvSpPr txBox="1"/>
            <p:nvPr/>
          </p:nvSpPr>
          <p:spPr>
            <a:xfrm>
              <a:off x="3559571" y="3598203"/>
              <a:ext cx="17539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latin typeface="+mn-ea"/>
                </a:rPr>
                <a:t>입출력을 모두 지원하는 위젯으로</a:t>
              </a:r>
              <a:r>
                <a:rPr lang="en-US" altLang="ko-KR" sz="1000" b="1" dirty="0">
                  <a:latin typeface="+mn-ea"/>
                </a:rPr>
                <a:t>,</a:t>
              </a:r>
              <a:r>
                <a:rPr lang="ko-KR" altLang="en-US" sz="1000" b="1" dirty="0">
                  <a:latin typeface="+mn-ea"/>
                </a:rPr>
                <a:t>위젯 왼쪽과 </a:t>
              </a:r>
              <a:r>
                <a:rPr lang="ko-KR" altLang="en-US" sz="1000" b="1">
                  <a:latin typeface="+mn-ea"/>
                </a:rPr>
                <a:t>오른쪽에 </a:t>
              </a:r>
              <a:br>
                <a:rPr lang="en-US" altLang="ko-KR" sz="1000" b="1">
                  <a:latin typeface="+mn-ea"/>
                </a:rPr>
              </a:br>
              <a:r>
                <a:rPr lang="ko-KR" altLang="en-US" sz="1000" b="1">
                  <a:latin typeface="+mn-ea"/>
                </a:rPr>
                <a:t>표시가 </a:t>
              </a:r>
              <a:r>
                <a:rPr lang="ko-KR" altLang="en-US" sz="1000" b="1" dirty="0">
                  <a:latin typeface="+mn-ea"/>
                </a:rPr>
                <a:t>나타남</a:t>
              </a:r>
              <a:r>
                <a:rPr lang="en-US" altLang="ko-KR" sz="1000" b="1" dirty="0">
                  <a:latin typeface="+mn-ea"/>
                </a:rPr>
                <a:t>.</a:t>
              </a:r>
              <a:endParaRPr lang="ko-KR" altLang="en-US" sz="1000" b="1" dirty="0"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E8102EB-DF14-49B8-AA71-EE36109F3843}"/>
                </a:ext>
              </a:extLst>
            </p:cNvPr>
            <p:cNvSpPr txBox="1"/>
            <p:nvPr/>
          </p:nvSpPr>
          <p:spPr>
            <a:xfrm>
              <a:off x="5946252" y="3647426"/>
              <a:ext cx="1800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latin typeface="+mn-ea"/>
                </a:rPr>
                <a:t>입력만 지원하는 위젯으로</a:t>
              </a:r>
              <a:r>
                <a:rPr lang="en-US" altLang="ko-KR" sz="1000" b="1" dirty="0">
                  <a:latin typeface="+mn-ea"/>
                </a:rPr>
                <a:t>,</a:t>
              </a:r>
            </a:p>
            <a:p>
              <a:r>
                <a:rPr lang="ko-KR" altLang="en-US" sz="1000" b="1" dirty="0">
                  <a:latin typeface="+mn-ea"/>
                </a:rPr>
                <a:t>위젯 왼쪽에 표시가 나타남</a:t>
              </a:r>
              <a:r>
                <a:rPr lang="en-US" altLang="ko-KR" sz="1000" b="1" dirty="0">
                  <a:latin typeface="+mn-ea"/>
                </a:rPr>
                <a:t>.</a:t>
              </a:r>
              <a:endParaRPr lang="ko-KR" altLang="en-US" sz="1000" b="1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1479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120C016-A63F-40DF-AAE0-91D507F3A077}"/>
              </a:ext>
            </a:extLst>
          </p:cNvPr>
          <p:cNvSpPr txBox="1"/>
          <p:nvPr/>
        </p:nvSpPr>
        <p:spPr>
          <a:xfrm>
            <a:off x="883903" y="613239"/>
            <a:ext cx="4166753" cy="408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005957"/>
                </a:solidFill>
                <a:latin typeface="+mj-ea"/>
                <a:ea typeface="+mj-ea"/>
              </a:rPr>
              <a:t>위젯 추가하는 방법</a:t>
            </a:r>
          </a:p>
        </p:txBody>
      </p:sp>
      <p:sp>
        <p:nvSpPr>
          <p:cNvPr id="8" name="모서리가 둥근 직사각형 5">
            <a:extLst>
              <a:ext uri="{FF2B5EF4-FFF2-40B4-BE49-F238E27FC236}">
                <a16:creationId xmlns:a16="http://schemas.microsoft.com/office/drawing/2014/main" id="{791732E7-9908-4DC6-8406-C72100CCC8DF}"/>
              </a:ext>
            </a:extLst>
          </p:cNvPr>
          <p:cNvSpPr/>
          <p:nvPr/>
        </p:nvSpPr>
        <p:spPr>
          <a:xfrm>
            <a:off x="663438" y="720126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3</a:t>
            </a:r>
            <a:endParaRPr lang="ko-KR" altLang="en-US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B797CE-C893-4E49-B353-00EE24CACBBB}"/>
              </a:ext>
            </a:extLst>
          </p:cNvPr>
          <p:cNvSpPr txBox="1"/>
          <p:nvPr/>
        </p:nvSpPr>
        <p:spPr>
          <a:xfrm>
            <a:off x="883903" y="1231436"/>
            <a:ext cx="4048137" cy="177619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dist">
              <a:lnSpc>
                <a:spcPts val="2700"/>
              </a:lnSpc>
            </a:pPr>
            <a:r>
              <a:rPr lang="ko-KR" altLang="en-US" sz="1600" spc="-150" dirty="0">
                <a:latin typeface="+mn-ea"/>
              </a:rPr>
              <a:t>위젯을 추가하는 방법은 크게 </a:t>
            </a:r>
            <a:r>
              <a:rPr lang="en-US" altLang="ko-KR" sz="1600" spc="-150" dirty="0">
                <a:latin typeface="+mn-ea"/>
              </a:rPr>
              <a:t>3</a:t>
            </a:r>
            <a:r>
              <a:rPr lang="ko-KR" altLang="en-US" sz="1600" spc="-150" dirty="0">
                <a:latin typeface="+mn-ea"/>
              </a:rPr>
              <a:t>가지가 있다</a:t>
            </a:r>
            <a:r>
              <a:rPr lang="en-US" altLang="ko-KR" sz="1600" spc="-150" dirty="0">
                <a:latin typeface="+mn-ea"/>
              </a:rPr>
              <a:t>.</a:t>
            </a:r>
          </a:p>
          <a:p>
            <a:pPr>
              <a:lnSpc>
                <a:spcPts val="2700"/>
              </a:lnSpc>
            </a:pPr>
            <a:endParaRPr lang="en-US" altLang="ko-KR" sz="1400" dirty="0">
              <a:latin typeface="+mn-ea"/>
            </a:endParaRPr>
          </a:p>
          <a:p>
            <a:pPr>
              <a:lnSpc>
                <a:spcPts val="2700"/>
              </a:lnSpc>
            </a:pPr>
            <a:r>
              <a:rPr lang="en-US" altLang="ko-KR" sz="1400" b="1" dirty="0">
                <a:latin typeface="+mn-ea"/>
              </a:rPr>
              <a:t>1. </a:t>
            </a:r>
            <a:r>
              <a:rPr lang="ko-KR" altLang="en-US" sz="1400" b="1" dirty="0">
                <a:latin typeface="+mn-ea"/>
              </a:rPr>
              <a:t>카테고리에서 위젯을 클릭하여 추가하기</a:t>
            </a:r>
            <a:endParaRPr lang="en-US" altLang="ko-KR" sz="1400" b="1" dirty="0">
              <a:latin typeface="+mn-ea"/>
            </a:endParaRPr>
          </a:p>
          <a:p>
            <a:pPr>
              <a:lnSpc>
                <a:spcPts val="2700"/>
              </a:lnSpc>
            </a:pPr>
            <a:r>
              <a:rPr lang="en-US" altLang="ko-KR" sz="1400" b="1" dirty="0">
                <a:latin typeface="+mn-ea"/>
              </a:rPr>
              <a:t>2. </a:t>
            </a:r>
            <a:r>
              <a:rPr lang="ko-KR" altLang="en-US" sz="1400" b="1" dirty="0">
                <a:latin typeface="+mn-ea"/>
              </a:rPr>
              <a:t>카테고리에서 위젯을 캔버스로 </a:t>
            </a:r>
            <a:r>
              <a:rPr lang="ko-KR" altLang="en-US" sz="1400" b="1">
                <a:latin typeface="+mn-ea"/>
              </a:rPr>
              <a:t>드래그해서 </a:t>
            </a:r>
            <a:br>
              <a:rPr lang="en-US" altLang="ko-KR" sz="1400" b="1">
                <a:latin typeface="+mn-ea"/>
              </a:rPr>
            </a:br>
            <a:r>
              <a:rPr lang="en-US" altLang="ko-KR" sz="1400" b="1">
                <a:latin typeface="+mn-ea"/>
              </a:rPr>
              <a:t>   </a:t>
            </a:r>
            <a:r>
              <a:rPr lang="ko-KR" altLang="en-US" sz="1400" b="1">
                <a:latin typeface="+mn-ea"/>
              </a:rPr>
              <a:t>추가하기</a:t>
            </a:r>
            <a:endParaRPr lang="en-US" altLang="ko-KR" sz="1400" b="1" dirty="0">
              <a:latin typeface="+mn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0E60ADE-D020-4DE8-A843-2BD42AA724C7}"/>
              </a:ext>
            </a:extLst>
          </p:cNvPr>
          <p:cNvGrpSpPr/>
          <p:nvPr/>
        </p:nvGrpSpPr>
        <p:grpSpPr>
          <a:xfrm>
            <a:off x="5121087" y="1103142"/>
            <a:ext cx="2504998" cy="1874389"/>
            <a:chOff x="5434776" y="807069"/>
            <a:chExt cx="2790825" cy="190500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5668CDA7-3C73-4D64-AD18-08C4A0A30B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/>
            <a:stretch/>
          </p:blipFill>
          <p:spPr>
            <a:xfrm>
              <a:off x="5434776" y="807069"/>
              <a:ext cx="2790825" cy="1905000"/>
            </a:xfrm>
            <a:prstGeom prst="rect">
              <a:avLst/>
            </a:prstGeom>
          </p:spPr>
        </p:pic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8D253C1B-9D75-4C06-9E7A-4580848D773F}"/>
                </a:ext>
              </a:extLst>
            </p:cNvPr>
            <p:cNvSpPr/>
            <p:nvPr/>
          </p:nvSpPr>
          <p:spPr>
            <a:xfrm>
              <a:off x="5472000" y="1098000"/>
              <a:ext cx="649392" cy="825678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62B9B764-84AC-4D45-98C5-1954E4C9A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132" y="1555882"/>
            <a:ext cx="600075" cy="7429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3529F45-5665-47C2-9248-86B391DC6811}"/>
              </a:ext>
            </a:extLst>
          </p:cNvPr>
          <p:cNvSpPr txBox="1"/>
          <p:nvPr/>
        </p:nvSpPr>
        <p:spPr>
          <a:xfrm>
            <a:off x="883903" y="3080358"/>
            <a:ext cx="4048136" cy="737446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sz="1400" b="1" dirty="0">
                <a:latin typeface="+mn-ea"/>
              </a:rPr>
              <a:t>3. </a:t>
            </a:r>
            <a:r>
              <a:rPr lang="ko-KR" altLang="en-US" sz="1400" b="1" dirty="0">
                <a:latin typeface="+mn-ea"/>
              </a:rPr>
              <a:t>캔버스의 빈 공간에 오른쪽 마우스 클릭한 </a:t>
            </a:r>
            <a:r>
              <a:rPr lang="ko-KR" altLang="en-US" sz="1400" b="1">
                <a:latin typeface="+mn-ea"/>
              </a:rPr>
              <a:t>후</a:t>
            </a:r>
            <a:r>
              <a:rPr lang="en-US" altLang="ko-KR" sz="1400" b="1">
                <a:latin typeface="+mn-ea"/>
              </a:rPr>
              <a:t>,</a:t>
            </a:r>
            <a:br>
              <a:rPr lang="en-US" altLang="ko-KR" sz="1400" b="1">
                <a:latin typeface="+mn-ea"/>
              </a:rPr>
            </a:br>
            <a:r>
              <a:rPr lang="en-US" altLang="ko-KR" sz="1400" b="1">
                <a:latin typeface="+mn-ea"/>
              </a:rPr>
              <a:t>  </a:t>
            </a:r>
            <a:r>
              <a:rPr lang="en-US" altLang="ko-KR" sz="1400" b="1" dirty="0">
                <a:latin typeface="+mn-ea"/>
              </a:rPr>
              <a:t> </a:t>
            </a:r>
            <a:r>
              <a:rPr lang="ko-KR" altLang="en-US" sz="1400" b="1">
                <a:latin typeface="+mn-ea"/>
              </a:rPr>
              <a:t>원하는 </a:t>
            </a:r>
            <a:r>
              <a:rPr lang="ko-KR" altLang="en-US" sz="1400" b="1" dirty="0">
                <a:latin typeface="+mn-ea"/>
              </a:rPr>
              <a:t>위젯 검색하여 추가하기</a:t>
            </a:r>
            <a:endParaRPr lang="en-US" altLang="ko-KR" sz="1400" b="1" dirty="0">
              <a:latin typeface="+mn-ea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C4623C3-4958-434A-AC98-EB36746C1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711" y="3188623"/>
            <a:ext cx="2224974" cy="170346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0E4FC1A-3B67-48D4-954D-E59FDD663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085" y="3579862"/>
            <a:ext cx="600075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979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69C39D-9414-4647-959F-9F2E767FDCC6}"/>
              </a:ext>
            </a:extLst>
          </p:cNvPr>
          <p:cNvSpPr txBox="1"/>
          <p:nvPr/>
        </p:nvSpPr>
        <p:spPr>
          <a:xfrm>
            <a:off x="883903" y="699542"/>
            <a:ext cx="4166753" cy="408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005957"/>
                </a:solidFill>
                <a:latin typeface="+mn-ea"/>
              </a:rPr>
              <a:t>위젯 연결 방법</a:t>
            </a:r>
          </a:p>
        </p:txBody>
      </p:sp>
      <p:sp>
        <p:nvSpPr>
          <p:cNvPr id="3" name="모서리가 둥근 직사각형 5">
            <a:extLst>
              <a:ext uri="{FF2B5EF4-FFF2-40B4-BE49-F238E27FC236}">
                <a16:creationId xmlns:a16="http://schemas.microsoft.com/office/drawing/2014/main" id="{ED434B95-5E0E-431B-BB69-3FA05212088A}"/>
              </a:ext>
            </a:extLst>
          </p:cNvPr>
          <p:cNvSpPr/>
          <p:nvPr/>
        </p:nvSpPr>
        <p:spPr>
          <a:xfrm>
            <a:off x="663438" y="806429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4</a:t>
            </a:r>
            <a:endParaRPr lang="ko-KR" altLang="en-US" b="1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62FDD4-B5E0-4577-B398-D30C2460B994}"/>
              </a:ext>
            </a:extLst>
          </p:cNvPr>
          <p:cNvSpPr txBox="1"/>
          <p:nvPr/>
        </p:nvSpPr>
        <p:spPr>
          <a:xfrm>
            <a:off x="909929" y="1275606"/>
            <a:ext cx="6937520" cy="741806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sz="1400" dirty="0">
                <a:latin typeface="+mj-ea"/>
                <a:ea typeface="+mj-ea"/>
              </a:rPr>
              <a:t>입출력을 나타내는 표시인 점선에 마우스를 놓고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ko-KR" altLang="en-US" sz="1400" dirty="0">
                <a:latin typeface="+mj-ea"/>
                <a:ea typeface="+mj-ea"/>
              </a:rPr>
              <a:t>연결하고자 하는 위젯으로 </a:t>
            </a:r>
            <a:r>
              <a:rPr lang="ko-KR" altLang="en-US" sz="1400" dirty="0" err="1">
                <a:latin typeface="+mj-ea"/>
                <a:ea typeface="+mj-ea"/>
              </a:rPr>
              <a:t>드래그하면</a:t>
            </a:r>
            <a:r>
              <a:rPr lang="ko-KR" altLang="en-US" sz="1400" dirty="0">
                <a:latin typeface="+mj-ea"/>
                <a:ea typeface="+mj-ea"/>
              </a:rPr>
              <a:t> 실선이 나타나면서 연결된다</a:t>
            </a:r>
            <a:r>
              <a:rPr lang="en-US" altLang="ko-KR" sz="16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8B887EC-6493-4567-9F99-465B22DA63A4}"/>
              </a:ext>
            </a:extLst>
          </p:cNvPr>
          <p:cNvGrpSpPr/>
          <p:nvPr/>
        </p:nvGrpSpPr>
        <p:grpSpPr>
          <a:xfrm>
            <a:off x="1043608" y="2571750"/>
            <a:ext cx="6912768" cy="1440160"/>
            <a:chOff x="1043608" y="2571750"/>
            <a:chExt cx="6912768" cy="1440160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E0FE5BDB-FC1D-44A4-86FD-B1EFB255C266}"/>
                </a:ext>
              </a:extLst>
            </p:cNvPr>
            <p:cNvGrpSpPr/>
            <p:nvPr/>
          </p:nvGrpSpPr>
          <p:grpSpPr>
            <a:xfrm>
              <a:off x="1043608" y="2571750"/>
              <a:ext cx="6912768" cy="1440160"/>
              <a:chOff x="827584" y="2571750"/>
              <a:chExt cx="6912768" cy="1440160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C275BBC2-4CEC-4202-9AEE-A5545B4329AD}"/>
                  </a:ext>
                </a:extLst>
              </p:cNvPr>
              <p:cNvSpPr/>
              <p:nvPr/>
            </p:nvSpPr>
            <p:spPr>
              <a:xfrm>
                <a:off x="827584" y="2571750"/>
                <a:ext cx="2808312" cy="1440160"/>
              </a:xfrm>
              <a:prstGeom prst="roundRect">
                <a:avLst/>
              </a:prstGeom>
              <a:noFill/>
              <a:ln>
                <a:solidFill>
                  <a:srgbClr val="284D1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79F2AFC8-0416-4C75-B9C7-CF13BE7DB81F}"/>
                  </a:ext>
                </a:extLst>
              </p:cNvPr>
              <p:cNvSpPr/>
              <p:nvPr/>
            </p:nvSpPr>
            <p:spPr>
              <a:xfrm>
                <a:off x="4932040" y="2571750"/>
                <a:ext cx="2808312" cy="1440160"/>
              </a:xfrm>
              <a:prstGeom prst="roundRect">
                <a:avLst/>
              </a:prstGeom>
              <a:noFill/>
              <a:ln>
                <a:solidFill>
                  <a:srgbClr val="284D1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화살표: 오른쪽 6">
                <a:extLst>
                  <a:ext uri="{FF2B5EF4-FFF2-40B4-BE49-F238E27FC236}">
                    <a16:creationId xmlns:a16="http://schemas.microsoft.com/office/drawing/2014/main" id="{25A5B22F-A077-4EA4-B0E2-BC1CF8D1AE44}"/>
                  </a:ext>
                </a:extLst>
              </p:cNvPr>
              <p:cNvSpPr/>
              <p:nvPr/>
            </p:nvSpPr>
            <p:spPr>
              <a:xfrm>
                <a:off x="3899054" y="3003798"/>
                <a:ext cx="792088" cy="504056"/>
              </a:xfrm>
              <a:prstGeom prst="rightArrow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CB3CDA60-4725-40DA-B2FD-83F51725E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5016" y="2848824"/>
              <a:ext cx="2345495" cy="1008112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2CABD8F3-DF31-411B-9E83-34EAC70735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99772" y="2787774"/>
              <a:ext cx="2504896" cy="10801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9651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C5A792-CEB6-4BAA-B4B2-92207AB9C3ED}"/>
              </a:ext>
            </a:extLst>
          </p:cNvPr>
          <p:cNvSpPr txBox="1"/>
          <p:nvPr/>
        </p:nvSpPr>
        <p:spPr>
          <a:xfrm>
            <a:off x="883903" y="771550"/>
            <a:ext cx="4166753" cy="408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005957"/>
                </a:solidFill>
                <a:latin typeface="+mn-ea"/>
              </a:rPr>
              <a:t>위젯 이름 변경 및 삭제 방법</a:t>
            </a:r>
          </a:p>
        </p:txBody>
      </p:sp>
      <p:sp>
        <p:nvSpPr>
          <p:cNvPr id="3" name="모서리가 둥근 직사각형 5">
            <a:extLst>
              <a:ext uri="{FF2B5EF4-FFF2-40B4-BE49-F238E27FC236}">
                <a16:creationId xmlns:a16="http://schemas.microsoft.com/office/drawing/2014/main" id="{3EE944C7-9F4C-4B81-A3A8-AEA02A6546B4}"/>
              </a:ext>
            </a:extLst>
          </p:cNvPr>
          <p:cNvSpPr/>
          <p:nvPr/>
        </p:nvSpPr>
        <p:spPr>
          <a:xfrm>
            <a:off x="663438" y="878437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5</a:t>
            </a:r>
            <a:endParaRPr lang="ko-KR" altLang="en-US" b="1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A69DD1-EFB2-4993-A46B-271FF79EBB3C}"/>
              </a:ext>
            </a:extLst>
          </p:cNvPr>
          <p:cNvSpPr txBox="1"/>
          <p:nvPr/>
        </p:nvSpPr>
        <p:spPr>
          <a:xfrm>
            <a:off x="802833" y="1583286"/>
            <a:ext cx="5353344" cy="212244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lnSpc>
                <a:spcPts val="2700"/>
              </a:lnSpc>
              <a:buFontTx/>
              <a:buChar char="-"/>
            </a:pPr>
            <a:r>
              <a:rPr lang="ko-KR" altLang="en-US" sz="1400" dirty="0">
                <a:latin typeface="+mn-ea"/>
              </a:rPr>
              <a:t>이름을 변경할 위젯을 오른쪽 마우스 클릭한 후</a:t>
            </a:r>
            <a:r>
              <a:rPr lang="en-US" altLang="ko-KR" sz="1400" dirty="0">
                <a:latin typeface="+mn-ea"/>
              </a:rPr>
              <a:t>, </a:t>
            </a:r>
          </a:p>
          <a:p>
            <a:pPr>
              <a:lnSpc>
                <a:spcPts val="2700"/>
              </a:lnSpc>
            </a:pPr>
            <a:r>
              <a:rPr lang="en-US" altLang="ko-KR" sz="1400" dirty="0">
                <a:latin typeface="+mn-ea"/>
              </a:rPr>
              <a:t>    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Rename</a:t>
            </a:r>
            <a:r>
              <a:rPr lang="ko-KR" altLang="en-US" sz="1400" dirty="0">
                <a:latin typeface="+mn-ea"/>
              </a:rPr>
              <a:t>을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선택</a:t>
            </a:r>
            <a:r>
              <a:rPr lang="ko-KR" altLang="en-US" sz="1400" dirty="0">
                <a:latin typeface="+mn-ea"/>
              </a:rPr>
              <a:t>하여 원하는 이름으로 변경한다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>
              <a:lnSpc>
                <a:spcPts val="2700"/>
              </a:lnSpc>
            </a:pPr>
            <a:endParaRPr lang="en-US" altLang="ko-KR" sz="1400" spc="-150" dirty="0">
              <a:latin typeface="+mn-ea"/>
            </a:endParaRPr>
          </a:p>
          <a:p>
            <a:pPr marL="285750" indent="-285750">
              <a:lnSpc>
                <a:spcPts val="2700"/>
              </a:lnSpc>
              <a:buFontTx/>
              <a:buChar char="-"/>
            </a:pPr>
            <a:r>
              <a:rPr lang="ko-KR" altLang="en-US" sz="1400" dirty="0">
                <a:latin typeface="+mn-ea"/>
              </a:rPr>
              <a:t>삭제할 위젯을 오른쪽 마우스 클릭한 후</a:t>
            </a:r>
            <a:r>
              <a:rPr lang="en-US" altLang="ko-KR" sz="1400" dirty="0">
                <a:latin typeface="+mn-ea"/>
              </a:rPr>
              <a:t>,</a:t>
            </a:r>
          </a:p>
          <a:p>
            <a:pPr>
              <a:lnSpc>
                <a:spcPts val="2700"/>
              </a:lnSpc>
            </a:pP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Remove</a:t>
            </a:r>
            <a:r>
              <a:rPr lang="ko-KR" altLang="en-US" sz="1400" dirty="0">
                <a:latin typeface="+mn-ea"/>
              </a:rPr>
              <a:t>를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선택</a:t>
            </a:r>
            <a:r>
              <a:rPr lang="ko-KR" altLang="en-US" sz="1400" dirty="0">
                <a:latin typeface="+mn-ea"/>
              </a:rPr>
              <a:t>하거나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위젯을 직접 선택하여 </a:t>
            </a:r>
            <a:endParaRPr lang="en-US" altLang="ko-KR" sz="1400" dirty="0">
              <a:latin typeface="+mn-ea"/>
            </a:endParaRPr>
          </a:p>
          <a:p>
            <a:pPr>
              <a:lnSpc>
                <a:spcPts val="2700"/>
              </a:lnSpc>
            </a:pP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     Delete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또는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Backspace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키</a:t>
            </a:r>
            <a:r>
              <a:rPr lang="ko-KR" altLang="en-US" sz="1400" dirty="0">
                <a:latin typeface="+mn-ea"/>
              </a:rPr>
              <a:t>를 누른다</a:t>
            </a:r>
            <a:r>
              <a:rPr lang="en-US" altLang="ko-KR" sz="1400" spc="-150" dirty="0">
                <a:latin typeface="+mn-ea"/>
              </a:rPr>
              <a:t>.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AD57408-AB3F-4469-8FDE-03E8A8546BEF}"/>
              </a:ext>
            </a:extLst>
          </p:cNvPr>
          <p:cNvGrpSpPr/>
          <p:nvPr/>
        </p:nvGrpSpPr>
        <p:grpSpPr>
          <a:xfrm>
            <a:off x="5220072" y="1433413"/>
            <a:ext cx="2929092" cy="2362473"/>
            <a:chOff x="5027284" y="1372542"/>
            <a:chExt cx="2929092" cy="2362473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AB584226-BF17-4793-B643-8A0158E57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8064" y="1372542"/>
              <a:ext cx="2808312" cy="2362473"/>
            </a:xfrm>
            <a:prstGeom prst="rect">
              <a:avLst/>
            </a:prstGeom>
          </p:spPr>
        </p:pic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A2F975FE-FA32-4FD3-9C54-041CB9D5F217}"/>
                </a:ext>
              </a:extLst>
            </p:cNvPr>
            <p:cNvSpPr/>
            <p:nvPr/>
          </p:nvSpPr>
          <p:spPr>
            <a:xfrm>
              <a:off x="6264000" y="2355726"/>
              <a:ext cx="1080120" cy="198938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4DC6ED12-5F8A-40A2-A854-77428ABEDBCE}"/>
                </a:ext>
              </a:extLst>
            </p:cNvPr>
            <p:cNvSpPr/>
            <p:nvPr/>
          </p:nvSpPr>
          <p:spPr>
            <a:xfrm>
              <a:off x="6264000" y="2599200"/>
              <a:ext cx="1476352" cy="198938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" name="연결선: 꺾임 15">
              <a:extLst>
                <a:ext uri="{FF2B5EF4-FFF2-40B4-BE49-F238E27FC236}">
                  <a16:creationId xmlns:a16="http://schemas.microsoft.com/office/drawing/2014/main" id="{20FAB59F-3C00-4229-AB03-A6DD32D7DD95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rot="10800000" flipV="1">
              <a:off x="5796136" y="2455194"/>
              <a:ext cx="467864" cy="188563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C00000"/>
              </a:solidFill>
              <a:prstDash val="dash"/>
              <a:headEnd type="oval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연결선: 꺾임 18">
              <a:extLst>
                <a:ext uri="{FF2B5EF4-FFF2-40B4-BE49-F238E27FC236}">
                  <a16:creationId xmlns:a16="http://schemas.microsoft.com/office/drawing/2014/main" id="{2C73A11F-C3C4-4788-B73D-F695E438AF8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796000" y="2743227"/>
              <a:ext cx="467864" cy="188563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C00000"/>
              </a:solidFill>
              <a:prstDash val="dash"/>
              <a:headEnd type="oval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0F29D0E-C243-4704-A97F-A7CCDF38C615}"/>
                </a:ext>
              </a:extLst>
            </p:cNvPr>
            <p:cNvSpPr txBox="1"/>
            <p:nvPr/>
          </p:nvSpPr>
          <p:spPr>
            <a:xfrm>
              <a:off x="5027284" y="2505257"/>
              <a:ext cx="8894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이름 변경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336B5C3-F28B-479B-BD10-57443C053C8A}"/>
                </a:ext>
              </a:extLst>
            </p:cNvPr>
            <p:cNvSpPr txBox="1"/>
            <p:nvPr/>
          </p:nvSpPr>
          <p:spPr>
            <a:xfrm>
              <a:off x="5027284" y="2798138"/>
              <a:ext cx="8894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위젯 삭제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5045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232DA7-47D9-4800-96D5-328E827F6185}"/>
              </a:ext>
            </a:extLst>
          </p:cNvPr>
          <p:cNvSpPr txBox="1"/>
          <p:nvPr/>
        </p:nvSpPr>
        <p:spPr>
          <a:xfrm>
            <a:off x="6804248" y="448183"/>
            <a:ext cx="1777087" cy="287715"/>
          </a:xfrm>
          <a:prstGeom prst="roundRect">
            <a:avLst>
              <a:gd name="adj" fmla="val 7104"/>
            </a:avLst>
          </a:prstGeom>
          <a:solidFill>
            <a:srgbClr val="E2ECAE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+mj-ea"/>
                <a:ea typeface="+mj-ea"/>
              </a:rPr>
              <a:t>Orange3</a:t>
            </a:r>
            <a:r>
              <a:rPr lang="ko-KR" altLang="en-US" sz="1200" b="1" dirty="0">
                <a:latin typeface="+mj-ea"/>
                <a:ea typeface="+mj-ea"/>
              </a:rPr>
              <a:t> 맛보기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FC07502-278E-470A-B263-40E8F5D53772}"/>
              </a:ext>
            </a:extLst>
          </p:cNvPr>
          <p:cNvGrpSpPr/>
          <p:nvPr/>
        </p:nvGrpSpPr>
        <p:grpSpPr>
          <a:xfrm>
            <a:off x="1293850" y="2139702"/>
            <a:ext cx="6501315" cy="1912228"/>
            <a:chOff x="1293850" y="2139702"/>
            <a:chExt cx="6501315" cy="1912228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4D844E76-C77B-4678-85A9-FA768D5C59ED}"/>
                </a:ext>
              </a:extLst>
            </p:cNvPr>
            <p:cNvSpPr/>
            <p:nvPr/>
          </p:nvSpPr>
          <p:spPr>
            <a:xfrm>
              <a:off x="1293850" y="2159712"/>
              <a:ext cx="1722088" cy="1872208"/>
            </a:xfrm>
            <a:prstGeom prst="roundRect">
              <a:avLst/>
            </a:prstGeom>
            <a:noFill/>
            <a:ln>
              <a:solidFill>
                <a:srgbClr val="EF7E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FB96815E-FC7C-4832-8E2E-F3B41F4099B5}"/>
                </a:ext>
              </a:extLst>
            </p:cNvPr>
            <p:cNvSpPr/>
            <p:nvPr/>
          </p:nvSpPr>
          <p:spPr>
            <a:xfrm>
              <a:off x="3670114" y="2139702"/>
              <a:ext cx="1722088" cy="1892218"/>
            </a:xfrm>
            <a:prstGeom prst="roundRect">
              <a:avLst/>
            </a:prstGeom>
            <a:noFill/>
            <a:ln>
              <a:solidFill>
                <a:srgbClr val="EDB9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F7FDF028-EEF1-4341-941B-E272E7F430ED}"/>
                </a:ext>
              </a:extLst>
            </p:cNvPr>
            <p:cNvSpPr/>
            <p:nvPr/>
          </p:nvSpPr>
          <p:spPr>
            <a:xfrm>
              <a:off x="6058582" y="2159712"/>
              <a:ext cx="1722091" cy="1892218"/>
            </a:xfrm>
            <a:prstGeom prst="roundRect">
              <a:avLst/>
            </a:prstGeom>
            <a:noFill/>
            <a:ln>
              <a:solidFill>
                <a:srgbClr val="90F8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사각형: 둥근 위쪽 모서리 15">
              <a:extLst>
                <a:ext uri="{FF2B5EF4-FFF2-40B4-BE49-F238E27FC236}">
                  <a16:creationId xmlns:a16="http://schemas.microsoft.com/office/drawing/2014/main" id="{11F7EEF8-8E17-41E7-BEF8-EE74E1AF6C6F}"/>
                </a:ext>
              </a:extLst>
            </p:cNvPr>
            <p:cNvSpPr/>
            <p:nvPr/>
          </p:nvSpPr>
          <p:spPr>
            <a:xfrm rot="10800000">
              <a:off x="1293850" y="2715766"/>
              <a:ext cx="1722088" cy="1316152"/>
            </a:xfrm>
            <a:prstGeom prst="round2Same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EF7E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7" name="사각형: 둥근 위쪽 모서리 16">
              <a:extLst>
                <a:ext uri="{FF2B5EF4-FFF2-40B4-BE49-F238E27FC236}">
                  <a16:creationId xmlns:a16="http://schemas.microsoft.com/office/drawing/2014/main" id="{18920091-3544-4422-89F6-B98C4760DB83}"/>
                </a:ext>
              </a:extLst>
            </p:cNvPr>
            <p:cNvSpPr/>
            <p:nvPr/>
          </p:nvSpPr>
          <p:spPr>
            <a:xfrm rot="10800000">
              <a:off x="3670114" y="2715766"/>
              <a:ext cx="1722088" cy="1316153"/>
            </a:xfrm>
            <a:prstGeom prst="round2SameRect">
              <a:avLst/>
            </a:prstGeom>
            <a:solidFill>
              <a:srgbClr val="FEDAE8"/>
            </a:solidFill>
            <a:ln>
              <a:solidFill>
                <a:srgbClr val="EDB9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8" name="사각형: 둥근 위쪽 모서리 17">
              <a:extLst>
                <a:ext uri="{FF2B5EF4-FFF2-40B4-BE49-F238E27FC236}">
                  <a16:creationId xmlns:a16="http://schemas.microsoft.com/office/drawing/2014/main" id="{32D1802D-8483-4E2A-BEE4-4957BE0F8A35}"/>
                </a:ext>
              </a:extLst>
            </p:cNvPr>
            <p:cNvSpPr/>
            <p:nvPr/>
          </p:nvSpPr>
          <p:spPr>
            <a:xfrm rot="10800000">
              <a:off x="6058583" y="2715766"/>
              <a:ext cx="1722089" cy="1336164"/>
            </a:xfrm>
            <a:prstGeom prst="round2SameRect">
              <a:avLst/>
            </a:prstGeom>
            <a:solidFill>
              <a:srgbClr val="C7EFE3"/>
            </a:solidFill>
            <a:ln>
              <a:solidFill>
                <a:srgbClr val="90F8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A444E0A-6BEB-4229-8CA1-3C274C3C6B14}"/>
                </a:ext>
              </a:extLst>
            </p:cNvPr>
            <p:cNvSpPr txBox="1"/>
            <p:nvPr/>
          </p:nvSpPr>
          <p:spPr>
            <a:xfrm>
              <a:off x="1304125" y="2880886"/>
              <a:ext cx="1722088" cy="9859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+mn-ea"/>
                </a:rPr>
                <a:t>훈련 데이터</a:t>
              </a:r>
              <a:r>
                <a:rPr lang="en-US" altLang="ko-KR" sz="1000" dirty="0">
                  <a:latin typeface="+mn-ea"/>
                </a:rPr>
                <a:t>(training data)</a:t>
              </a:r>
              <a:r>
                <a:rPr lang="ko-KR" altLang="en-US" sz="1000" dirty="0">
                  <a:latin typeface="+mn-ea"/>
                </a:rPr>
                <a:t>와 테스트 데이터</a:t>
              </a:r>
              <a:r>
                <a:rPr lang="en-US" altLang="ko-KR" sz="1000" dirty="0">
                  <a:latin typeface="+mn-ea"/>
                </a:rPr>
                <a:t>(test data)</a:t>
              </a:r>
              <a:r>
                <a:rPr lang="ko-KR" altLang="en-US" sz="1000" dirty="0">
                  <a:latin typeface="+mn-ea"/>
                </a:rPr>
                <a:t>를 구분하고 모델 학습에 적절한 데이터로 준비하기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A0FFC00-6126-47AF-8CD6-6F4875F94F33}"/>
                </a:ext>
              </a:extLst>
            </p:cNvPr>
            <p:cNvSpPr txBox="1"/>
            <p:nvPr/>
          </p:nvSpPr>
          <p:spPr>
            <a:xfrm>
              <a:off x="1603453" y="2355726"/>
              <a:ext cx="10906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latin typeface="+mn-ea"/>
                </a:rPr>
                <a:t>데이터 준비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13A81C-DF34-42CD-978F-C2FEB0440204}"/>
                </a:ext>
              </a:extLst>
            </p:cNvPr>
            <p:cNvSpPr txBox="1"/>
            <p:nvPr/>
          </p:nvSpPr>
          <p:spPr>
            <a:xfrm>
              <a:off x="4003537" y="2299240"/>
              <a:ext cx="10906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latin typeface="+mj-ea"/>
                  <a:ea typeface="+mj-ea"/>
                </a:rPr>
                <a:t>모델 학습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CEB4552-9E07-48E8-AB7C-1A51568E6F05}"/>
                </a:ext>
              </a:extLst>
            </p:cNvPr>
            <p:cNvSpPr txBox="1"/>
            <p:nvPr/>
          </p:nvSpPr>
          <p:spPr>
            <a:xfrm>
              <a:off x="6374288" y="2355725"/>
              <a:ext cx="10906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latin typeface="+mj-ea"/>
                  <a:ea typeface="+mj-ea"/>
                </a:rPr>
                <a:t>성능 평가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0E58663-D00B-4AF8-9634-1901FF4ADA71}"/>
                </a:ext>
              </a:extLst>
            </p:cNvPr>
            <p:cNvSpPr txBox="1"/>
            <p:nvPr/>
          </p:nvSpPr>
          <p:spPr>
            <a:xfrm>
              <a:off x="3682318" y="2983792"/>
              <a:ext cx="1722088" cy="524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000" dirty="0">
                  <a:latin typeface="+mn-ea"/>
                </a:rPr>
                <a:t>모델 위젯을 사용하여 </a:t>
              </a:r>
              <a:endParaRPr lang="en-US" altLang="ko-KR" sz="1000" dirty="0"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000" dirty="0">
                  <a:latin typeface="+mn-ea"/>
                </a:rPr>
                <a:t>모델 학습하기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CB3E875-A1C5-4571-84AF-12AC680DA475}"/>
                </a:ext>
              </a:extLst>
            </p:cNvPr>
            <p:cNvSpPr txBox="1"/>
            <p:nvPr/>
          </p:nvSpPr>
          <p:spPr>
            <a:xfrm>
              <a:off x="6073077" y="2931790"/>
              <a:ext cx="1722088" cy="527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000" dirty="0">
                  <a:latin typeface="+mn-ea"/>
                </a:rPr>
                <a:t>학습이 잘 되었는지</a:t>
              </a:r>
              <a:endParaRPr lang="en-US" altLang="ko-KR" sz="1000" dirty="0"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000" dirty="0">
                  <a:latin typeface="+mn-ea"/>
                </a:rPr>
                <a:t>모델 성능 평가하기</a:t>
              </a:r>
            </a:p>
          </p:txBody>
        </p:sp>
        <p:sp>
          <p:nvSpPr>
            <p:cNvPr id="24" name="화살표: 오른쪽 23">
              <a:extLst>
                <a:ext uri="{FF2B5EF4-FFF2-40B4-BE49-F238E27FC236}">
                  <a16:creationId xmlns:a16="http://schemas.microsoft.com/office/drawing/2014/main" id="{A454D852-7FEC-4C87-9DD8-3708C85B572A}"/>
                </a:ext>
              </a:extLst>
            </p:cNvPr>
            <p:cNvSpPr/>
            <p:nvPr/>
          </p:nvSpPr>
          <p:spPr>
            <a:xfrm>
              <a:off x="3131840" y="2983792"/>
              <a:ext cx="432048" cy="45205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8427FC19-9BA9-4EF8-876F-87AC7216EE94}"/>
                </a:ext>
              </a:extLst>
            </p:cNvPr>
            <p:cNvSpPr/>
            <p:nvPr/>
          </p:nvSpPr>
          <p:spPr>
            <a:xfrm>
              <a:off x="5528859" y="2978758"/>
              <a:ext cx="432048" cy="45205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072030D-12DD-4F1D-A37C-00515F65D9FE}"/>
              </a:ext>
            </a:extLst>
          </p:cNvPr>
          <p:cNvSpPr txBox="1"/>
          <p:nvPr/>
        </p:nvSpPr>
        <p:spPr>
          <a:xfrm>
            <a:off x="1224000" y="1088524"/>
            <a:ext cx="6695037" cy="737446"/>
          </a:xfrm>
          <a:prstGeom prst="rect">
            <a:avLst/>
          </a:prstGeom>
          <a:ln>
            <a:solidFill>
              <a:srgbClr val="284D1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sz="1400" b="1" dirty="0">
                <a:solidFill>
                  <a:srgbClr val="FD640F"/>
                </a:solidFill>
                <a:latin typeface="+mn-ea"/>
              </a:rPr>
              <a:t>Part2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활동에 앞서 다음 절차에 따라 인공지능 데이터 분석 과정을 체험해 보면서 </a:t>
            </a:r>
            <a:r>
              <a:rPr lang="en-US" altLang="ko-KR" sz="1400" dirty="0">
                <a:latin typeface="+mn-ea"/>
              </a:rPr>
              <a:t>Orange3 </a:t>
            </a:r>
            <a:r>
              <a:rPr lang="ko-KR" altLang="en-US" sz="1400" dirty="0">
                <a:latin typeface="+mn-ea"/>
              </a:rPr>
              <a:t>사용 방법을 알아보자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090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>
            <a:extLst>
              <a:ext uri="{FF2B5EF4-FFF2-40B4-BE49-F238E27FC236}">
                <a16:creationId xmlns:a16="http://schemas.microsoft.com/office/drawing/2014/main" id="{AEB62652-3345-444C-8405-F4C8012A780C}"/>
              </a:ext>
            </a:extLst>
          </p:cNvPr>
          <p:cNvGrpSpPr/>
          <p:nvPr/>
        </p:nvGrpSpPr>
        <p:grpSpPr>
          <a:xfrm>
            <a:off x="484976" y="504403"/>
            <a:ext cx="6158470" cy="1174597"/>
            <a:chOff x="611560" y="483520"/>
            <a:chExt cx="6158470" cy="1174597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B35B35B1-829D-47EE-8C4D-5D43A40AE01C}"/>
                </a:ext>
              </a:extLst>
            </p:cNvPr>
            <p:cNvSpPr/>
            <p:nvPr/>
          </p:nvSpPr>
          <p:spPr>
            <a:xfrm>
              <a:off x="611560" y="483520"/>
              <a:ext cx="6158470" cy="1152128"/>
            </a:xfrm>
            <a:prstGeom prst="roundRect">
              <a:avLst/>
            </a:prstGeom>
            <a:noFill/>
            <a:ln>
              <a:solidFill>
                <a:srgbClr val="EF7E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사각형: 둥근 위쪽 모서리 6">
              <a:extLst>
                <a:ext uri="{FF2B5EF4-FFF2-40B4-BE49-F238E27FC236}">
                  <a16:creationId xmlns:a16="http://schemas.microsoft.com/office/drawing/2014/main" id="{99B70464-1448-4F39-B081-BE9C850EC043}"/>
                </a:ext>
              </a:extLst>
            </p:cNvPr>
            <p:cNvSpPr/>
            <p:nvPr/>
          </p:nvSpPr>
          <p:spPr>
            <a:xfrm rot="10800000">
              <a:off x="611560" y="870088"/>
              <a:ext cx="6158470" cy="765558"/>
            </a:xfrm>
            <a:prstGeom prst="round2Same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EF7E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26527CB-16F3-4F31-A63A-9D04FBE6A68B}"/>
                </a:ext>
              </a:extLst>
            </p:cNvPr>
            <p:cNvSpPr txBox="1"/>
            <p:nvPr/>
          </p:nvSpPr>
          <p:spPr>
            <a:xfrm>
              <a:off x="703555" y="869888"/>
              <a:ext cx="6035334" cy="788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050" spc="-150">
                  <a:latin typeface="+mn-ea"/>
                </a:rPr>
                <a:t>1936</a:t>
              </a:r>
              <a:r>
                <a:rPr lang="ko-KR" altLang="en-US" sz="1050" spc="-150" dirty="0">
                  <a:latin typeface="+mn-ea"/>
                </a:rPr>
                <a:t>년</a:t>
              </a:r>
              <a:r>
                <a:rPr lang="en-US" altLang="ko-KR" sz="1050" spc="-150" dirty="0">
                  <a:latin typeface="+mn-ea"/>
                </a:rPr>
                <a:t>, </a:t>
              </a:r>
              <a:r>
                <a:rPr lang="ko-KR" altLang="en-US" sz="1050" spc="-150" dirty="0">
                  <a:latin typeface="+mn-ea"/>
                </a:rPr>
                <a:t>통계학자 로널드 </a:t>
              </a:r>
              <a:r>
                <a:rPr lang="ko-KR" altLang="en-US" sz="1050" spc="-150" dirty="0" err="1">
                  <a:latin typeface="+mn-ea"/>
                </a:rPr>
                <a:t>피셔가</a:t>
              </a:r>
              <a:r>
                <a:rPr lang="ko-KR" altLang="en-US" sz="1050" spc="-150" dirty="0">
                  <a:latin typeface="+mn-ea"/>
                </a:rPr>
                <a:t> 소개한 </a:t>
              </a:r>
              <a:r>
                <a:rPr lang="ko-KR" altLang="en-US" sz="1050" spc="-150">
                  <a:latin typeface="+mn-ea"/>
                </a:rPr>
                <a:t>붓꽃 데이터셋은 </a:t>
              </a:r>
              <a:r>
                <a:rPr lang="ko-KR" altLang="en-US" sz="1050" spc="-150" dirty="0">
                  <a:latin typeface="+mn-ea"/>
                </a:rPr>
                <a:t>세 가지 </a:t>
              </a:r>
              <a:r>
                <a:rPr lang="ko-KR" altLang="en-US" sz="1050" spc="-150">
                  <a:latin typeface="+mn-ea"/>
                </a:rPr>
                <a:t>붓꽃 품종과</a:t>
              </a:r>
              <a:r>
                <a:rPr lang="en-US" altLang="ko-KR" sz="1050" spc="-150">
                  <a:latin typeface="+mn-ea"/>
                </a:rPr>
                <a:t>,</a:t>
              </a:r>
              <a:br>
                <a:rPr lang="en-US" altLang="ko-KR" sz="1050" spc="-150">
                  <a:latin typeface="+mn-ea"/>
                </a:rPr>
              </a:br>
              <a:r>
                <a:rPr lang="ko-KR" altLang="en-US" sz="1050" spc="-150">
                  <a:latin typeface="+mn-ea"/>
                </a:rPr>
                <a:t>꽃받침</a:t>
              </a:r>
              <a:r>
                <a:rPr lang="en-US" altLang="ko-KR" sz="1050" spc="-150" dirty="0">
                  <a:latin typeface="+mn-ea"/>
                </a:rPr>
                <a:t> </a:t>
              </a:r>
              <a:r>
                <a:rPr lang="ko-KR" altLang="en-US" sz="1050" spc="-150">
                  <a:latin typeface="+mn-ea"/>
                </a:rPr>
                <a:t>길이</a:t>
              </a:r>
              <a:r>
                <a:rPr lang="en-US" altLang="ko-KR" sz="1050" spc="-150" dirty="0">
                  <a:latin typeface="+mn-ea"/>
                </a:rPr>
                <a:t>(</a:t>
              </a:r>
              <a:r>
                <a:rPr lang="en-US" altLang="ko-KR" sz="1050" dirty="0">
                  <a:latin typeface="+mn-ea"/>
                </a:rPr>
                <a:t>sepal length</a:t>
              </a:r>
              <a:r>
                <a:rPr lang="en-US" altLang="ko-KR" sz="1050" spc="-150">
                  <a:latin typeface="+mn-ea"/>
                </a:rPr>
                <a:t>),  </a:t>
              </a:r>
              <a:r>
                <a:rPr lang="ko-KR" altLang="en-US" sz="1050" spc="-150">
                  <a:latin typeface="+mn-ea"/>
                </a:rPr>
                <a:t>꽃받침 </a:t>
              </a:r>
              <a:r>
                <a:rPr lang="ko-KR" altLang="en-US" sz="1050" spc="-150" dirty="0">
                  <a:latin typeface="+mn-ea"/>
                </a:rPr>
                <a:t>너비</a:t>
              </a:r>
              <a:r>
                <a:rPr lang="en-US" altLang="ko-KR" sz="1050" spc="-150" dirty="0">
                  <a:latin typeface="+mn-ea"/>
                </a:rPr>
                <a:t>(</a:t>
              </a:r>
              <a:r>
                <a:rPr lang="en-US" altLang="ko-KR" sz="1050" dirty="0">
                  <a:latin typeface="+mn-ea"/>
                </a:rPr>
                <a:t>sepal width</a:t>
              </a:r>
              <a:r>
                <a:rPr lang="en-US" altLang="ko-KR" sz="1050" spc="-150">
                  <a:latin typeface="+mn-ea"/>
                </a:rPr>
                <a:t>),  </a:t>
              </a:r>
              <a:r>
                <a:rPr lang="ko-KR" altLang="en-US" sz="1050" spc="-150">
                  <a:latin typeface="+mn-ea"/>
                </a:rPr>
                <a:t>꽃잎 </a:t>
              </a:r>
              <a:r>
                <a:rPr lang="ko-KR" altLang="en-US" sz="1050" spc="-150" dirty="0">
                  <a:latin typeface="+mn-ea"/>
                </a:rPr>
                <a:t>길이</a:t>
              </a:r>
              <a:r>
                <a:rPr lang="en-US" altLang="ko-KR" sz="1050" spc="-150" dirty="0">
                  <a:latin typeface="+mn-ea"/>
                </a:rPr>
                <a:t>(</a:t>
              </a:r>
              <a:r>
                <a:rPr lang="en-US" altLang="ko-KR" sz="1050" dirty="0">
                  <a:latin typeface="+mn-ea"/>
                </a:rPr>
                <a:t>petal length</a:t>
              </a:r>
              <a:r>
                <a:rPr lang="en-US" altLang="ko-KR" sz="1050" spc="-150">
                  <a:latin typeface="+mn-ea"/>
                </a:rPr>
                <a:t>),  </a:t>
              </a:r>
              <a:r>
                <a:rPr lang="ko-KR" altLang="en-US" sz="1050" spc="-150">
                  <a:latin typeface="+mn-ea"/>
                </a:rPr>
                <a:t>꽃잎 </a:t>
              </a:r>
              <a:r>
                <a:rPr lang="ko-KR" altLang="en-US" sz="1050" spc="-150" dirty="0">
                  <a:latin typeface="+mn-ea"/>
                </a:rPr>
                <a:t>너비</a:t>
              </a:r>
              <a:r>
                <a:rPr lang="en-US" altLang="ko-KR" sz="1050" spc="-150" dirty="0">
                  <a:latin typeface="+mn-ea"/>
                </a:rPr>
                <a:t>(</a:t>
              </a:r>
              <a:r>
                <a:rPr lang="en-US" altLang="ko-KR" sz="1050" dirty="0">
                  <a:latin typeface="+mn-ea"/>
                </a:rPr>
                <a:t>petal </a:t>
              </a:r>
              <a:r>
                <a:rPr lang="en-US" altLang="ko-KR" sz="1050">
                  <a:latin typeface="+mn-ea"/>
                </a:rPr>
                <a:t>width</a:t>
              </a:r>
              <a:r>
                <a:rPr lang="en-US" altLang="ko-KR" sz="1050" spc="-150">
                  <a:latin typeface="+mn-ea"/>
                </a:rPr>
                <a:t>)</a:t>
              </a:r>
              <a:r>
                <a:rPr lang="ko-KR" altLang="en-US" sz="1050" spc="-150">
                  <a:latin typeface="+mn-ea"/>
                </a:rPr>
                <a:t>와 같은네 </a:t>
              </a:r>
              <a:r>
                <a:rPr lang="ko-KR" altLang="en-US" sz="1050" spc="-150" dirty="0">
                  <a:latin typeface="+mn-ea"/>
                </a:rPr>
                <a:t>가지 속성을 센티미터 단위로 측정한 데이터 </a:t>
              </a:r>
              <a:r>
                <a:rPr lang="en-US" altLang="ko-KR" sz="1050" spc="-150" dirty="0">
                  <a:latin typeface="+mn-ea"/>
                </a:rPr>
                <a:t>150</a:t>
              </a:r>
              <a:r>
                <a:rPr lang="ko-KR" altLang="en-US" sz="1050" spc="-150" dirty="0">
                  <a:latin typeface="+mn-ea"/>
                </a:rPr>
                <a:t>개로 구성되어 있다</a:t>
              </a:r>
              <a:r>
                <a:rPr lang="en-US" altLang="ko-KR" sz="1050" spc="-150" dirty="0">
                  <a:latin typeface="+mn-ea"/>
                </a:rPr>
                <a:t>.</a:t>
              </a:r>
              <a:endParaRPr lang="ko-KR" altLang="en-US" sz="1050" spc="-150" dirty="0">
                <a:latin typeface="+mn-ea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90A3BCF-E534-41B8-8487-BBB2EEC84D84}"/>
                </a:ext>
              </a:extLst>
            </p:cNvPr>
            <p:cNvSpPr txBox="1"/>
            <p:nvPr/>
          </p:nvSpPr>
          <p:spPr>
            <a:xfrm>
              <a:off x="1615529" y="540776"/>
              <a:ext cx="41926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>
                  <a:latin typeface="+mj-ea"/>
                  <a:ea typeface="+mj-ea"/>
                </a:rPr>
                <a:t>Iris </a:t>
              </a:r>
              <a:r>
                <a:rPr lang="ko-KR" altLang="en-US" sz="1200" b="1">
                  <a:latin typeface="+mj-ea"/>
                  <a:ea typeface="+mj-ea"/>
                </a:rPr>
                <a:t>데이터셋을 </a:t>
              </a:r>
              <a:r>
                <a:rPr lang="ko-KR" altLang="en-US" sz="1200" b="1" dirty="0">
                  <a:latin typeface="+mj-ea"/>
                  <a:ea typeface="+mj-ea"/>
                </a:rPr>
                <a:t>활용하여 </a:t>
              </a:r>
              <a:r>
                <a:rPr lang="ko-KR" altLang="en-US" sz="1200" b="1" dirty="0">
                  <a:solidFill>
                    <a:schemeClr val="accent2"/>
                  </a:solidFill>
                  <a:latin typeface="+mj-ea"/>
                  <a:ea typeface="+mj-ea"/>
                </a:rPr>
                <a:t>붓꽃 품종 예측 모델 만들기</a:t>
              </a:r>
            </a:p>
          </p:txBody>
        </p:sp>
      </p:grpSp>
      <p:pic>
        <p:nvPicPr>
          <p:cNvPr id="28" name="그림 27">
            <a:extLst>
              <a:ext uri="{FF2B5EF4-FFF2-40B4-BE49-F238E27FC236}">
                <a16:creationId xmlns:a16="http://schemas.microsoft.com/office/drawing/2014/main" id="{9D62F7B0-53D4-47A7-ADE5-C319986D5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638" y="1851663"/>
            <a:ext cx="456059" cy="56464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CDA86F50-7279-4D3A-9545-DA3224B77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1" y="1948025"/>
            <a:ext cx="987378" cy="21820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FFDF0A0-97E4-4775-B8E9-D943A5473C1D}"/>
              </a:ext>
            </a:extLst>
          </p:cNvPr>
          <p:cNvSpPr txBox="1"/>
          <p:nvPr/>
        </p:nvSpPr>
        <p:spPr>
          <a:xfrm>
            <a:off x="1547664" y="1934016"/>
            <a:ext cx="30963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Orange3</a:t>
            </a:r>
            <a:r>
              <a:rPr lang="ko-KR" altLang="en-US" sz="1000" b="1" dirty="0">
                <a:latin typeface="+mn-ea"/>
              </a:rPr>
              <a:t>에서 제공하는 붓꽃 데이터 셋을 사용한다</a:t>
            </a:r>
            <a:r>
              <a:rPr lang="en-US" altLang="ko-KR" sz="1000" b="1" dirty="0">
                <a:latin typeface="+mn-ea"/>
              </a:rPr>
              <a:t>.</a:t>
            </a:r>
            <a:endParaRPr lang="ko-KR" altLang="en-US" sz="1000" b="1" dirty="0">
              <a:latin typeface="+mn-ea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1413371C-133A-40DD-B930-8D28C1C0D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21" y="2514885"/>
            <a:ext cx="4800030" cy="424618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A528F196-46FA-4BE5-8C57-575185C475B7}"/>
              </a:ext>
            </a:extLst>
          </p:cNvPr>
          <p:cNvGrpSpPr/>
          <p:nvPr/>
        </p:nvGrpSpPr>
        <p:grpSpPr>
          <a:xfrm>
            <a:off x="5586409" y="1787492"/>
            <a:ext cx="3006327" cy="2931790"/>
            <a:chOff x="5508104" y="1778289"/>
            <a:chExt cx="3006327" cy="2931790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1011B88C-22A4-4BA3-9BA7-3063DA4CD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08104" y="1778289"/>
              <a:ext cx="3006327" cy="2931790"/>
            </a:xfrm>
            <a:prstGeom prst="rect">
              <a:avLst/>
            </a:prstGeom>
          </p:spPr>
        </p:pic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8377AF79-80A5-40B2-9310-B33923F606A0}"/>
                </a:ext>
              </a:extLst>
            </p:cNvPr>
            <p:cNvSpPr/>
            <p:nvPr/>
          </p:nvSpPr>
          <p:spPr>
            <a:xfrm>
              <a:off x="6534000" y="4443958"/>
              <a:ext cx="954000" cy="108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C9480627-34C5-49A4-B249-27CD498E5044}"/>
                </a:ext>
              </a:extLst>
            </p:cNvPr>
            <p:cNvSpPr/>
            <p:nvPr/>
          </p:nvSpPr>
          <p:spPr>
            <a:xfrm>
              <a:off x="6138280" y="3291830"/>
              <a:ext cx="1008000" cy="108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9ABA6A22-4072-4292-8ADD-95C0260EE4CF}"/>
              </a:ext>
            </a:extLst>
          </p:cNvPr>
          <p:cNvSpPr txBox="1"/>
          <p:nvPr/>
        </p:nvSpPr>
        <p:spPr>
          <a:xfrm>
            <a:off x="2843808" y="3078525"/>
            <a:ext cx="1644162" cy="1466678"/>
          </a:xfrm>
          <a:prstGeom prst="roundRect">
            <a:avLst>
              <a:gd name="adj" fmla="val 7104"/>
            </a:avLst>
          </a:prstGeom>
          <a:solidFill>
            <a:srgbClr val="FFF0C7">
              <a:alpha val="84706"/>
            </a:srgbClr>
          </a:solidFill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accent2"/>
                </a:solidFill>
                <a:latin typeface="+mn-ea"/>
              </a:rPr>
              <a:t>속성 형식과 역할</a:t>
            </a:r>
            <a:endParaRPr lang="en-US" altLang="ko-KR" sz="1200" b="1" dirty="0">
              <a:solidFill>
                <a:schemeClr val="accent2"/>
              </a:solidFill>
              <a:latin typeface="+mn-ea"/>
            </a:endParaRPr>
          </a:p>
          <a:p>
            <a:endParaRPr lang="en-US" altLang="ko-KR" sz="800" b="1" spc="-150" dirty="0">
              <a:solidFill>
                <a:schemeClr val="accent2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latin typeface="+mn-ea"/>
              </a:rPr>
              <a:t>필요할 경우 데이터</a:t>
            </a:r>
            <a:endParaRPr lang="en-US" altLang="ko-KR" sz="9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latin typeface="+mn-ea"/>
              </a:rPr>
              <a:t>속성의 형식</a:t>
            </a:r>
            <a:r>
              <a:rPr lang="en-US" altLang="ko-KR" sz="900" dirty="0">
                <a:latin typeface="+mn-ea"/>
              </a:rPr>
              <a:t>(Type)</a:t>
            </a:r>
            <a:r>
              <a:rPr lang="ko-KR" altLang="en-US" sz="900" dirty="0">
                <a:latin typeface="+mn-ea"/>
              </a:rPr>
              <a:t>과</a:t>
            </a:r>
            <a:endParaRPr lang="en-US" altLang="ko-KR" sz="9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latin typeface="+mn-ea"/>
              </a:rPr>
              <a:t>역할</a:t>
            </a:r>
            <a:r>
              <a:rPr lang="en-US" altLang="ko-KR" sz="900" dirty="0">
                <a:latin typeface="+mn-ea"/>
              </a:rPr>
              <a:t>(Role)</a:t>
            </a:r>
            <a:r>
              <a:rPr lang="ko-KR" altLang="en-US" sz="900" dirty="0">
                <a:latin typeface="+mn-ea"/>
              </a:rPr>
              <a:t>을 변경할</a:t>
            </a:r>
            <a:endParaRPr lang="en-US" altLang="ko-KR" sz="9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latin typeface="+mn-ea"/>
              </a:rPr>
              <a:t>수 있지만</a:t>
            </a:r>
            <a:r>
              <a:rPr lang="en-US" altLang="ko-KR" sz="900" dirty="0">
                <a:latin typeface="+mn-ea"/>
              </a:rPr>
              <a:t>, </a:t>
            </a:r>
            <a:r>
              <a:rPr lang="ko-KR" altLang="en-US" sz="900" dirty="0">
                <a:latin typeface="+mn-ea"/>
              </a:rPr>
              <a:t>여기에서는</a:t>
            </a:r>
            <a:endParaRPr lang="en-US" altLang="ko-KR" sz="9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latin typeface="+mn-ea"/>
              </a:rPr>
              <a:t>따로 변경하지 않아도</a:t>
            </a:r>
            <a:r>
              <a:rPr lang="en-US" altLang="ko-KR" sz="900" dirty="0">
                <a:latin typeface="+mn-ea"/>
              </a:rPr>
              <a:t> </a:t>
            </a:r>
            <a:r>
              <a:rPr lang="ko-KR" altLang="en-US" sz="900" dirty="0">
                <a:latin typeface="+mn-ea"/>
              </a:rPr>
              <a:t>된다</a:t>
            </a:r>
            <a:r>
              <a:rPr lang="en-US" altLang="ko-KR" sz="900" dirty="0">
                <a:latin typeface="+mn-ea"/>
              </a:rPr>
              <a:t>.</a:t>
            </a: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4105C21-BF23-46E3-8F72-9F541D59C441}"/>
              </a:ext>
            </a:extLst>
          </p:cNvPr>
          <p:cNvCxnSpPr>
            <a:cxnSpLocks/>
          </p:cNvCxnSpPr>
          <p:nvPr/>
        </p:nvCxnSpPr>
        <p:spPr>
          <a:xfrm>
            <a:off x="4388409" y="3355033"/>
            <a:ext cx="1828176" cy="0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3FB0C109-8B2B-4398-9250-60B3161F719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66737" y="3382314"/>
            <a:ext cx="1217839" cy="132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27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14E7002-2858-4CF7-B76B-B506E8DFE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61" y="555526"/>
            <a:ext cx="5904656" cy="792088"/>
          </a:xfrm>
          <a:prstGeom prst="rect">
            <a:avLst/>
          </a:prstGeom>
          <a:solidFill>
            <a:srgbClr val="FFF0C7"/>
          </a:solidFill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A81FC46-DC9A-4A1A-9A0D-09F4F56E1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0965" y="1347614"/>
            <a:ext cx="4913933" cy="326578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DF89F13-966B-4EE2-AD72-8DBBEC3B73E7}"/>
              </a:ext>
            </a:extLst>
          </p:cNvPr>
          <p:cNvSpPr/>
          <p:nvPr/>
        </p:nvSpPr>
        <p:spPr>
          <a:xfrm>
            <a:off x="3611069" y="1563638"/>
            <a:ext cx="1357200" cy="468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3E1BF5B-4D90-479D-A109-70B710F063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661" y="1541956"/>
            <a:ext cx="1408567" cy="979364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D9DD20C-30FA-47D7-8013-FCD51055C320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2283228" y="1797638"/>
            <a:ext cx="1327841" cy="0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6751658-DDF8-43AE-8473-155FE2958059}"/>
              </a:ext>
            </a:extLst>
          </p:cNvPr>
          <p:cNvSpPr/>
          <p:nvPr/>
        </p:nvSpPr>
        <p:spPr>
          <a:xfrm>
            <a:off x="5105069" y="1576784"/>
            <a:ext cx="3384376" cy="28530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A292742-0F23-4FE7-B758-9E539F8A313B}"/>
              </a:ext>
            </a:extLst>
          </p:cNvPr>
          <p:cNvCxnSpPr>
            <a:cxnSpLocks/>
          </p:cNvCxnSpPr>
          <p:nvPr/>
        </p:nvCxnSpPr>
        <p:spPr>
          <a:xfrm flipH="1">
            <a:off x="2818877" y="3147814"/>
            <a:ext cx="2286192" cy="0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BC656A22-86C7-4D9B-AC50-192D878CF0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552" y="3057830"/>
            <a:ext cx="2723678" cy="132702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DBFD48D-839D-4AD0-8788-A7DB06D312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669" y="2567213"/>
            <a:ext cx="1598489" cy="222362"/>
          </a:xfrm>
          <a:prstGeom prst="rect">
            <a:avLst/>
          </a:prstGeom>
        </p:spPr>
      </p:pic>
      <p:sp>
        <p:nvSpPr>
          <p:cNvPr id="21" name="타원 20">
            <a:extLst>
              <a:ext uri="{FF2B5EF4-FFF2-40B4-BE49-F238E27FC236}">
                <a16:creationId xmlns:a16="http://schemas.microsoft.com/office/drawing/2014/main" id="{EFB1DDD7-0AC3-4430-B2CB-16258475AC36}"/>
              </a:ext>
            </a:extLst>
          </p:cNvPr>
          <p:cNvSpPr/>
          <p:nvPr/>
        </p:nvSpPr>
        <p:spPr>
          <a:xfrm>
            <a:off x="3557017" y="1507797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36000" rtlCol="0" anchor="ctr"/>
          <a:lstStyle/>
          <a:p>
            <a:pPr algn="ctr"/>
            <a:r>
              <a:rPr lang="en-US" altLang="ko-KR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ko-KR" altLang="en-US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2C0A9ED-1BF3-4AD1-92D7-FDCCCBABAE40}"/>
              </a:ext>
            </a:extLst>
          </p:cNvPr>
          <p:cNvSpPr/>
          <p:nvPr/>
        </p:nvSpPr>
        <p:spPr>
          <a:xfrm>
            <a:off x="5076072" y="1491630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endParaRPr lang="ko-KR" altLang="en-US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1158E9E-2384-4504-8F9C-BD77D12E93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9632" y="2334149"/>
            <a:ext cx="6906176" cy="940655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E7BF4BAB-84EF-44BD-9DCF-A75C361F37B9}"/>
              </a:ext>
            </a:extLst>
          </p:cNvPr>
          <p:cNvGrpSpPr/>
          <p:nvPr/>
        </p:nvGrpSpPr>
        <p:grpSpPr>
          <a:xfrm rot="546616">
            <a:off x="7025830" y="351901"/>
            <a:ext cx="720080" cy="504056"/>
            <a:chOff x="5983618" y="2091404"/>
            <a:chExt cx="738749" cy="480346"/>
          </a:xfrm>
        </p:grpSpPr>
        <p:sp>
          <p:nvSpPr>
            <p:cNvPr id="22" name="폭발: 8pt 21">
              <a:extLst>
                <a:ext uri="{FF2B5EF4-FFF2-40B4-BE49-F238E27FC236}">
                  <a16:creationId xmlns:a16="http://schemas.microsoft.com/office/drawing/2014/main" id="{75C865D3-117F-4AAE-B585-357A9FE8686D}"/>
                </a:ext>
              </a:extLst>
            </p:cNvPr>
            <p:cNvSpPr/>
            <p:nvPr/>
          </p:nvSpPr>
          <p:spPr>
            <a:xfrm>
              <a:off x="5983618" y="2091404"/>
              <a:ext cx="738749" cy="480346"/>
            </a:xfrm>
            <a:prstGeom prst="irregularSeal1">
              <a:avLst/>
            </a:prstGeom>
            <a:solidFill>
              <a:srgbClr val="FEE9DE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rgbClr val="C00000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85D49F-96ED-415E-970F-448613FF81FA}"/>
                </a:ext>
              </a:extLst>
            </p:cNvPr>
            <p:cNvSpPr txBox="1"/>
            <p:nvPr/>
          </p:nvSpPr>
          <p:spPr>
            <a:xfrm>
              <a:off x="6038084" y="2226287"/>
              <a:ext cx="6298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800" b="1" dirty="0">
                  <a:solidFill>
                    <a:srgbClr val="C00000"/>
                  </a:solidFill>
                </a:rPr>
                <a:t>더블클릭</a:t>
              </a:r>
            </a:p>
          </p:txBody>
        </p:sp>
      </p:grp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15E2763-442B-4732-A473-56D96BF15561}"/>
              </a:ext>
            </a:extLst>
          </p:cNvPr>
          <p:cNvCxnSpPr>
            <a:cxnSpLocks/>
          </p:cNvCxnSpPr>
          <p:nvPr/>
        </p:nvCxnSpPr>
        <p:spPr>
          <a:xfrm flipV="1">
            <a:off x="6602480" y="706152"/>
            <a:ext cx="417792" cy="20919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983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7C6B490-E68D-44AD-8B32-F643EAF125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8318"/>
          <a:stretch/>
        </p:blipFill>
        <p:spPr>
          <a:xfrm>
            <a:off x="683568" y="419209"/>
            <a:ext cx="4104456" cy="1080120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2FAC1385-8249-4C8F-ACE6-C2F84A2B8BC0}"/>
              </a:ext>
            </a:extLst>
          </p:cNvPr>
          <p:cNvGrpSpPr/>
          <p:nvPr/>
        </p:nvGrpSpPr>
        <p:grpSpPr>
          <a:xfrm>
            <a:off x="1331640" y="1563638"/>
            <a:ext cx="6624736" cy="3240360"/>
            <a:chOff x="1398141" y="1449263"/>
            <a:chExt cx="6896519" cy="336383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318911B-E94E-4FA4-998F-01EFD022B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3928" y="1449263"/>
              <a:ext cx="4370732" cy="3363838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430CD9B-940F-4178-87CE-D95C3E97FE74}"/>
                </a:ext>
              </a:extLst>
            </p:cNvPr>
            <p:cNvSpPr/>
            <p:nvPr/>
          </p:nvSpPr>
          <p:spPr>
            <a:xfrm>
              <a:off x="7740352" y="4155926"/>
              <a:ext cx="504056" cy="324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11D339CA-627E-489A-829F-E82CA0AAC9A1}"/>
                </a:ext>
              </a:extLst>
            </p:cNvPr>
            <p:cNvCxnSpPr>
              <a:cxnSpLocks/>
            </p:cNvCxnSpPr>
            <p:nvPr/>
          </p:nvCxnSpPr>
          <p:spPr>
            <a:xfrm>
              <a:off x="8028384" y="4013572"/>
              <a:ext cx="0" cy="142354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ash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1717C31-033F-43F3-86D0-349863155154}"/>
                </a:ext>
              </a:extLst>
            </p:cNvPr>
            <p:cNvSpPr txBox="1"/>
            <p:nvPr/>
          </p:nvSpPr>
          <p:spPr>
            <a:xfrm>
              <a:off x="7790604" y="3795813"/>
              <a:ext cx="504056" cy="2556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solidFill>
                    <a:srgbClr val="FF0000"/>
                  </a:solidFill>
                  <a:latin typeface="+mn-ea"/>
                </a:rPr>
                <a:t>범례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074E010-DF5A-4C95-9903-B81747C5A929}"/>
                </a:ext>
              </a:extLst>
            </p:cNvPr>
            <p:cNvSpPr/>
            <p:nvPr/>
          </p:nvSpPr>
          <p:spPr>
            <a:xfrm>
              <a:off x="3923928" y="3402000"/>
              <a:ext cx="1296144" cy="6061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D2BFF79-5E64-4263-97D0-4232952EB6EE}"/>
                </a:ext>
              </a:extLst>
            </p:cNvPr>
            <p:cNvSpPr/>
            <p:nvPr/>
          </p:nvSpPr>
          <p:spPr>
            <a:xfrm>
              <a:off x="3923928" y="1591200"/>
              <a:ext cx="1296144" cy="5040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9077CBB-465E-4E22-9CB8-E82EA52E5F6D}"/>
                </a:ext>
              </a:extLst>
            </p:cNvPr>
            <p:cNvSpPr/>
            <p:nvPr/>
          </p:nvSpPr>
          <p:spPr>
            <a:xfrm>
              <a:off x="3923928" y="2098800"/>
              <a:ext cx="1296144" cy="75020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7AFC39D4-2BD2-4FC3-BC65-787252E401EB}"/>
                </a:ext>
              </a:extLst>
            </p:cNvPr>
            <p:cNvCxnSpPr>
              <a:cxnSpLocks/>
            </p:cNvCxnSpPr>
            <p:nvPr/>
          </p:nvCxnSpPr>
          <p:spPr>
            <a:xfrm>
              <a:off x="3203848" y="1994024"/>
              <a:ext cx="720080" cy="0"/>
            </a:xfrm>
            <a:prstGeom prst="straightConnector1">
              <a:avLst/>
            </a:prstGeom>
            <a:ln>
              <a:solidFill>
                <a:srgbClr val="FFC000"/>
              </a:solidFill>
              <a:prstDash val="sysDash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1AF38F3A-5743-4E14-8B7C-50A6A80DF4F3}"/>
                </a:ext>
              </a:extLst>
            </p:cNvPr>
            <p:cNvCxnSpPr>
              <a:cxnSpLocks/>
            </p:cNvCxnSpPr>
            <p:nvPr/>
          </p:nvCxnSpPr>
          <p:spPr>
            <a:xfrm>
              <a:off x="3203848" y="2715766"/>
              <a:ext cx="720080" cy="0"/>
            </a:xfrm>
            <a:prstGeom prst="straightConnector1">
              <a:avLst/>
            </a:prstGeom>
            <a:ln>
              <a:solidFill>
                <a:srgbClr val="FFC000"/>
              </a:solidFill>
              <a:prstDash val="sysDash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EB4614BC-540A-4AD2-93B8-BD8B95322FFA}"/>
                </a:ext>
              </a:extLst>
            </p:cNvPr>
            <p:cNvCxnSpPr>
              <a:cxnSpLocks/>
            </p:cNvCxnSpPr>
            <p:nvPr/>
          </p:nvCxnSpPr>
          <p:spPr>
            <a:xfrm>
              <a:off x="3203848" y="3867894"/>
              <a:ext cx="720080" cy="0"/>
            </a:xfrm>
            <a:prstGeom prst="straightConnector1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  <a:prstDash val="sysDash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49A5A326-B23C-4C41-845A-AAA564C5D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98141" y="1515740"/>
              <a:ext cx="1812603" cy="929917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707F178F-A17B-420B-BEA7-F22748A58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15479" y="2568427"/>
              <a:ext cx="1795265" cy="744090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CBEA7749-F586-409D-B851-300793909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88549" y="3465958"/>
              <a:ext cx="1519859" cy="1152151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AE954D33-272F-4AEF-9D7B-104B73ED0C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847" y="397931"/>
            <a:ext cx="1800200" cy="1165706"/>
          </a:xfrm>
          <a:prstGeom prst="rect">
            <a:avLst/>
          </a:prstGeom>
        </p:spPr>
      </p:pic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894BF03-6453-4E7B-8898-95E90A281618}"/>
              </a:ext>
            </a:extLst>
          </p:cNvPr>
          <p:cNvCxnSpPr>
            <a:cxnSpLocks/>
          </p:cNvCxnSpPr>
          <p:nvPr/>
        </p:nvCxnSpPr>
        <p:spPr>
          <a:xfrm flipV="1">
            <a:off x="7164288" y="980784"/>
            <a:ext cx="501721" cy="27527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50EDE419-D175-4179-9AFD-1AF1593C7D51}"/>
              </a:ext>
            </a:extLst>
          </p:cNvPr>
          <p:cNvGrpSpPr/>
          <p:nvPr/>
        </p:nvGrpSpPr>
        <p:grpSpPr>
          <a:xfrm rot="894985">
            <a:off x="7548066" y="574966"/>
            <a:ext cx="720080" cy="504056"/>
            <a:chOff x="5983618" y="2091403"/>
            <a:chExt cx="738749" cy="480346"/>
          </a:xfrm>
        </p:grpSpPr>
        <p:sp>
          <p:nvSpPr>
            <p:cNvPr id="31" name="폭발: 8pt 30">
              <a:extLst>
                <a:ext uri="{FF2B5EF4-FFF2-40B4-BE49-F238E27FC236}">
                  <a16:creationId xmlns:a16="http://schemas.microsoft.com/office/drawing/2014/main" id="{8E2139EE-454B-4FA9-BAA5-B1F9D7534624}"/>
                </a:ext>
              </a:extLst>
            </p:cNvPr>
            <p:cNvSpPr/>
            <p:nvPr/>
          </p:nvSpPr>
          <p:spPr>
            <a:xfrm>
              <a:off x="5983618" y="2091403"/>
              <a:ext cx="738749" cy="480346"/>
            </a:xfrm>
            <a:prstGeom prst="irregularSeal1">
              <a:avLst/>
            </a:prstGeom>
            <a:solidFill>
              <a:srgbClr val="FEE9DE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rgbClr val="C00000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858E2FD-299C-4B21-9460-0BD116E69D64}"/>
                </a:ext>
              </a:extLst>
            </p:cNvPr>
            <p:cNvSpPr txBox="1"/>
            <p:nvPr/>
          </p:nvSpPr>
          <p:spPr>
            <a:xfrm>
              <a:off x="6038084" y="2226287"/>
              <a:ext cx="6298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800" b="1" dirty="0">
                  <a:solidFill>
                    <a:srgbClr val="C00000"/>
                  </a:solidFill>
                </a:rPr>
                <a:t>더블클릭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9770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1B2E76C-B162-4B9E-8798-34C2DFEC4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726604"/>
            <a:ext cx="7020272" cy="3690292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16049E51-5713-46DB-A76A-DCD8EBD82EB2}"/>
              </a:ext>
            </a:extLst>
          </p:cNvPr>
          <p:cNvGrpSpPr/>
          <p:nvPr/>
        </p:nvGrpSpPr>
        <p:grpSpPr>
          <a:xfrm rot="777073">
            <a:off x="7787678" y="413783"/>
            <a:ext cx="720080" cy="504056"/>
            <a:chOff x="5983618" y="2091404"/>
            <a:chExt cx="738749" cy="480346"/>
          </a:xfrm>
        </p:grpSpPr>
        <p:sp>
          <p:nvSpPr>
            <p:cNvPr id="5" name="폭발: 8pt 4">
              <a:extLst>
                <a:ext uri="{FF2B5EF4-FFF2-40B4-BE49-F238E27FC236}">
                  <a16:creationId xmlns:a16="http://schemas.microsoft.com/office/drawing/2014/main" id="{839726DE-B503-449D-9897-C3DC7E4B33BB}"/>
                </a:ext>
              </a:extLst>
            </p:cNvPr>
            <p:cNvSpPr/>
            <p:nvPr/>
          </p:nvSpPr>
          <p:spPr>
            <a:xfrm>
              <a:off x="5983618" y="2091404"/>
              <a:ext cx="738749" cy="480346"/>
            </a:xfrm>
            <a:prstGeom prst="irregularSeal1">
              <a:avLst/>
            </a:prstGeom>
            <a:solidFill>
              <a:srgbClr val="FEE9DE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rgbClr val="C00000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F97B93-41B9-48F9-AD0F-94D955704080}"/>
                </a:ext>
              </a:extLst>
            </p:cNvPr>
            <p:cNvSpPr txBox="1"/>
            <p:nvPr/>
          </p:nvSpPr>
          <p:spPr>
            <a:xfrm>
              <a:off x="6038084" y="2226287"/>
              <a:ext cx="6298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800" b="1" dirty="0">
                  <a:solidFill>
                    <a:srgbClr val="C00000"/>
                  </a:solidFill>
                </a:rPr>
                <a:t>더블클릭</a:t>
              </a:r>
            </a:p>
          </p:txBody>
        </p:sp>
      </p:grp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3C41E98-7047-4EE4-99F2-EE2B259C440B}"/>
              </a:ext>
            </a:extLst>
          </p:cNvPr>
          <p:cNvCxnSpPr>
            <a:cxnSpLocks/>
          </p:cNvCxnSpPr>
          <p:nvPr/>
        </p:nvCxnSpPr>
        <p:spPr>
          <a:xfrm flipV="1">
            <a:off x="7739208" y="826552"/>
            <a:ext cx="226333" cy="23800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59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B63CF3-4070-45FB-A083-42AA0CF5E2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915566"/>
            <a:ext cx="3622775" cy="295232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B52BEE8-A4CC-4E71-B392-D5E4540F01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844" y="1275606"/>
            <a:ext cx="4320480" cy="244827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DC734C2-CE93-4ADC-9030-03544BD167F6}"/>
              </a:ext>
            </a:extLst>
          </p:cNvPr>
          <p:cNvSpPr/>
          <p:nvPr/>
        </p:nvSpPr>
        <p:spPr>
          <a:xfrm>
            <a:off x="7362000" y="2859782"/>
            <a:ext cx="936104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9B1F0E8-3A6C-4827-8F02-B6F8ACF29DF8}"/>
              </a:ext>
            </a:extLst>
          </p:cNvPr>
          <p:cNvGrpSpPr/>
          <p:nvPr/>
        </p:nvGrpSpPr>
        <p:grpSpPr>
          <a:xfrm>
            <a:off x="5076056" y="3867894"/>
            <a:ext cx="1961997" cy="694800"/>
            <a:chOff x="5490323" y="3529005"/>
            <a:chExt cx="1961997" cy="6948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4A3E811-7191-4E82-B002-15510CA0A8A9}"/>
                </a:ext>
              </a:extLst>
            </p:cNvPr>
            <p:cNvSpPr txBox="1"/>
            <p:nvPr/>
          </p:nvSpPr>
          <p:spPr>
            <a:xfrm>
              <a:off x="5490323" y="3529005"/>
              <a:ext cx="1961997" cy="694800"/>
            </a:xfrm>
            <a:prstGeom prst="roundRect">
              <a:avLst>
                <a:gd name="adj" fmla="val 7104"/>
              </a:avLst>
            </a:prstGeom>
            <a:solidFill>
              <a:srgbClr val="FFF0C7">
                <a:alpha val="84706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100" spc="-150" dirty="0">
                  <a:solidFill>
                    <a:schemeClr val="accent2"/>
                  </a:solidFill>
                  <a:latin typeface="Asia땅콩B" panose="02020600000000000000" pitchFamily="18" charset="-127"/>
                  <a:ea typeface="Asia땅콩B" panose="02020600000000000000" pitchFamily="18" charset="-127"/>
                </a:rPr>
                <a:t>오류표시</a:t>
              </a:r>
              <a:endParaRPr lang="en-US" altLang="ko-KR" sz="1100" spc="-150" dirty="0">
                <a:solidFill>
                  <a:schemeClr val="accent2"/>
                </a:solidFill>
                <a:latin typeface="Asia땅콩B" panose="02020600000000000000" pitchFamily="18" charset="-127"/>
                <a:ea typeface="Asia땅콩B" panose="02020600000000000000" pitchFamily="18" charset="-127"/>
              </a:endParaRPr>
            </a:p>
            <a:p>
              <a:endParaRPr lang="en-US" altLang="ko-KR" sz="800" spc="-150" dirty="0">
                <a:solidFill>
                  <a:schemeClr val="accent2"/>
                </a:solidFill>
                <a:latin typeface="Asia땅콩B" panose="02020600000000000000" pitchFamily="18" charset="-127"/>
                <a:ea typeface="Asia땅콩B" panose="02020600000000000000" pitchFamily="18" charset="-127"/>
              </a:endParaRPr>
            </a:p>
            <a:p>
              <a:endParaRPr lang="en-US" altLang="ko-KR" sz="800" spc="-150" dirty="0">
                <a:solidFill>
                  <a:schemeClr val="accent2"/>
                </a:solidFill>
                <a:latin typeface="Asia땅콩B" panose="02020600000000000000" pitchFamily="18" charset="-127"/>
                <a:ea typeface="Asia땅콩B" panose="02020600000000000000" pitchFamily="18" charset="-127"/>
              </a:endParaRPr>
            </a:p>
            <a:p>
              <a:endParaRPr lang="en-US" altLang="ko-KR" sz="800" spc="-150" dirty="0">
                <a:solidFill>
                  <a:schemeClr val="accent2"/>
                </a:solidFill>
                <a:latin typeface="Asia땅콩B" panose="02020600000000000000" pitchFamily="18" charset="-127"/>
                <a:ea typeface="Asia땅콩B" panose="02020600000000000000" pitchFamily="18" charset="-127"/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D5871DA-9EE7-4B41-94DA-67B6E25E2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5179" y="3765449"/>
              <a:ext cx="1756820" cy="393318"/>
            </a:xfrm>
            <a:prstGeom prst="rect">
              <a:avLst/>
            </a:prstGeom>
          </p:spPr>
        </p:pic>
      </p:grp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FABA9284-214F-4E59-A008-C9066BE01CF2}"/>
              </a:ext>
            </a:extLst>
          </p:cNvPr>
          <p:cNvCxnSpPr>
            <a:cxnSpLocks/>
            <a:stCxn id="6" idx="2"/>
            <a:endCxn id="7" idx="3"/>
          </p:cNvCxnSpPr>
          <p:nvPr/>
        </p:nvCxnSpPr>
        <p:spPr>
          <a:xfrm rot="5400000">
            <a:off x="7188345" y="3573587"/>
            <a:ext cx="491416" cy="791999"/>
          </a:xfrm>
          <a:prstGeom prst="bentConnector2">
            <a:avLst/>
          </a:prstGeom>
          <a:ln>
            <a:solidFill>
              <a:srgbClr val="FFC000"/>
            </a:solidFill>
            <a:prstDash val="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1697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F3B358E-6E8A-4C95-A580-4C2050FAB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806549"/>
            <a:ext cx="3672408" cy="13376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85BD60-5BB3-49C5-9B9C-34E685C53D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7" y="699542"/>
            <a:ext cx="3672408" cy="17377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C1F6A10-30CF-4001-942D-52CD21575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7" y="2696372"/>
            <a:ext cx="2597002" cy="1368152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3CF051FB-A527-4717-9C22-49E0AD678211}"/>
              </a:ext>
            </a:extLst>
          </p:cNvPr>
          <p:cNvGrpSpPr/>
          <p:nvPr/>
        </p:nvGrpSpPr>
        <p:grpSpPr>
          <a:xfrm>
            <a:off x="4716016" y="2706259"/>
            <a:ext cx="3370042" cy="1449668"/>
            <a:chOff x="4644008" y="2587340"/>
            <a:chExt cx="2808312" cy="1208546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EE1F4CC-9474-4851-8273-2DD1B4CC30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4008" y="2587340"/>
              <a:ext cx="2808312" cy="1208546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6C64102-323D-43B8-B27D-C8552956C62E}"/>
                </a:ext>
              </a:extLst>
            </p:cNvPr>
            <p:cNvSpPr/>
            <p:nvPr/>
          </p:nvSpPr>
          <p:spPr>
            <a:xfrm>
              <a:off x="4716016" y="2822400"/>
              <a:ext cx="2664296" cy="720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ED2098E-64BF-4D61-9033-2CA7183B3334}"/>
              </a:ext>
            </a:extLst>
          </p:cNvPr>
          <p:cNvGrpSpPr/>
          <p:nvPr/>
        </p:nvGrpSpPr>
        <p:grpSpPr>
          <a:xfrm>
            <a:off x="7020272" y="1064336"/>
            <a:ext cx="720080" cy="504056"/>
            <a:chOff x="5983618" y="2091404"/>
            <a:chExt cx="738749" cy="480346"/>
          </a:xfrm>
        </p:grpSpPr>
        <p:sp>
          <p:nvSpPr>
            <p:cNvPr id="16" name="폭발: 8pt 15">
              <a:extLst>
                <a:ext uri="{FF2B5EF4-FFF2-40B4-BE49-F238E27FC236}">
                  <a16:creationId xmlns:a16="http://schemas.microsoft.com/office/drawing/2014/main" id="{9C5FDE09-DEC8-45C8-BFF5-596B0A91CE36}"/>
                </a:ext>
              </a:extLst>
            </p:cNvPr>
            <p:cNvSpPr/>
            <p:nvPr/>
          </p:nvSpPr>
          <p:spPr>
            <a:xfrm>
              <a:off x="5983618" y="2091404"/>
              <a:ext cx="738749" cy="480346"/>
            </a:xfrm>
            <a:prstGeom prst="irregularSeal1">
              <a:avLst/>
            </a:prstGeom>
            <a:solidFill>
              <a:srgbClr val="FEE9DE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rgbClr val="C0000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C9C6392-4054-4B47-B88B-254A3F595539}"/>
                </a:ext>
              </a:extLst>
            </p:cNvPr>
            <p:cNvSpPr txBox="1"/>
            <p:nvPr/>
          </p:nvSpPr>
          <p:spPr>
            <a:xfrm>
              <a:off x="6038084" y="2226287"/>
              <a:ext cx="6298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800" b="1" dirty="0">
                  <a:solidFill>
                    <a:srgbClr val="C00000"/>
                  </a:solidFill>
                </a:rPr>
                <a:t>더블클릭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317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E0B302D-4A64-41C2-BA49-E42B26B0D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555526"/>
            <a:ext cx="7236296" cy="955508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403E862D-F098-494B-A24A-9FE91D74CDC6}"/>
              </a:ext>
            </a:extLst>
          </p:cNvPr>
          <p:cNvGrpSpPr/>
          <p:nvPr/>
        </p:nvGrpSpPr>
        <p:grpSpPr>
          <a:xfrm>
            <a:off x="1115616" y="1607602"/>
            <a:ext cx="5997104" cy="3124388"/>
            <a:chOff x="1115616" y="1607602"/>
            <a:chExt cx="5997104" cy="3124388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A02E68BF-A4FA-4809-B506-F7477AA333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616" y="1607602"/>
              <a:ext cx="5997104" cy="3124388"/>
            </a:xfrm>
            <a:prstGeom prst="rect">
              <a:avLst/>
            </a:prstGeom>
          </p:spPr>
        </p:pic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3240A625-40DF-4044-BC97-595CB0524572}"/>
                </a:ext>
              </a:extLst>
            </p:cNvPr>
            <p:cNvGrpSpPr/>
            <p:nvPr/>
          </p:nvGrpSpPr>
          <p:grpSpPr>
            <a:xfrm>
              <a:off x="3564976" y="4140000"/>
              <a:ext cx="1098384" cy="261610"/>
              <a:chOff x="3545624" y="4025121"/>
              <a:chExt cx="1098384" cy="261610"/>
            </a:xfrm>
          </p:grpSpPr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AA82931D-F285-461C-A2BF-3F072FD2F4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45624" y="4155926"/>
                <a:ext cx="378304" cy="0"/>
              </a:xfrm>
              <a:prstGeom prst="straightConnector1">
                <a:avLst/>
              </a:prstGeom>
              <a:ln>
                <a:solidFill>
                  <a:srgbClr val="FD640F"/>
                </a:solidFill>
                <a:prstDash val="dashDot"/>
                <a:headEnd type="oval" w="sm" len="sm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47906A-89EE-46E3-A701-D2E180B784CB}"/>
                  </a:ext>
                </a:extLst>
              </p:cNvPr>
              <p:cNvSpPr txBox="1"/>
              <p:nvPr/>
            </p:nvSpPr>
            <p:spPr>
              <a:xfrm>
                <a:off x="3851920" y="4025121"/>
                <a:ext cx="79208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 b="1" dirty="0">
                    <a:solidFill>
                      <a:srgbClr val="FD640F"/>
                    </a:solidFill>
                    <a:latin typeface="+mn-ea"/>
                  </a:rPr>
                  <a:t>평가지표</a:t>
                </a:r>
              </a:p>
            </p:txBody>
          </p:sp>
        </p:grp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F03495CC-BE93-45FB-AD5E-D99CE79C2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75892" y="3977998"/>
              <a:ext cx="2510569" cy="561600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AFC1FE7E-4427-49BE-85DD-B086793EA0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31640" y="4567939"/>
              <a:ext cx="1731921" cy="1364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40243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158152"/>
            <a:ext cx="9144000" cy="763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ko-KR" altLang="en-US" sz="4400" b="1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맑은 고딕" panose="020B0503020000020004" pitchFamily="50" charset="-127"/>
              </a:rPr>
              <a:t>감사합니다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20" y="3435846"/>
            <a:ext cx="1512167" cy="46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501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각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2221</TotalTime>
  <Words>617</Words>
  <Application>Microsoft Office PowerPoint</Application>
  <PresentationFormat>화면 슬라이드 쇼(16:9)</PresentationFormat>
  <Paragraphs>126</Paragraphs>
  <Slides>25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Asia땅콩B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PC</dc:creator>
  <cp:lastModifiedBy>PC</cp:lastModifiedBy>
  <cp:revision>291</cp:revision>
  <cp:lastPrinted>2021-11-23T02:37:31Z</cp:lastPrinted>
  <dcterms:created xsi:type="dcterms:W3CDTF">2021-11-22T04:32:39Z</dcterms:created>
  <dcterms:modified xsi:type="dcterms:W3CDTF">2023-05-19T01:05:41Z</dcterms:modified>
</cp:coreProperties>
</file>